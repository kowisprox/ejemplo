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ffdd3e37-ad2d-b068-525f-4adf0ead0b9a}">
          <p14:sldIdLst>
            <p14:sldId id="256"/>
          </p14:sldIdLst>
        </p14:section>
        <p14:section name="El problema" id="{f20983f5-8d55-81e5-6bc9-1a2c8004626a}">
          <p14:sldIdLst>
            <p14:sldId id="257"/>
            <p14:sldId id="258"/>
          </p14:sldIdLst>
        </p14:section>
        <p14:section name="Counting sort" id="{f79b6dba-039b-051e-eaad-ffc8408112c3}">
          <p14:sldIdLst>
            <p14:sldId id="259"/>
            <p14:sldId id="260"/>
            <p14:sldId id="261"/>
          </p14:sldIdLst>
        </p14:section>
        <p14:section name="Radix sort" id="{31f4e057-e9c0-1eac-1e38-13a7bc90c3a6}">
          <p14:sldIdLst>
            <p14:sldId id="262"/>
            <p14:sldId id="263"/>
            <p14:sldId id="264"/>
          </p14:sldIdLst>
        </p14:section>
        <p14:section name="Bucket sort" id="{84269af7-a579-b71c-5959-c316905cf316}">
          <p14:sldIdLst>
            <p14:sldId id="265"/>
            <p14:sldId id="266"/>
            <p14:sldId id="267"/>
          </p14:sldIdLst>
        </p14:section>
        <p14:section name="Balance" id="{01d5816b-98bb-4ec2-cde5-8f4e7a0831f5}">
          <p14:sldIdLst>
            <p14:sldId id="268"/>
            <p14:sldId id="269"/>
            <p14:sldId id="270"/>
            <p14:sldId id="271"/>
          </p14:sldIdLst>
        </p14:section>
        <p14:section name="Cierre" id="{03837c77-5bd6-1d35-09cc-cad15fff6e9e}">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n² (burbuja, inserción)</c:v>
                </c:pt>
              </c:strCache>
            </c:strRef>
          </c:tx>
          <c:spPr>
            <a:solidFill>
              <a:srgbClr val="8C2F23"/>
            </a:solidFill>
            <a:ln w="28575" cap="flat">
              <a:solidFill>
                <a:srgbClr val="8C2F2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2F23"/>
              </a:solidFill>
              <a:ln w="9525" cap="flat">
                <a:solidFill>
                  <a:srgbClr val="8C2F23"/>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Sheet1!$B$2:$B$21</c:f>
              <c:numCache>
                <c:formatCode>General</c:formatCode>
                <c:ptCount val="20"/>
                <c:pt idx="0">
                  <c:v>1</c:v>
                </c:pt>
                <c:pt idx="1">
                  <c:v>4</c:v>
                </c:pt>
                <c:pt idx="2">
                  <c:v>9</c:v>
                </c:pt>
                <c:pt idx="3">
                  <c:v>16</c:v>
                </c:pt>
                <c:pt idx="4">
                  <c:v>25</c:v>
                </c:pt>
                <c:pt idx="5">
                  <c:v>36</c:v>
                </c:pt>
                <c:pt idx="6">
                  <c:v>49</c:v>
                </c:pt>
                <c:pt idx="7">
                  <c:v>64</c:v>
                </c:pt>
                <c:pt idx="8">
                  <c:v>81</c:v>
                </c:pt>
                <c:pt idx="9">
                  <c:v>100</c:v>
                </c:pt>
                <c:pt idx="10">
                  <c:v>121</c:v>
                </c:pt>
                <c:pt idx="11">
                  <c:v>144</c:v>
                </c:pt>
                <c:pt idx="12">
                  <c:v>169</c:v>
                </c:pt>
                <c:pt idx="13">
                  <c:v>196</c:v>
                </c:pt>
                <c:pt idx="14">
                  <c:v>225</c:v>
                </c:pt>
                <c:pt idx="15">
                  <c:v>256</c:v>
                </c:pt>
                <c:pt idx="16">
                  <c:v>289</c:v>
                </c:pt>
                <c:pt idx="17">
                  <c:v>324</c:v>
                </c:pt>
                <c:pt idx="18">
                  <c:v>361</c:v>
                </c:pt>
                <c:pt idx="19">
                  <c:v>400</c:v>
                </c:pt>
              </c:numCache>
            </c:numRef>
          </c:val>
          <c:smooth val="0"/>
        </c:ser>
        <c:ser>
          <c:idx val="1"/>
          <c:order val="1"/>
          <c:tx>
            <c:strRef>
              <c:f>Sheet1!$C$1</c:f>
              <c:strCache>
                <c:ptCount val="1"/>
                <c:pt idx="0">
                  <c:v>n log₂ n (mergesort, heapsort)</c:v>
                </c:pt>
              </c:strCache>
            </c:strRef>
          </c:tx>
          <c:spPr>
            <a:solidFill>
              <a:srgbClr val="2F5D50"/>
            </a:solidFill>
            <a:ln w="28575" cap="flat">
              <a:solidFill>
                <a:srgbClr val="2F5D5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F5D50"/>
              </a:solidFill>
              <a:ln w="9525" cap="flat">
                <a:solidFill>
                  <a:srgbClr val="2F5D50"/>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Sheet1!$C$2:$C$21</c:f>
              <c:numCache>
                <c:formatCode>General</c:formatCode>
                <c:ptCount val="20"/>
                <c:pt idx="0">
                  <c:v>0</c:v>
                </c:pt>
                <c:pt idx="1">
                  <c:v>2</c:v>
                </c:pt>
                <c:pt idx="2">
                  <c:v>4.8</c:v>
                </c:pt>
                <c:pt idx="3">
                  <c:v>8</c:v>
                </c:pt>
                <c:pt idx="4">
                  <c:v>11.6</c:v>
                </c:pt>
                <c:pt idx="5">
                  <c:v>15.5</c:v>
                </c:pt>
                <c:pt idx="6">
                  <c:v>19.7</c:v>
                </c:pt>
                <c:pt idx="7">
                  <c:v>24</c:v>
                </c:pt>
                <c:pt idx="8">
                  <c:v>28.5</c:v>
                </c:pt>
                <c:pt idx="9">
                  <c:v>33.2</c:v>
                </c:pt>
                <c:pt idx="10">
                  <c:v>38.1</c:v>
                </c:pt>
                <c:pt idx="11">
                  <c:v>43</c:v>
                </c:pt>
                <c:pt idx="12">
                  <c:v>48.1</c:v>
                </c:pt>
                <c:pt idx="13">
                  <c:v>53.3</c:v>
                </c:pt>
                <c:pt idx="14">
                  <c:v>58.6</c:v>
                </c:pt>
                <c:pt idx="15">
                  <c:v>64</c:v>
                </c:pt>
                <c:pt idx="16">
                  <c:v>69.5</c:v>
                </c:pt>
                <c:pt idx="17">
                  <c:v>75.1</c:v>
                </c:pt>
                <c:pt idx="18">
                  <c:v>80.7</c:v>
                </c:pt>
                <c:pt idx="19">
                  <c:v>86.4</c:v>
                </c:pt>
              </c:numCache>
            </c:numRef>
          </c:val>
          <c:smooth val="0"/>
        </c:ser>
        <c:ser>
          <c:idx val="2"/>
          <c:order val="2"/>
          <c:tx>
            <c:strRef>
              <c:f>Sheet1!$D$1</c:f>
              <c:strCache>
                <c:ptCount val="1"/>
                <c:pt idx="0">
                  <c:v>n (el objetivo de los tres)</c:v>
                </c:pt>
              </c:strCache>
            </c:strRef>
          </c:tx>
          <c:spPr>
            <a:solidFill>
              <a:srgbClr val="1F1B16"/>
            </a:solidFill>
            <a:ln w="28575" cap="flat">
              <a:solidFill>
                <a:srgbClr val="1F1B1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F1B16"/>
              </a:solidFill>
              <a:ln w="9525" cap="flat">
                <a:solidFill>
                  <a:srgbClr val="1F1B16"/>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Sheet1!$D$2:$D$21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657"/>
                </a:solidFill>
                <a:latin typeface="+mn-lt"/>
              </a:defRPr>
            </a:pPr>
            <a:endParaRPr lang="en-US"/>
          </a:p>
        </c:txPr>
        <c:crossAx val="2094734552"/>
        <c:crosses val="autoZero"/>
        <c:auto val="1"/>
        <c:lblAlgn val="ctr"/>
        <c:noMultiLvlLbl val="1"/>
      </c:catAx>
      <c:valAx>
        <c:axId val="2094734552"/>
        <c:scaling>
          <c:orientation val="minMax"/>
          <c:max val="400"/>
        </c:scaling>
        <c:delete val="0"/>
        <c:axPos val="l"/>
        <c:majorGridlines>
          <c:spPr>
            <a:ln w="6350" cap="flat">
              <a:solidFill>
                <a:srgbClr val="D9D2C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657"/>
                </a:solidFill>
                <a:latin typeface="+mn-lt"/>
              </a:defRPr>
            </a:pPr>
            <a:endParaRPr lang="en-US"/>
          </a:p>
        </c:txPr>
        <c:crossAx val="2094734554"/>
        <c:crosses val="autoZero"/>
        <c:crossBetween val="between"/>
        <c:majorUnit val="100"/>
      </c:valAx>
      <c:spPr>
        <a:noFill/>
        <a:ln>
          <a:noFill/>
        </a:ln>
        <a:effectLst/>
      </c:spPr>
    </c:plotArea>
    <c:legend>
      <c:legendPos val="b"/>
      <c:overlay val="0"/>
      <c:txPr>
        <a:bodyPr/>
        <a:lstStyle/>
        <a:p>
          <a:pPr>
            <a:defRPr sz="1100">
              <a:solidFill>
                <a:srgbClr val="1F1B1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Operaciones</c:v>
                </c:pt>
              </c:strCache>
            </c:strRef>
          </c:tx>
          <c:spPr>
            <a:solidFill>
              <a:srgbClr val="8C2F23"/>
            </a:solidFill>
            <a:effectLst/>
          </c:spPr>
          <c:invertIfNegative val="0"/>
          <c:dLbls>
            <c:numFmt formatCode="#,##0" sourceLinked="0"/>
            <c:txPr>
              <a:bodyPr/>
              <a:lstStyle/>
              <a:p>
                <a:pPr>
                  <a:defRPr b="0" i="0" strike="noStrike" sz="1100" u="none">
                    <a:solidFill>
                      <a:srgbClr val="1F1B16"/>
                    </a:solidFill>
                    <a:latin typeface="+mn-lt"/>
                  </a:defRPr>
                </a:pPr>
              </a:p>
            </c:txPr>
            <c:showLegendKey val="0"/>
            <c:showVal val="1"/>
            <c:showCatName val="0"/>
            <c:showSerName val="0"/>
            <c:showPercent val="0"/>
            <c:showBubbleSize val="0"/>
            <c:showLeaderLines val="0"/>
          </c:dLbls>
          <c:dPt>
            <c:idx val="0"/>
            <c:invertIfNegative val="0"/>
            <c:bubble3D val="0"/>
            <c:spPr>
              <a:solidFill>
                <a:srgbClr val="8C2F23"/>
              </a:solidFill>
              <a:effectLst/>
            </c:spPr>
          </c:dPt>
          <c:dPt>
            <c:idx val="1"/>
            <c:invertIfNegative val="0"/>
            <c:bubble3D val="0"/>
            <c:spPr>
              <a:solidFill>
                <a:srgbClr val="9A9184"/>
              </a:solidFill>
              <a:effectLst/>
            </c:spPr>
          </c:dPt>
          <c:dPt>
            <c:idx val="2"/>
            <c:invertIfNegative val="0"/>
            <c:bubble3D val="0"/>
            <c:spPr>
              <a:solidFill>
                <a:srgbClr val="9A9184"/>
              </a:solidFill>
              <a:effectLst/>
            </c:spPr>
          </c:dPt>
          <c:dPt>
            <c:idx val="3"/>
            <c:invertIfNegative val="0"/>
            <c:bubble3D val="0"/>
            <c:spPr>
              <a:solidFill>
                <a:srgbClr val="2F5D50"/>
              </a:solidFill>
              <a:effectLst/>
            </c:spPr>
          </c:dPt>
          <c:dPt>
            <c:idx val="4"/>
            <c:invertIfNegative val="0"/>
            <c:bubble3D val="0"/>
            <c:spPr>
              <a:solidFill>
                <a:srgbClr val="9A9184"/>
              </a:solidFill>
              <a:effectLst/>
            </c:spPr>
          </c:dPt>
          <c:cat>
            <c:multiLvlStrRef>
              <c:f>Sheet1!$A$2:$A$6</c:f>
              <c:multiLvlStrCache>
                <c:ptCount val="5"/>
                <c:lvl>
                  <c:pt idx="0">
                    <c:v>Counting sort</c:v>
                  </c:pt>
                  <c:pt idx="1">
                    <c:v>Radix sort</c:v>
                  </c:pt>
                  <c:pt idx="2">
                    <c:v>Burbuja</c:v>
                  </c:pt>
                  <c:pt idx="3">
                    <c:v>Mergesort</c:v>
                  </c:pt>
                  <c:pt idx="4">
                    <c:v>Bucket sort</c:v>
                  </c:pt>
                </c:lvl>
              </c:multiLvlStrCache>
            </c:multiLvlStrRef>
          </c:cat>
          <c:val>
            <c:numRef>
              <c:f>Sheet1!$B$2:$B$6</c:f>
              <c:numCache>
                <c:formatCode>General</c:formatCode>
                <c:ptCount val="5"/>
                <c:pt idx="0">
                  <c:v>108</c:v>
                </c:pt>
                <c:pt idx="1">
                  <c:v>51</c:v>
                </c:pt>
                <c:pt idx="2">
                  <c:v>21</c:v>
                </c:pt>
                <c:pt idx="3">
                  <c:v>20</c:v>
                </c:pt>
                <c:pt idx="4">
                  <c:v>14</c:v>
                </c:pt>
              </c:numCache>
            </c:numRef>
          </c:val>
        </c:ser>
        <c:dLbls>
          <c:numFmt formatCode="#,##0" sourceLinked="0"/>
          <c:txPr>
            <a:bodyPr/>
            <a:lstStyle/>
            <a:p>
              <a:pPr>
                <a:defRPr b="0" i="0" strike="noStrike" sz="1100" u="none">
                  <a:solidFill>
                    <a:srgbClr val="1F1B16"/>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1B16"/>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Hoy vamos a hablar de tres algoritmos de ordenamiento que no se parecen a los que todos conocemos: Counting sort, Radix sort y Bucket sort. Lo que tienen en común es que no comparan elementos entre sí, y por eso pueden esquivar el límite de n log n que vale para burbuja, mergesort o quicksort. Todos los ejemplos de la exposición usan la misma entrada, estos siete números: 50, 1, 100, 20, 19, 40 y 99. Los valores de las trazas no son estimados: los obtuve ejecutando los tres algoritmos en Python antes de armar las láminas. Y les adelanto un punto que normalmente se omite: que un algoritmo sea lineal no significa que sea rápido. Lo vamos a ver con números en la lámina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Empecemos por entender por qué hay un techo. Burbuja, inserción, selección, mergesort, quicksort y heapsort solo hacen una pregunta sobre los datos: ¿a es menor que b? Cualquier algoritmo así se puede dibujar como un árbol de decisión binario. Cada nodo es una comparación y cada hoja es un orden posible de salida. Como hay n factorial permutaciones, el árbol necesita al menos n factorial hojas, y un árbol de altura h tiene como máximo 2 a la h. De ahí sale h mayor o igual a log de n factorial, que es theta de n log n. Para nuestros siete números: 7 factorial es 5040 hojas, y la altura mínima es 13 comparaciones en el peor caso. Cuando ejecuté mergesort sobre la entrada hizo 13 comparaciones, o sea que toca el piso. Mergesort y heapsort son óptimos dentro del modelo. Los tres algoritmos de hoy salen del modelo: no comparan, leen la clave y calculan la posición. El teorema no les aplica, pero cada uno exige supuestos sobre los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algoritmos reemplazan la pregunta «¿a es menor que b?» por una cuenta aritmética sobre la clave. Counting sort lee el valor entero completo y lo usa como índice. Radix sort lee un dígito por pasada. Bucket sort usa la posición del valor dentro del rango para elegir una cubeta. El precio es que dejan de ser de propósito general: cada uno asume algo sobre los datos y, si el supuesto falla, el algoritmo falla con él. Miren la fila «Es lineal cuando»: los tres dicen tiempo lineal, pero cada uno con su condición. Los tres son estables y ninguno es in-place: la velocidad se paga con memoria.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Counting sort no mueve ningún elemento hasta saber exactamente dónde va. Toda la inteligencia está en el arreglo de conteo C. Primero contamos: por cada valor v que aparece, sumamos uno a C[v]. Eso obliga a que las claves sean enteros en un rango conocido de 0 a k: en nuestro ejemplo k es 100, así que C tiene 101 casillas y solo siete se ocupan. Segundo, acumulamos: cada casilla se suma con la anterior, y entonces C[v] pasa a decir cuántos elementos son menores o iguales que v. Para el 50 el acumulado es 5, así que el 50 va en la posición 4 contando desde cero. Tercero, colocamos recorriendo A de derecha a izquierda: restamos uno a C[x] y escribimos x en B[C[x]]. Recorrer al revés es lo que hace al algoritmo estable, y la estabilidad es lo que después necesita Radix sort. En ningún momento comparamos un elemento con otro.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Leamos el pseudocódigo por bloques. Las líneas 2 y 3 crean dos arreglos: C del tamaño del rango y B del tamaño de la entrada. Ahí se ve por qué el algoritmo no puede ser in-place. Las líneas 4 a 7 hacen el histograma: poner C en ceros cuesta theta de k, y contar apariciones cuesta theta de n. Las líneas 8 y 9 hacen la suma acumulada, otro theta de k. Al salir, C[i] es la cantidad de elementos menores o iguales que i. Las líneas 10 a 12 colocan cada elemento. Se resta antes de escribir porque B empieza en cero: si hay cinco elementos menores o iguales que 20, el último 20 va en B[4]. El costo total es theta de n más k, y no hay mejor ni peor caso: el mismo trabajo con datos ordenados, invertidos o al azar.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traza real, ejecutada en Python. Arriba, la entrada A. En la tabla solo mostramos los siete índices de C que se ocupan: 1, 19, 20, 40, 50, 99 y 100. Primera fila de datos: cada uno cuenta uno. Segunda: el acumulado va de 1 a 7, porque no hay repetidos. Tercera: la posición final en B, que sale de restar uno al acumulado. A la derecha está el orden de colocación, de derecha a izquierda: primero el 99 va a B[5], luego el 40 a B[3], el 19 a B[1], el 20 a B[2], el 100 a B[6], el 1 a B[0] y por último el 50 a B[4]. Abajo, la salida ordenada. Ahora fíjense en la nota: las otras 94 casillas de C valen cero y se recorren igual, dos veces: al inicializar y al acumular. Ese es el costo theta de k, y es el motivo por el que esta entrada, con k igual a 100, no es un buen caso para Counting sort.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Radix sort no mira el valor completo de la clave sino un dígito a la vez, y delega el trabajo pesado a Counting sort. La versión LSD empieza por el dígito menos significativo. Si el mayor número tiene d dígitos hay exactamente d pasadas: en nuestro caso el máximo es 100, así que d es 3. Cada pasada es un Counting sort, pero sobre un alfabeto diminuto: en base 10 solo hay diez dígitos, así que el arreglo de conteo tiene diez casillas aunque los números tengan nueve cifras. Aquí aparece la ventaja sobre Counting sort puro. La estabilidad es la pieza clave: al ordenar por un dígito, los empates conservan el orden anterior, que ya era correcto para los dígitos menos significativos. En la pasada 2 de nuestro ejemplo, 100 y 1 empatan y salen en el orden que traían; la pasada 3 los separa. Si una pasada fuera inestable, se pierde el trabajo de las anteriores.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pseudocódigo de Radix sort es cortísimo porque toda la maquinaria está en el Counting sort estable. La línea 2 recorre los d dígitos, no los n elementos: con máximo 100 en base 10, d es 3. Las líneas 3 y 4 llaman a Counting sort con una sola diferencia respecto de la lámina anterior: cuenta el dígito de A[j], no el valor de A[j]. Como k es b menos 1, el arreglo de conteo tiene b casillas y no crece aunque los números sean enormes. La línea 7 extrae el dígito: la división entera corre el dígito que interesa hasta las unidades y el módulo lo recorta. Y el Counting sort tiene que ser estable, si no la pasada i destruye lo que logró la i menos 1. El costo es theta de d por n más b. Con nuestra entrada: 3 por 17, o sea 51. Si d es constante, como en un entero de 32 bits, es lineal de verdad.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está la traza real de las tres pasadas, ejecutada en Python. Pasada 1, por unidades: 50, 100, 20 y 40 terminan en 0 y caen juntos en la cubeta 0, en ese orden; el 1 va a la cubeta 1; el 19 y el 99 a la cubeta 9. Al leer las cubetas de izquierda a derecha el arreglo queda 50, 100, 20, 40, 1, 19, 99. Pasada 2, por decenas: el 100 y el 1 tienen dígito de decenas 0 y caen en la cubeta 0, y salen en ese orden porque así venían de la pasada anterior. Quedan 100, 1, 19, 20, 40, 50, 99. Pasada 3, por centenas: todos menos el 100 tienen centena 0 y el 100 va a la cubeta 1. Esta pasada separa al 100 del 1 y deja todo ordenado. Resaltado en rojo está el par que muestra la estabilidad: el 1 y el 100 empatan en la pasada 2, y el orden de entrada se respeta.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Bucket sort es el híbrido del grupo: reparte sin comparar y después ordena comparando, pero solo dentro de grupos que espera encontrar diminutos. Primero repartimos: elegimos m cubetas, lo habitual es m igual a n, y cada elemento va a la cubeta que le toca según su valor. Con nuestra entrada, m es 7, el mínimo es 1 y el máximo 100: el 50 va a la cubeta 3 y el 100 a la 6. Segundo, ordenamos cada cubeta con inserción, que es lentísima en general pero inmejorable con uno o dos elementos. Solo la cubeta 1 y la cubeta 6 necesitaron ordenarse, y las dos tenían dos elementos. Tercero, concatenamos de la cubeta 0 a la m menos 1. Todo depende de que el reparto sea parejo: si casi todo cae en una cubeta, la inserción interna recibe n elementos y el costo es theta de n al cuadrado. Es el único de los tres cuyo peor caso es peor que n log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Leamos Bucket sort por bloques. La línea 2 busca el mínimo y el máximo: hace falta el rango real. Si las claves fueran reales en el intervalo cero a uno, como en el libro de Cormen, este paso se omite. La línea 5 es el reparto: el más uno en el denominador evita que el máximo dé índice n, que quedaría fuera de B. Es un error de índice clásico. Con el 100 de nuestra entrada, sin el más uno daría 7 por 99 sobre 99, o sea 7, fuera del arreglo. La línea 8 usa inserción y no quicksort porque en cubetas de uno o dos elementos es más rápida y además mantiene la estabilidad. La línea 9 concatena en orden de cubeta. El costo promedio es theta de n y el peor caso theta de n al cuadrado, cuando todo cae en una cubeta.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traza real. Arriba, cada elemento con el índice de cubeta que le calcula la fórmula: 50 va a B[3], 1 a B[0], 100 a B[6], 20 y 19 a B[1], 40 a B[2], y 99 a B[6]. Cada cubeta cubre un rango de valores de unos catorce números: B[0] de 1 a 15, B[1] de 16 a 29, y así. Después del reparto, B[1] contiene 20 y 19, en ese orden, y B[6] contiene 100 y 99. Esas dos, resaltadas en rojo, son las únicas que necesitaron inserción, y las dos con un solo intercambio. B[4] y B[5] quedaron vacías: con n igual a 7 el reparto no alcanza a ser perfectamente uniforme. Abajo, la concatenación da la salida ordenada.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tabla de costos. Counting sort es theta de n más k en los tres casos: no hay mejor ni peor caso, porque nunca miramos la relación entre dos elementos. Radix sort es theta de d por n más b, también sin casos. Bucket sort es el único con diferencia: theta de n en promedio, pero theta de n al cuadrado en el peor caso. La última columna aplica las fórmulas a nuestra entrada, en unidades de trabajo sin constantes, es decir órdenes de magnitud, no ciclos de CPU: Counting sort, n más k más 1, es 108; Radix, 3 por 17, es 51; Bucket, n más m, es 14. Abajo, qué significan los símbolos. k es el rango: con n igual a mil y k igual a un millón, Counting sort es unas cien veces peor que mergesort. d y b son dígitos y base. m es el número de cubetas.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Comparemos con los clásicos. Burbuja e inserción son theta de n al cuadrado: simples y buenos solo para n pequeño. Quicksort es n log n en promedio pero n cuadrado en el peor caso. Mergesort y heapsort garantizan n log n; mergesort es estable pero usa memoria lineal, heapsort es in-place. Los tres de hoy no comparan. Counting y Radix son lineales bajo sus condiciones, y Bucket es lineal solo con reparto uniforme. Donde sí se nota la diferencia: un millón de enteros de 32 bits. Mergesort hace unos 20 millones de comparaciones, porque n log n con n igual a un millón da casi 20 millones. Radix sort en base 256 hace 4 pasadas de un millón de lecturas cada una y no compara nada. Counting sort sería imposible: necesitaría 2 a la 32 casillas, unos 4 mil millones.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lámina tiene dos mitades. A la izquierda, la curva clásica: n al cuadrado se dispara, n log n crece despacio y n es una recta. Para n grande, los tres algoritmos de hoy ganan. Pero a la derecha está el punto que normalmente se omite, y es con nuestra entrada: n igual a 7 y k igual a 100. Counting sort tiene que tocar las 101 casillas de C y los 7 elementos: unas 108 operaciones. Mergesort necesita unas 20, es decir n log n; cuando lo ejecuté sobre estos datos hizo 13 comparaciones reales. Hasta burbuja, con n(n−1)/2 igual a 21 comparaciones, le gana a Counting sort en esta entrada. Radix sort con 3 pasadas hace unas 51, y Bucket sort unas 14. Aclaro: son órdenes de magnitud sin constantes, no ciclos de CPU, pero la conclusión no cambia. Lineal no es sinónimo de rápido: es lineal en n más k, y si k es mucho mayor que n, esa k manda.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una guía práctica. Counting sort conviene cuando el rango es chico y conocido: edades, notas del 0 al 20, días del año, categorías. Evítenlo cuando k es mucho mayor que n: con nuestros siete números y k igual a 100 ya pierde. Radix sort conviene cuando hay muchos datos de longitud fija: enteros, DNI, códigos, fechas, placas, cadenas del mismo largo. Es el de uso práctico más amplio de los tres. Bucket sort conviene cuando se sabe que los datos se reparten parejo, típicamente decimales generados al azar. Sin esa garantía, mergesort es la apuesta segura. La idea final: estos tres no son mejores que mergesort o quicksort. Cambian tiempo por memoria y por supuestos sobre los datos, y solo ganan cuando esos supuestos se cumplen. Gracias; quedo atento a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las fuentes. Cormen, Leiserson, Rivest y Stein, capítulo 8, es la referencia principal: ahí están el árbol de decisión, la cota inferior y los tres algoritmos con sus demostraciones. Sedgewick y Wayne explican Radix sort sobre cadenas. Knuth, en el volumen 3, trata la ordenación por distribución. Las trazas de las láminas 6, 9 y 12 no son estimadas: las verifiqué ejecutando los tres algoritmos en Python sobre la entrada 50, 1, 100, 20, 19, 40, 99. Las cifras de la lámina 15 son órdenes de magnitud sin constantes.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4F1EA"/>
        </a:solidFill>
      </p:bgPr>
    </p:bg>
    <p:spTree>
      <p:nvGrpSpPr>
        <p:cNvPr id="1" name=""/>
        <p:cNvGrpSpPr/>
        <p:nvPr/>
      </p:nvGrpSpPr>
      <p:grpSpPr>
        <a:xfrm>
          <a:off x="0" y="0"/>
          <a:ext cx="0" cy="0"/>
          <a:chOff x="0" y="0"/>
          <a:chExt cx="0" cy="0"/>
        </a:xfrm>
      </p:grpSpPr>
      <p:sp>
        <p:nvSpPr>
          <p:cNvPr id="2" name="Shape 0"/>
          <p:cNvSpPr/>
          <p:nvPr/>
        </p:nvSpPr>
        <p:spPr>
          <a:xfrm>
            <a:off x="548640" y="658368"/>
            <a:ext cx="11091672" cy="0"/>
          </a:xfrm>
          <a:prstGeom prst="line">
            <a:avLst/>
          </a:prstGeom>
          <a:noFill/>
          <a:ln w="9525">
            <a:solidFill>
              <a:srgbClr val="1F1B16"/>
            </a:solidFill>
            <a:prstDash val="solid"/>
          </a:ln>
        </p:spPr>
      </p:sp>
      <p:sp>
        <p:nvSpPr>
          <p:cNvPr id="3" name="Shape 1"/>
          <p:cNvSpPr/>
          <p:nvPr/>
        </p:nvSpPr>
        <p:spPr>
          <a:xfrm>
            <a:off x="548640" y="6400800"/>
            <a:ext cx="11091672" cy="0"/>
          </a:xfrm>
          <a:prstGeom prst="line">
            <a:avLst/>
          </a:prstGeom>
          <a:noFill/>
          <a:ln w="6350">
            <a:solidFill>
              <a:srgbClr val="B5AD9B"/>
            </a:solidFill>
            <a:prstDash val="solid"/>
          </a:ln>
        </p:spPr>
      </p:sp>
      <p:sp>
        <p:nvSpPr>
          <p:cNvPr id="4" name="Text 2"/>
          <p:cNvSpPr/>
          <p:nvPr/>
        </p:nvSpPr>
        <p:spPr>
          <a:xfrm>
            <a:off x="548640" y="6473952"/>
            <a:ext cx="8229600" cy="228600"/>
          </a:xfrm>
          <a:prstGeom prst="rect">
            <a:avLst/>
          </a:prstGeom>
          <a:noFill/>
          <a:ln/>
        </p:spPr>
        <p:txBody>
          <a:bodyPr wrap="square" lIns="0" tIns="0" rIns="0" bIns="0" rtlCol="0" anchor="ctr"/>
          <a:lstStyle/>
          <a:p>
            <a:pPr indent="0" marL="0">
              <a:buNone/>
            </a:pPr>
            <a:r>
              <a:rPr lang="en-US" sz="1000" dirty="0">
                <a:solidFill>
                  <a:srgbClr val="6E6657"/>
                </a:solidFill>
                <a:latin typeface="IBM Plex Sans" pitchFamily="34" charset="0"/>
                <a:ea typeface="IBM Plex Sans" pitchFamily="34" charset="-122"/>
                <a:cs typeface="IBM Plex Sans" pitchFamily="34" charset="-120"/>
              </a:rPr>
              <a:t>Análisis y Diseño de Algoritmos · Counting, Radix y Bucket sort</a:t>
            </a:r>
            <a:endParaRPr lang="en-US" sz="1000" dirty="0"/>
          </a:p>
        </p:txBody>
      </p:sp>
      <p:sp>
        <p:nvSpPr>
          <p:cNvPr id="5" name="Text 3"/>
          <p:cNvSpPr/>
          <p:nvPr>
            <p:ph idx="103" type="title" hasCustomPrompt="1"/>
          </p:nvPr>
        </p:nvSpPr>
        <p:spPr>
          <a:xfrm>
            <a:off x="548640" y="804672"/>
            <a:ext cx="11091672" cy="777240"/>
          </a:xfrm>
          <a:prstGeom prst="rect">
            <a:avLst/>
          </a:prstGeom>
          <a:noFill/>
          <a:ln/>
        </p:spPr>
        <p:txBody>
          <a:bodyPr wrap="square" rtlCol="0"/>
          <a:lstStyle>
            <a:lvl1pPr algn="l" indent="0" marL="0">
              <a:buNone/>
              <a:defRPr lang="en-US" sz="3600" dirty="0">
                <a:solidFill>
                  <a:srgbClr val="1F1B16"/>
                </a:solidFill>
                <a:latin typeface="EB Garamond" pitchFamily="34" charset="0"/>
                <a:ea typeface="EB Garamond" pitchFamily="34" charset="-122"/>
                <a:cs typeface="EB Garamond"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725912" y="6473952"/>
            <a:ext cx="9144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657"/>
                </a:solidFill>
                <a:latin typeface="JetBrains Mono"/>
                <a:ea typeface="JetBrains Mono"/>
                <a:cs typeface="JetBrains Mon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ORTADA">
    <p:bg>
      <p:bgPr>
        <a:solidFill>
          <a:srgbClr val="F4F1E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6473952"/>
            <a:ext cx="9144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657"/>
                </a:solidFill>
                <a:latin typeface="JetBrains Mono"/>
                <a:ea typeface="JetBrains Mono"/>
                <a:cs typeface="JetBrains Mon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t"/>
          <a:lstStyle/>
          <a:p>
            <a:pPr indent="0" marL="0">
              <a:buNone/>
            </a:pPr>
            <a:r>
              <a:rPr lang="en-US" sz="1200" spc="300" kern="0" dirty="0">
                <a:solidFill>
                  <a:srgbClr val="8C2F23"/>
                </a:solidFill>
                <a:latin typeface="JetBrains Mono" pitchFamily="34" charset="0"/>
                <a:ea typeface="JetBrains Mono" pitchFamily="34" charset="-122"/>
                <a:cs typeface="JetBrains Mono" pitchFamily="34" charset="-120"/>
              </a:rPr>
              <a:t>ANÁLISIS Y DISEÑO DE ALGORITMOS</a:t>
            </a:r>
            <a:endParaRPr lang="en-US" sz="1200" dirty="0"/>
          </a:p>
        </p:txBody>
      </p:sp>
      <p:sp>
        <p:nvSpPr>
          <p:cNvPr id="3" name="Shape 1"/>
          <p:cNvSpPr/>
          <p:nvPr/>
        </p:nvSpPr>
        <p:spPr>
          <a:xfrm>
            <a:off x="548640" y="822960"/>
            <a:ext cx="11091672" cy="0"/>
          </a:xfrm>
          <a:prstGeom prst="line">
            <a:avLst/>
          </a:prstGeom>
          <a:noFill/>
          <a:ln w="9525">
            <a:solidFill>
              <a:srgbClr val="1F1B16"/>
            </a:solidFill>
            <a:prstDash val="solid"/>
          </a:ln>
        </p:spPr>
      </p:sp>
      <p:sp>
        <p:nvSpPr>
          <p:cNvPr id="4" name="Text 2"/>
          <p:cNvSpPr txBox="1"/>
          <p:nvPr/>
        </p:nvSpPr>
        <p:spPr>
          <a:xfrm>
            <a:off x="548640" y="1463040"/>
            <a:ext cx="11091672" cy="1371600"/>
          </a:xfrm>
          <a:prstGeom prst="rect">
            <a:avLst/>
          </a:prstGeom>
          <a:noFill/>
          <a:ln/>
        </p:spPr>
        <p:txBody>
          <a:bodyPr wrap="square" lIns="0" tIns="0" rIns="0" bIns="0" rtlCol="0" anchor="t"/>
          <a:lstStyle/>
          <a:p>
            <a:pPr indent="0" marL="0">
              <a:buNone/>
            </a:pPr>
            <a:r>
              <a:rPr lang="en-US" sz="6800" dirty="0">
                <a:solidFill>
                  <a:srgbClr val="1F1B16"/>
                </a:solidFill>
                <a:latin typeface="EB Garamond" pitchFamily="34" charset="0"/>
                <a:ea typeface="EB Garamond" pitchFamily="34" charset="-122"/>
                <a:cs typeface="EB Garamond" pitchFamily="34" charset="-120"/>
              </a:rPr>
              <a:t>Ordenar sin comparar</a:t>
            </a:r>
            <a:endParaRPr lang="en-US" sz="6800" dirty="0"/>
          </a:p>
        </p:txBody>
      </p:sp>
      <p:sp>
        <p:nvSpPr>
          <p:cNvPr id="5" name="Text 3"/>
          <p:cNvSpPr txBox="1"/>
          <p:nvPr/>
        </p:nvSpPr>
        <p:spPr>
          <a:xfrm>
            <a:off x="548640" y="3017520"/>
            <a:ext cx="7680960" cy="914400"/>
          </a:xfrm>
          <a:prstGeom prst="rect">
            <a:avLst/>
          </a:prstGeom>
          <a:noFill/>
          <a:ln/>
        </p:spPr>
        <p:txBody>
          <a:bodyPr wrap="square" lIns="0" tIns="0" rIns="0" bIns="0" rtlCol="0" anchor="t"/>
          <a:lstStyle/>
          <a:p>
            <a:pPr indent="0" marL="0">
              <a:buNone/>
            </a:pPr>
            <a:r>
              <a:rPr lang="en-US" sz="2800" i="1" dirty="0">
                <a:solidFill>
                  <a:srgbClr val="6E6657"/>
                </a:solidFill>
                <a:latin typeface="EB Garamond" pitchFamily="34" charset="0"/>
                <a:ea typeface="EB Garamond" pitchFamily="34" charset="-122"/>
                <a:cs typeface="EB Garamond" pitchFamily="34" charset="-120"/>
              </a:rPr>
              <a:t>Counting sort, Radix sort y Bucket sort: los tres algoritmos que rompen el techo de n log n.</a:t>
            </a:r>
            <a:endParaRPr lang="en-US" sz="2800" dirty="0"/>
          </a:p>
        </p:txBody>
      </p:sp>
      <p:sp>
        <p:nvSpPr>
          <p:cNvPr id="6" name="Text 4"/>
          <p:cNvSpPr txBox="1"/>
          <p:nvPr/>
        </p:nvSpPr>
        <p:spPr>
          <a:xfrm>
            <a:off x="548640" y="4572000"/>
            <a:ext cx="3657600" cy="228600"/>
          </a:xfrm>
          <a:prstGeom prst="rect">
            <a:avLst/>
          </a:prstGeom>
          <a:noFill/>
          <a:ln/>
        </p:spPr>
        <p:txBody>
          <a:bodyPr wrap="square" lIns="0" tIns="0" rIns="0" bIns="0" rtlCol="0" anchor="t"/>
          <a:lstStyle/>
          <a:p>
            <a:pPr indent="0" marL="0">
              <a:buNone/>
            </a:pPr>
            <a:r>
              <a:rPr lang="en-US" sz="1100" spc="200" kern="0" dirty="0">
                <a:solidFill>
                  <a:srgbClr val="6E6657"/>
                </a:solidFill>
                <a:latin typeface="JetBrains Mono" pitchFamily="34" charset="0"/>
                <a:ea typeface="JetBrains Mono" pitchFamily="34" charset="-122"/>
                <a:cs typeface="JetBrains Mono" pitchFamily="34" charset="-120"/>
              </a:rPr>
              <a:t>ENTRADA DE TRABAJO</a:t>
            </a:r>
            <a:endParaRPr lang="en-US" sz="1100" dirty="0"/>
          </a:p>
        </p:txBody>
      </p:sp>
      <p:sp>
        <p:nvSpPr>
          <p:cNvPr id="7" name="Text 5"/>
          <p:cNvSpPr txBox="1"/>
          <p:nvPr/>
        </p:nvSpPr>
        <p:spPr>
          <a:xfrm>
            <a:off x="548640" y="4892040"/>
            <a:ext cx="914400" cy="64008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800" dirty="0">
                <a:solidFill>
                  <a:srgbClr val="1F1B16"/>
                </a:solidFill>
                <a:latin typeface="JetBrains Mono" pitchFamily="34" charset="0"/>
                <a:ea typeface="JetBrains Mono" pitchFamily="34" charset="-122"/>
                <a:cs typeface="JetBrains Mono" pitchFamily="34" charset="-120"/>
              </a:rPr>
              <a:t>50</a:t>
            </a:r>
            <a:endParaRPr lang="en-US" sz="1800" dirty="0"/>
          </a:p>
        </p:txBody>
      </p:sp>
      <p:sp>
        <p:nvSpPr>
          <p:cNvPr id="8" name="Text 6"/>
          <p:cNvSpPr txBox="1"/>
          <p:nvPr/>
        </p:nvSpPr>
        <p:spPr>
          <a:xfrm>
            <a:off x="1463040" y="4892040"/>
            <a:ext cx="914400" cy="64008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800" dirty="0">
                <a:solidFill>
                  <a:srgbClr val="1F1B16"/>
                </a:solidFill>
                <a:latin typeface="JetBrains Mono" pitchFamily="34" charset="0"/>
                <a:ea typeface="JetBrains Mono" pitchFamily="34" charset="-122"/>
                <a:cs typeface="JetBrains Mono" pitchFamily="34" charset="-120"/>
              </a:rPr>
              <a:t>1</a:t>
            </a:r>
            <a:endParaRPr lang="en-US" sz="1800" dirty="0"/>
          </a:p>
        </p:txBody>
      </p:sp>
      <p:sp>
        <p:nvSpPr>
          <p:cNvPr id="9" name="Text 7"/>
          <p:cNvSpPr txBox="1"/>
          <p:nvPr/>
        </p:nvSpPr>
        <p:spPr>
          <a:xfrm>
            <a:off x="2377440" y="4892040"/>
            <a:ext cx="914400" cy="64008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800" dirty="0">
                <a:solidFill>
                  <a:srgbClr val="1F1B16"/>
                </a:solidFill>
                <a:latin typeface="JetBrains Mono" pitchFamily="34" charset="0"/>
                <a:ea typeface="JetBrains Mono" pitchFamily="34" charset="-122"/>
                <a:cs typeface="JetBrains Mono" pitchFamily="34" charset="-120"/>
              </a:rPr>
              <a:t>100</a:t>
            </a:r>
            <a:endParaRPr lang="en-US" sz="1800" dirty="0"/>
          </a:p>
        </p:txBody>
      </p:sp>
      <p:sp>
        <p:nvSpPr>
          <p:cNvPr id="10" name="Text 8"/>
          <p:cNvSpPr txBox="1"/>
          <p:nvPr/>
        </p:nvSpPr>
        <p:spPr>
          <a:xfrm>
            <a:off x="3291840" y="4892040"/>
            <a:ext cx="914400" cy="64008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800" dirty="0">
                <a:solidFill>
                  <a:srgbClr val="1F1B16"/>
                </a:solidFill>
                <a:latin typeface="JetBrains Mono" pitchFamily="34" charset="0"/>
                <a:ea typeface="JetBrains Mono" pitchFamily="34" charset="-122"/>
                <a:cs typeface="JetBrains Mono" pitchFamily="34" charset="-120"/>
              </a:rPr>
              <a:t>20</a:t>
            </a:r>
            <a:endParaRPr lang="en-US" sz="1800" dirty="0"/>
          </a:p>
        </p:txBody>
      </p:sp>
      <p:sp>
        <p:nvSpPr>
          <p:cNvPr id="11" name="Text 9"/>
          <p:cNvSpPr txBox="1"/>
          <p:nvPr/>
        </p:nvSpPr>
        <p:spPr>
          <a:xfrm>
            <a:off x="4206240" y="4892040"/>
            <a:ext cx="914400" cy="64008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800" dirty="0">
                <a:solidFill>
                  <a:srgbClr val="1F1B16"/>
                </a:solidFill>
                <a:latin typeface="JetBrains Mono" pitchFamily="34" charset="0"/>
                <a:ea typeface="JetBrains Mono" pitchFamily="34" charset="-122"/>
                <a:cs typeface="JetBrains Mono" pitchFamily="34" charset="-120"/>
              </a:rPr>
              <a:t>19</a:t>
            </a:r>
            <a:endParaRPr lang="en-US" sz="1800" dirty="0"/>
          </a:p>
        </p:txBody>
      </p:sp>
      <p:sp>
        <p:nvSpPr>
          <p:cNvPr id="12" name="Text 10"/>
          <p:cNvSpPr txBox="1"/>
          <p:nvPr/>
        </p:nvSpPr>
        <p:spPr>
          <a:xfrm>
            <a:off x="5120640" y="4892040"/>
            <a:ext cx="914400" cy="64008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800" dirty="0">
                <a:solidFill>
                  <a:srgbClr val="1F1B16"/>
                </a:solidFill>
                <a:latin typeface="JetBrains Mono" pitchFamily="34" charset="0"/>
                <a:ea typeface="JetBrains Mono" pitchFamily="34" charset="-122"/>
                <a:cs typeface="JetBrains Mono" pitchFamily="34" charset="-120"/>
              </a:rPr>
              <a:t>40</a:t>
            </a:r>
            <a:endParaRPr lang="en-US" sz="1800" dirty="0"/>
          </a:p>
        </p:txBody>
      </p:sp>
      <p:sp>
        <p:nvSpPr>
          <p:cNvPr id="13" name="Text 11"/>
          <p:cNvSpPr txBox="1"/>
          <p:nvPr/>
        </p:nvSpPr>
        <p:spPr>
          <a:xfrm>
            <a:off x="6035040" y="4892040"/>
            <a:ext cx="914400" cy="64008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800" dirty="0">
                <a:solidFill>
                  <a:srgbClr val="1F1B16"/>
                </a:solidFill>
                <a:latin typeface="JetBrains Mono" pitchFamily="34" charset="0"/>
                <a:ea typeface="JetBrains Mono" pitchFamily="34" charset="-122"/>
                <a:cs typeface="JetBrains Mono" pitchFamily="34" charset="-120"/>
              </a:rPr>
              <a:t>99</a:t>
            </a:r>
            <a:endParaRPr lang="en-US" sz="1800" dirty="0"/>
          </a:p>
        </p:txBody>
      </p:sp>
      <p:sp>
        <p:nvSpPr>
          <p:cNvPr id="14" name="Text 12"/>
          <p:cNvSpPr txBox="1"/>
          <p:nvPr/>
        </p:nvSpPr>
        <p:spPr>
          <a:xfrm>
            <a:off x="7315200" y="5029200"/>
            <a:ext cx="4297680" cy="365760"/>
          </a:xfrm>
          <a:prstGeom prst="rect">
            <a:avLst/>
          </a:prstGeom>
          <a:noFill/>
          <a:ln/>
        </p:spPr>
        <p:txBody>
          <a:bodyPr wrap="square" lIns="0" tIns="0" rIns="0" bIns="0" rtlCol="0" anchor="t"/>
          <a:lstStyle/>
          <a:p>
            <a:pPr algn="r" indent="0" marL="0">
              <a:buNone/>
            </a:pPr>
            <a:r>
              <a:rPr lang="en-US" sz="1600" dirty="0">
                <a:solidFill>
                  <a:srgbClr val="2F5D50"/>
                </a:solidFill>
                <a:latin typeface="JetBrains Mono" pitchFamily="34" charset="0"/>
                <a:ea typeface="JetBrains Mono" pitchFamily="34" charset="-122"/>
                <a:cs typeface="JetBrains Mono" pitchFamily="34" charset="-120"/>
              </a:rPr>
              <a:t>n = 7 · k = 100</a:t>
            </a:r>
            <a:endParaRPr lang="en-US" sz="1600" dirty="0"/>
          </a:p>
        </p:txBody>
      </p:sp>
      <p:sp>
        <p:nvSpPr>
          <p:cNvPr id="15" name="Shape 13"/>
          <p:cNvSpPr/>
          <p:nvPr/>
        </p:nvSpPr>
        <p:spPr>
          <a:xfrm>
            <a:off x="548640" y="6126480"/>
            <a:ext cx="11091672" cy="0"/>
          </a:xfrm>
          <a:prstGeom prst="line">
            <a:avLst/>
          </a:prstGeom>
          <a:noFill/>
          <a:ln w="6350">
            <a:solidFill>
              <a:srgbClr val="B5AD9B"/>
            </a:solidFill>
            <a:prstDash val="solid"/>
          </a:ln>
        </p:spPr>
      </p:sp>
      <p:sp>
        <p:nvSpPr>
          <p:cNvPr id="16" name="Text 14"/>
          <p:cNvSpPr txBox="1"/>
          <p:nvPr/>
        </p:nvSpPr>
        <p:spPr>
          <a:xfrm>
            <a:off x="548640" y="6263640"/>
            <a:ext cx="11091672" cy="274320"/>
          </a:xfrm>
          <a:prstGeom prst="rect">
            <a:avLst/>
          </a:prstGeom>
          <a:noFill/>
          <a:ln/>
        </p:spPr>
        <p:txBody>
          <a:bodyPr wrap="square" lIns="0" tIns="0" rIns="0" bIns="0" rtlCol="0" anchor="t"/>
          <a:lstStyle/>
          <a:p>
            <a:pPr indent="0" marL="0">
              <a:buNone/>
            </a:pPr>
            <a:r>
              <a:rPr lang="en-US" sz="1200" dirty="0">
                <a:solidFill>
                  <a:srgbClr val="6E6657"/>
                </a:solidFill>
                <a:latin typeface="IBM Plex Sans" pitchFamily="34" charset="0"/>
                <a:ea typeface="IBM Plex Sans" pitchFamily="34" charset="-122"/>
                <a:cs typeface="IBM Plex Sans" pitchFamily="34" charset="-120"/>
              </a:rPr>
              <a:t>Counting sort · Radix sort · Bucket sort — descripción, pseudocódigo, traza, costos y comparación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100" spc="200" kern="0" dirty="0">
                <a:solidFill>
                  <a:srgbClr val="8C2F23"/>
                </a:solidFill>
                <a:latin typeface="JetBrains Mono" pitchFamily="34" charset="0"/>
                <a:ea typeface="JetBrains Mono" pitchFamily="34" charset="-122"/>
                <a:cs typeface="JetBrains Mono" pitchFamily="34" charset="-120"/>
              </a:rPr>
              <a:t>§ 01 · EL PROBLEMA</a:t>
            </a:r>
            <a:endParaRPr lang="en-US" sz="1100" dirty="0"/>
          </a:p>
        </p:txBody>
      </p:sp>
      <p:sp>
        <p:nvSpPr>
          <p:cNvPr id="3" name="Text 3"/>
          <p:cNvSpPr/>
          <p:nvPr>
            <p:ph idx="103" type="title" hasCustomPrompt="1"/>
          </p:nvPr>
        </p:nvSpPr>
        <p:spPr>
          <a:xfrm>
            <a:off x="548640" y="804672"/>
            <a:ext cx="11091672" cy="777240"/>
          </a:xfrm>
          <a:prstGeom prst="rect">
            <a:avLst/>
          </a:prstGeom>
          <a:noFill/>
          <a:ln/>
        </p:spPr>
        <p:txBody>
          <a:bodyPr wrap="square" lIns="0" tIns="0" rIns="0" bIns="0" rtlCol="0" anchor="t"/>
          <a:lstStyle/>
          <a:p>
            <a:pPr algn="l" indent="0" marL="0">
              <a:buNone/>
            </a:pPr>
            <a:r>
              <a:rPr lang="en-US" sz="3600" dirty="0">
                <a:solidFill>
                  <a:srgbClr val="1F1B16"/>
                </a:solidFill>
                <a:latin typeface="EB Garamond" pitchFamily="34" charset="0"/>
                <a:ea typeface="EB Garamond" pitchFamily="34" charset="-122"/>
                <a:cs typeface="EB Garamond" pitchFamily="34" charset="-120"/>
              </a:rPr>
              <a:t>La barrera de las comparaciones</a:t>
            </a:r>
            <a:endParaRPr lang="en-US" sz="3600" dirty="0"/>
          </a:p>
        </p:txBody>
      </p:sp>
      <p:sp>
        <p:nvSpPr>
          <p:cNvPr id="5" name="Text 2"/>
          <p:cNvSpPr txBox="1"/>
          <p:nvPr/>
        </p:nvSpPr>
        <p:spPr>
          <a:xfrm>
            <a:off x="548640" y="1737360"/>
            <a:ext cx="6126480" cy="4480560"/>
          </a:xfrm>
          <a:prstGeom prst="rect">
            <a:avLst/>
          </a:prstGeom>
          <a:noFill/>
          <a:ln/>
        </p:spPr>
        <p:txBody>
          <a:bodyPr wrap="square" lIns="0" tIns="0" rIns="0" bIns="0" rtlCol="0" anchor="t"/>
          <a:lstStyle/>
          <a:p>
            <a:pPr indent="0" marL="0">
              <a:lnSpc>
                <a:spcPct val="105000"/>
              </a:lnSpc>
              <a:buNone/>
            </a:pPr>
            <a:r>
              <a:rPr lang="en-US" sz="1400" b="1" dirty="0">
                <a:solidFill>
                  <a:srgbClr val="8C2F23"/>
                </a:solidFill>
                <a:latin typeface="IBM Plex Sans" pitchFamily="34" charset="0"/>
                <a:ea typeface="IBM Plex Sans" pitchFamily="34" charset="-122"/>
                <a:cs typeface="IBM Plex Sans" pitchFamily="34" charset="-120"/>
              </a:rPr>
              <a:t>Una sola pregunta. </a:t>
            </a:r>
            <a:pPr indent="0" marL="0">
              <a:lnSpc>
                <a:spcPct val="105000"/>
              </a:lnSpc>
              <a:spcAft>
                <a:spcPts val="900"/>
              </a:spcAft>
              <a:buNone/>
            </a:pPr>
            <a:r>
              <a:rPr lang="en-US" sz="1400" dirty="0">
                <a:solidFill>
                  <a:srgbClr val="1F1B16"/>
                </a:solidFill>
                <a:latin typeface="IBM Plex Sans" pitchFamily="34" charset="0"/>
                <a:ea typeface="IBM Plex Sans" pitchFamily="34" charset="-122"/>
                <a:cs typeface="IBM Plex Sans" pitchFamily="34" charset="-120"/>
              </a:rPr>
              <a:t>Burbuja, inserción, selección, mergesort, quicksort y heapsort solo saben preguntar si a es menor que b. Cualquier algoritmo de ese tipo se puede dibujar como un árbol de decisión binario: cada nodo es una comparación y cada hoja, una permutación posible de la entrada.</a:t>
            </a:r>
            <a:endParaRPr lang="en-US" sz="1400" dirty="0"/>
          </a:p>
          <a:p>
            <a:pPr indent="0" marL="0">
              <a:lnSpc>
                <a:spcPct val="105000"/>
              </a:lnSpc>
              <a:buNone/>
            </a:pPr>
            <a:r>
              <a:rPr lang="en-US" sz="1400" b="1" dirty="0">
                <a:solidFill>
                  <a:srgbClr val="8C2F23"/>
                </a:solidFill>
                <a:latin typeface="IBM Plex Sans" pitchFamily="34" charset="0"/>
                <a:ea typeface="IBM Plex Sans" pitchFamily="34" charset="-122"/>
                <a:cs typeface="IBM Plex Sans" pitchFamily="34" charset="-120"/>
              </a:rPr>
              <a:t>De ahí sale el techo. </a:t>
            </a:r>
            <a:pPr indent="0" marL="0">
              <a:lnSpc>
                <a:spcPct val="105000"/>
              </a:lnSpc>
              <a:spcAft>
                <a:spcPts val="900"/>
              </a:spcAft>
              <a:buNone/>
            </a:pPr>
            <a:r>
              <a:rPr lang="en-US" sz="1400" dirty="0">
                <a:solidFill>
                  <a:srgbClr val="1F1B16"/>
                </a:solidFill>
                <a:latin typeface="IBM Plex Sans" pitchFamily="34" charset="0"/>
                <a:ea typeface="IBM Plex Sans" pitchFamily="34" charset="-122"/>
                <a:cs typeface="IBM Plex Sans" pitchFamily="34" charset="-120"/>
              </a:rPr>
              <a:t>Para ordenar n elementos el árbol necesita al menos una hoja por cada permutación, y un árbol binario de altura h no tiene más de 2^h hojas. Es un resultado demostrado, no una limitación de ingenio.</a:t>
            </a:r>
            <a:endParaRPr lang="en-US" sz="1400" dirty="0"/>
          </a:p>
          <a:p>
            <a:pPr indent="0" marL="0">
              <a:lnSpc>
                <a:spcPct val="105000"/>
              </a:lnSpc>
              <a:buNone/>
            </a:pPr>
            <a:r>
              <a:rPr lang="en-US" sz="1400" b="1" dirty="0">
                <a:solidFill>
                  <a:srgbClr val="8C2F23"/>
                </a:solidFill>
                <a:latin typeface="IBM Plex Sans" pitchFamily="34" charset="0"/>
                <a:ea typeface="IBM Plex Sans" pitchFamily="34" charset="-122"/>
                <a:cs typeface="IBM Plex Sans" pitchFamily="34" charset="-120"/>
              </a:rPr>
              <a:t>Lo que sí se puede hacer. </a:t>
            </a:r>
            <a:pPr indent="0" marL="0">
              <a:lnSpc>
                <a:spcPct val="105000"/>
              </a:lnSpc>
              <a:spcAft>
                <a:spcPts val="900"/>
              </a:spcAft>
              <a:buNone/>
            </a:pPr>
            <a:r>
              <a:rPr lang="en-US" sz="1400" dirty="0">
                <a:solidFill>
                  <a:srgbClr val="1F1B16"/>
                </a:solidFill>
                <a:latin typeface="IBM Plex Sans" pitchFamily="34" charset="0"/>
                <a:ea typeface="IBM Plex Sans" pitchFamily="34" charset="-122"/>
                <a:cs typeface="IBM Plex Sans" pitchFamily="34" charset="-120"/>
              </a:rPr>
              <a:t>Mergesort y heapsort llegan a ese límite: son óptimos dentro del modelo y no hay nada mejor que buscar. Los tres algoritmos de hoy salen del modelo: no comparan elementos, leen la estructura interna de la clave y calculan la posición. El teorema no les aplica, pero cada uno compra velocidad con supuestos sobre los datos.</a:t>
            </a:r>
            <a:endParaRPr lang="en-US" sz="1400" dirty="0"/>
          </a:p>
        </p:txBody>
      </p:sp>
      <p:sp>
        <p:nvSpPr>
          <p:cNvPr id="6" name="Shape 3"/>
          <p:cNvSpPr/>
          <p:nvPr/>
        </p:nvSpPr>
        <p:spPr>
          <a:xfrm>
            <a:off x="6995160" y="1783080"/>
            <a:ext cx="0" cy="4389120"/>
          </a:xfrm>
          <a:prstGeom prst="line">
            <a:avLst/>
          </a:prstGeom>
          <a:noFill/>
          <a:ln w="6350">
            <a:solidFill>
              <a:srgbClr val="B5AD9B"/>
            </a:solidFill>
            <a:prstDash val="solid"/>
          </a:ln>
        </p:spPr>
      </p:sp>
      <p:sp>
        <p:nvSpPr>
          <p:cNvPr id="7" name="Text 4"/>
          <p:cNvSpPr txBox="1"/>
          <p:nvPr/>
        </p:nvSpPr>
        <p:spPr>
          <a:xfrm>
            <a:off x="7315200" y="1737360"/>
            <a:ext cx="4297680" cy="228600"/>
          </a:xfrm>
          <a:prstGeom prst="rect">
            <a:avLst/>
          </a:prstGeom>
          <a:noFill/>
          <a:ln/>
        </p:spPr>
        <p:txBody>
          <a:bodyPr wrap="square" lIns="0" tIns="0" rIns="0" bIns="0" rtlCol="0" anchor="t"/>
          <a:lstStyle/>
          <a:p>
            <a:pPr indent="0" marL="0">
              <a:buNone/>
            </a:pPr>
            <a:r>
              <a:rPr lang="en-US" sz="1100" spc="200" kern="0" dirty="0">
                <a:solidFill>
                  <a:srgbClr val="8C2F23"/>
                </a:solidFill>
                <a:latin typeface="JetBrains Mono" pitchFamily="34" charset="0"/>
                <a:ea typeface="JetBrains Mono" pitchFamily="34" charset="-122"/>
                <a:cs typeface="JetBrains Mono" pitchFamily="34" charset="-120"/>
              </a:rPr>
              <a:t>EL LÍMITE EN TRES PASOS</a:t>
            </a:r>
            <a:endParaRPr lang="en-US" sz="1100" dirty="0"/>
          </a:p>
        </p:txBody>
      </p:sp>
      <p:sp>
        <p:nvSpPr>
          <p:cNvPr id="8" name="Shape 5"/>
          <p:cNvSpPr/>
          <p:nvPr/>
        </p:nvSpPr>
        <p:spPr>
          <a:xfrm>
            <a:off x="7315200" y="2103120"/>
            <a:ext cx="4325112" cy="0"/>
          </a:xfrm>
          <a:prstGeom prst="line">
            <a:avLst/>
          </a:prstGeom>
          <a:noFill/>
          <a:ln w="6350">
            <a:solidFill>
              <a:srgbClr val="B5AD9B"/>
            </a:solidFill>
            <a:prstDash val="solid"/>
          </a:ln>
        </p:spPr>
      </p:sp>
      <p:sp>
        <p:nvSpPr>
          <p:cNvPr id="9" name="Text 6"/>
          <p:cNvSpPr txBox="1"/>
          <p:nvPr/>
        </p:nvSpPr>
        <p:spPr>
          <a:xfrm>
            <a:off x="7315200" y="2176272"/>
            <a:ext cx="4297680" cy="457200"/>
          </a:xfrm>
          <a:prstGeom prst="rect">
            <a:avLst/>
          </a:prstGeom>
          <a:noFill/>
          <a:ln/>
        </p:spPr>
        <p:txBody>
          <a:bodyPr wrap="square" lIns="0" tIns="0" rIns="0" bIns="0" rtlCol="0" anchor="t"/>
          <a:lstStyle/>
          <a:p>
            <a:pPr indent="0" marL="0">
              <a:buNone/>
            </a:pPr>
            <a:r>
              <a:rPr lang="en-US" sz="2800" dirty="0">
                <a:solidFill>
                  <a:srgbClr val="1F1B16"/>
                </a:solidFill>
                <a:latin typeface="EB Garamond" pitchFamily="34" charset="0"/>
                <a:ea typeface="EB Garamond" pitchFamily="34" charset="-122"/>
                <a:cs typeface="EB Garamond" pitchFamily="34" charset="-120"/>
              </a:rPr>
              <a:t>2^h ≥ n!</a:t>
            </a:r>
            <a:endParaRPr lang="en-US" sz="2800" dirty="0"/>
          </a:p>
        </p:txBody>
      </p:sp>
      <p:sp>
        <p:nvSpPr>
          <p:cNvPr id="10" name="Text 7"/>
          <p:cNvSpPr txBox="1"/>
          <p:nvPr/>
        </p:nvSpPr>
        <p:spPr>
          <a:xfrm>
            <a:off x="7315200" y="2633472"/>
            <a:ext cx="4297680" cy="256032"/>
          </a:xfrm>
          <a:prstGeom prst="rect">
            <a:avLst/>
          </a:prstGeom>
          <a:noFill/>
          <a:ln/>
        </p:spPr>
        <p:txBody>
          <a:bodyPr wrap="square" lIns="0" tIns="0" rIns="0" bIns="0" rtlCol="0" anchor="t"/>
          <a:lstStyle/>
          <a:p>
            <a:pPr indent="0" marL="0">
              <a:buNone/>
            </a:pPr>
            <a:r>
              <a:rPr lang="en-US" sz="1200" dirty="0">
                <a:solidFill>
                  <a:srgbClr val="6E6657"/>
                </a:solidFill>
                <a:latin typeface="IBM Plex Sans" pitchFamily="34" charset="0"/>
                <a:ea typeface="IBM Plex Sans" pitchFamily="34" charset="-122"/>
                <a:cs typeface="IBM Plex Sans" pitchFamily="34" charset="-120"/>
              </a:rPr>
              <a:t>h: altura del árbol = comparaciones en el peor caso.</a:t>
            </a:r>
            <a:endParaRPr lang="en-US" sz="1200" dirty="0"/>
          </a:p>
        </p:txBody>
      </p:sp>
      <p:sp>
        <p:nvSpPr>
          <p:cNvPr id="11" name="Shape 8"/>
          <p:cNvSpPr/>
          <p:nvPr/>
        </p:nvSpPr>
        <p:spPr>
          <a:xfrm>
            <a:off x="7315200" y="2971800"/>
            <a:ext cx="4325112" cy="0"/>
          </a:xfrm>
          <a:prstGeom prst="line">
            <a:avLst/>
          </a:prstGeom>
          <a:noFill/>
          <a:ln w="6350">
            <a:solidFill>
              <a:srgbClr val="B5AD9B"/>
            </a:solidFill>
            <a:prstDash val="solid"/>
          </a:ln>
        </p:spPr>
      </p:sp>
      <p:sp>
        <p:nvSpPr>
          <p:cNvPr id="12" name="Text 9"/>
          <p:cNvSpPr txBox="1"/>
          <p:nvPr/>
        </p:nvSpPr>
        <p:spPr>
          <a:xfrm>
            <a:off x="7315200" y="3044952"/>
            <a:ext cx="4297680" cy="457200"/>
          </a:xfrm>
          <a:prstGeom prst="rect">
            <a:avLst/>
          </a:prstGeom>
          <a:noFill/>
          <a:ln/>
        </p:spPr>
        <p:txBody>
          <a:bodyPr wrap="square" lIns="0" tIns="0" rIns="0" bIns="0" rtlCol="0" anchor="t"/>
          <a:lstStyle/>
          <a:p>
            <a:pPr indent="0" marL="0">
              <a:buNone/>
            </a:pPr>
            <a:r>
              <a:rPr lang="en-US" sz="2800" dirty="0">
                <a:solidFill>
                  <a:srgbClr val="1F1B16"/>
                </a:solidFill>
                <a:latin typeface="EB Garamond" pitchFamily="34" charset="0"/>
                <a:ea typeface="EB Garamond" pitchFamily="34" charset="-122"/>
                <a:cs typeface="EB Garamond" pitchFamily="34" charset="-120"/>
              </a:rPr>
              <a:t>h ≥ log₂(n!)</a:t>
            </a:r>
            <a:endParaRPr lang="en-US" sz="2800" dirty="0"/>
          </a:p>
        </p:txBody>
      </p:sp>
      <p:sp>
        <p:nvSpPr>
          <p:cNvPr id="13" name="Text 10"/>
          <p:cNvSpPr txBox="1"/>
          <p:nvPr/>
        </p:nvSpPr>
        <p:spPr>
          <a:xfrm>
            <a:off x="7315200" y="3502152"/>
            <a:ext cx="4297680" cy="256032"/>
          </a:xfrm>
          <a:prstGeom prst="rect">
            <a:avLst/>
          </a:prstGeom>
          <a:noFill/>
          <a:ln/>
        </p:spPr>
        <p:txBody>
          <a:bodyPr wrap="square" lIns="0" tIns="0" rIns="0" bIns="0" rtlCol="0" anchor="t"/>
          <a:lstStyle/>
          <a:p>
            <a:pPr indent="0" marL="0">
              <a:buNone/>
            </a:pPr>
            <a:r>
              <a:rPr lang="en-US" sz="1200" dirty="0">
                <a:solidFill>
                  <a:srgbClr val="6E6657"/>
                </a:solidFill>
                <a:latin typeface="IBM Plex Sans" pitchFamily="34" charset="0"/>
                <a:ea typeface="IBM Plex Sans" pitchFamily="34" charset="-122"/>
                <a:cs typeface="IBM Plex Sans" pitchFamily="34" charset="-120"/>
              </a:rPr>
              <a:t>Se toma logaritmo a ambos lados.</a:t>
            </a:r>
            <a:endParaRPr lang="en-US" sz="1200" dirty="0"/>
          </a:p>
        </p:txBody>
      </p:sp>
      <p:sp>
        <p:nvSpPr>
          <p:cNvPr id="14" name="Shape 11"/>
          <p:cNvSpPr/>
          <p:nvPr/>
        </p:nvSpPr>
        <p:spPr>
          <a:xfrm>
            <a:off x="7315200" y="3840480"/>
            <a:ext cx="4325112" cy="0"/>
          </a:xfrm>
          <a:prstGeom prst="line">
            <a:avLst/>
          </a:prstGeom>
          <a:noFill/>
          <a:ln w="6350">
            <a:solidFill>
              <a:srgbClr val="B5AD9B"/>
            </a:solidFill>
            <a:prstDash val="solid"/>
          </a:ln>
        </p:spPr>
      </p:sp>
      <p:sp>
        <p:nvSpPr>
          <p:cNvPr id="15" name="Text 12"/>
          <p:cNvSpPr txBox="1"/>
          <p:nvPr/>
        </p:nvSpPr>
        <p:spPr>
          <a:xfrm>
            <a:off x="7315200" y="3913632"/>
            <a:ext cx="4297680" cy="457200"/>
          </a:xfrm>
          <a:prstGeom prst="rect">
            <a:avLst/>
          </a:prstGeom>
          <a:noFill/>
          <a:ln/>
        </p:spPr>
        <p:txBody>
          <a:bodyPr wrap="square" lIns="0" tIns="0" rIns="0" bIns="0" rtlCol="0" anchor="t"/>
          <a:lstStyle/>
          <a:p>
            <a:pPr indent="0" marL="0">
              <a:buNone/>
            </a:pPr>
            <a:r>
              <a:rPr lang="en-US" sz="2800" dirty="0">
                <a:solidFill>
                  <a:srgbClr val="1F1B16"/>
                </a:solidFill>
                <a:latin typeface="EB Garamond" pitchFamily="34" charset="0"/>
                <a:ea typeface="EB Garamond" pitchFamily="34" charset="-122"/>
                <a:cs typeface="EB Garamond" pitchFamily="34" charset="-120"/>
              </a:rPr>
              <a:t>log₂(n!) = Θ(n log n)</a:t>
            </a:r>
            <a:endParaRPr lang="en-US" sz="2800" dirty="0"/>
          </a:p>
        </p:txBody>
      </p:sp>
      <p:sp>
        <p:nvSpPr>
          <p:cNvPr id="16" name="Text 13"/>
          <p:cNvSpPr txBox="1"/>
          <p:nvPr/>
        </p:nvSpPr>
        <p:spPr>
          <a:xfrm>
            <a:off x="7315200" y="4370832"/>
            <a:ext cx="4297680" cy="256032"/>
          </a:xfrm>
          <a:prstGeom prst="rect">
            <a:avLst/>
          </a:prstGeom>
          <a:noFill/>
          <a:ln/>
        </p:spPr>
        <p:txBody>
          <a:bodyPr wrap="square" lIns="0" tIns="0" rIns="0" bIns="0" rtlCol="0" anchor="t"/>
          <a:lstStyle/>
          <a:p>
            <a:pPr indent="0" marL="0">
              <a:buNone/>
            </a:pPr>
            <a:r>
              <a:rPr lang="en-US" sz="1200" dirty="0">
                <a:solidFill>
                  <a:srgbClr val="6E6657"/>
                </a:solidFill>
                <a:latin typeface="IBM Plex Sans" pitchFamily="34" charset="0"/>
                <a:ea typeface="IBM Plex Sans" pitchFamily="34" charset="-122"/>
                <a:cs typeface="IBM Plex Sans" pitchFamily="34" charset="-120"/>
              </a:rPr>
              <a:t>Aproximación de Stirling.</a:t>
            </a:r>
            <a:endParaRPr lang="en-US" sz="1200" dirty="0"/>
          </a:p>
        </p:txBody>
      </p:sp>
      <p:sp>
        <p:nvSpPr>
          <p:cNvPr id="17" name="Shape 14"/>
          <p:cNvSpPr/>
          <p:nvPr/>
        </p:nvSpPr>
        <p:spPr>
          <a:xfrm>
            <a:off x="7315200" y="4754880"/>
            <a:ext cx="4325112" cy="0"/>
          </a:xfrm>
          <a:prstGeom prst="line">
            <a:avLst/>
          </a:prstGeom>
          <a:noFill/>
          <a:ln w="9525">
            <a:solidFill>
              <a:srgbClr val="1F1B16"/>
            </a:solidFill>
            <a:prstDash val="solid"/>
          </a:ln>
        </p:spPr>
      </p:sp>
      <p:sp>
        <p:nvSpPr>
          <p:cNvPr id="18" name="Text 15"/>
          <p:cNvSpPr txBox="1"/>
          <p:nvPr/>
        </p:nvSpPr>
        <p:spPr>
          <a:xfrm>
            <a:off x="7315200" y="4864608"/>
            <a:ext cx="4297680" cy="1097280"/>
          </a:xfrm>
          <a:prstGeom prst="rect">
            <a:avLst/>
          </a:prstGeom>
          <a:noFill/>
          <a:ln/>
        </p:spPr>
        <p:txBody>
          <a:bodyPr wrap="square" lIns="0" tIns="0" rIns="0" bIns="0" rtlCol="0" anchor="t"/>
          <a:lstStyle/>
          <a:p>
            <a:pPr indent="0" marL="0">
              <a:buNone/>
            </a:pPr>
            <a:r>
              <a:rPr lang="en-US" sz="1400" b="1" dirty="0">
                <a:solidFill>
                  <a:srgbClr val="2F5D50"/>
                </a:solidFill>
                <a:latin typeface="IBM Plex Sans" pitchFamily="34" charset="0"/>
                <a:ea typeface="IBM Plex Sans" pitchFamily="34" charset="-122"/>
                <a:cs typeface="IBM Plex Sans" pitchFamily="34" charset="-120"/>
              </a:rPr>
              <a:t>Con n = 7: </a:t>
            </a:r>
            <a:pPr indent="0" marL="0">
              <a:buNone/>
            </a:pPr>
            <a:r>
              <a:rPr lang="en-US" sz="1400" dirty="0">
                <a:solidFill>
                  <a:srgbClr val="1F1B16"/>
                </a:solidFill>
                <a:latin typeface="IBM Plex Sans" pitchFamily="34" charset="0"/>
                <a:ea typeface="IBM Plex Sans" pitchFamily="34" charset="-122"/>
                <a:cs typeface="IBM Plex Sans" pitchFamily="34" charset="-120"/>
              </a:rPr>
              <a:t>7! = 5 040 hojas, así que h ≥ ⌈log₂ 5 040⌉ = 13. Mergesort sobre nuestra entrada hizo 13 comparaciones (medido).</a:t>
            </a:r>
            <a:endParaRPr lang="en-US" sz="1400" dirty="0"/>
          </a:p>
        </p:txBody>
      </p:sp>
      <p:sp>
        <p:nvSpPr>
          <p:cNvPr id="25" name="Slide Number Placeholder 0"/>
          <p:cNvSpPr>
            <a:spLocks noGrp="1"/>
          </p:cNvSpPr>
          <p:nvPr>
            <p:ph type="sldNum" sz="quarter" idx="4294967295"/>
          </p:nvPr>
        </p:nvSpPr>
        <p:spPr>
          <a:xfrm>
            <a:off x="10725912" y="6473952"/>
            <a:ext cx="9144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657"/>
                </a:solidFill>
                <a:latin typeface="JetBrains Mono"/>
                <a:ea typeface="JetBrains Mono"/>
                <a:cs typeface="JetBrains Mon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100" spc="200" kern="0" dirty="0">
                <a:solidFill>
                  <a:srgbClr val="8C2F23"/>
                </a:solidFill>
                <a:latin typeface="JetBrains Mono" pitchFamily="34" charset="0"/>
                <a:ea typeface="JetBrains Mono" pitchFamily="34" charset="-122"/>
                <a:cs typeface="JetBrains Mono" pitchFamily="34" charset="-120"/>
              </a:rPr>
              <a:t>§ 01 · EL PROBLEMA</a:t>
            </a:r>
            <a:endParaRPr lang="en-US" sz="1100" dirty="0"/>
          </a:p>
        </p:txBody>
      </p:sp>
      <p:sp>
        <p:nvSpPr>
          <p:cNvPr id="3" name="Text 3"/>
          <p:cNvSpPr/>
          <p:nvPr>
            <p:ph idx="103" type="title" hasCustomPrompt="1"/>
          </p:nvPr>
        </p:nvSpPr>
        <p:spPr>
          <a:xfrm>
            <a:off x="548640" y="804672"/>
            <a:ext cx="11091672" cy="777240"/>
          </a:xfrm>
          <a:prstGeom prst="rect">
            <a:avLst/>
          </a:prstGeom>
          <a:noFill/>
          <a:ln/>
        </p:spPr>
        <p:txBody>
          <a:bodyPr wrap="square" lIns="0" tIns="0" rIns="0" bIns="0" rtlCol="0" anchor="t"/>
          <a:lstStyle/>
          <a:p>
            <a:pPr algn="l" indent="0" marL="0">
              <a:buNone/>
            </a:pPr>
            <a:r>
              <a:rPr lang="en-US" sz="3600" dirty="0">
                <a:solidFill>
                  <a:srgbClr val="1F1B16"/>
                </a:solidFill>
                <a:latin typeface="EB Garamond" pitchFamily="34" charset="0"/>
                <a:ea typeface="EB Garamond" pitchFamily="34" charset="-122"/>
                <a:cs typeface="EB Garamond" pitchFamily="34" charset="-120"/>
              </a:rPr>
              <a:t>Calcular la posición en vez de buscarla</a:t>
            </a:r>
            <a:endParaRPr lang="en-US" sz="3600" dirty="0"/>
          </a:p>
        </p:txBody>
      </p:sp>
      <p:sp>
        <p:nvSpPr>
          <p:cNvPr id="5" name="Text 2"/>
          <p:cNvSpPr txBox="1"/>
          <p:nvPr/>
        </p:nvSpPr>
        <p:spPr>
          <a:xfrm>
            <a:off x="548640" y="1645920"/>
            <a:ext cx="11091672" cy="731520"/>
          </a:xfrm>
          <a:prstGeom prst="rect">
            <a:avLst/>
          </a:prstGeom>
          <a:noFill/>
          <a:ln/>
        </p:spPr>
        <p:txBody>
          <a:bodyPr wrap="square" lIns="0" tIns="0" rIns="0" bIns="0" rtlCol="0" anchor="t"/>
          <a:lstStyle/>
          <a:p>
            <a:pPr indent="0" marL="0">
              <a:buNone/>
            </a:pPr>
            <a:r>
              <a:rPr lang="en-US" sz="2200" i="1" dirty="0">
                <a:solidFill>
                  <a:srgbClr val="1F1B16"/>
                </a:solidFill>
                <a:latin typeface="EB Garamond" pitchFamily="34" charset="0"/>
                <a:ea typeface="EB Garamond" pitchFamily="34" charset="-122"/>
                <a:cs typeface="EB Garamond" pitchFamily="34" charset="-120"/>
              </a:rPr>
              <a:t>Los tres reemplazan la pregunta «¿a &lt; b?» por una cuenta aritmética sobre la clave. El precio: dejan de ser de propósito general.</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514600"/>
          <a:ext cx="11091672" cy="914400"/>
        </p:xfrm>
        <a:graphic>
          <a:graphicData uri="http://schemas.openxmlformats.org/drawingml/2006/table">
            <a:tbl>
              <a:tblPr/>
              <a:tblGrid>
                <a:gridCol w="2286000"/>
                <a:gridCol w="2926080"/>
                <a:gridCol w="2926080"/>
                <a:gridCol w="2953512"/>
              </a:tblGrid>
              <a:tr h="457200">
                <a:tc>
                  <a:txBody>
                    <a:bodyPr/>
                    <a:lstStyle/>
                    <a:p>
                      <a:pPr indent="0" marL="0">
                        <a:buNone/>
                      </a:pPr>
                      <a:endParaRPr lang="en-US" sz="1600" dirty="0">
                        <a:latin typeface="EB Garamond" charset="0"/>
                        <a:ea typeface="EB Garamond" charset="0"/>
                        <a:cs typeface="EB Garamond" charset="0"/>
                      </a:endParaRPr>
                    </a:p>
                  </a:txBody>
                  <a:tcPr marL="0" marR="73152" marT="36576" marB="36576" anchor="ctr">
                    <a:lnL w="0" cap="flat" cmpd="sng" algn="ctr">
                      <a:noFill/>
                    </a:lnL>
                    <a:lnR w="0" cap="flat" cmpd="sng" algn="ctr">
                      <a:noFill/>
                    </a:lnR>
                    <a:lnT w="0" cap="flat" cmpd="sng" algn="ctr">
                      <a:noFill/>
                    </a:lnT>
                    <a:lnB w="12700" cap="flat" cmpd="sng" algn="ctr">
                      <a:solidFill>
                        <a:srgbClr val="1F1B16"/>
                      </a:solidFill>
                      <a:prstDash val="solid"/>
                      <a:round/>
                      <a:headEnd type="none" w="med" len="med"/>
                      <a:tailEnd type="none" w="med" len="med"/>
                    </a:lnB>
                    <a:solidFill>
                      <a:srgbClr val="F4F1EA"/>
                    </a:solidFill>
                  </a:tcPr>
                </a:tc>
                <a:tc>
                  <a:txBody>
                    <a:bodyPr/>
                    <a:lstStyle/>
                    <a:p>
                      <a:pPr indent="0" marL="0">
                        <a:buNone/>
                      </a:pPr>
                      <a:r>
                        <a:rPr lang="en-US" sz="1600" b="1" dirty="0">
                          <a:solidFill>
                            <a:srgbClr val="1F1B16"/>
                          </a:solidFill>
                          <a:latin typeface="EB Garamond" pitchFamily="34" charset="0"/>
                          <a:ea typeface="EB Garamond" pitchFamily="34" charset="-122"/>
                          <a:cs typeface="EB Garamond" pitchFamily="34" charset="-120"/>
                        </a:rPr>
                        <a:t>Counting sort</a:t>
                      </a:r>
                      <a:endParaRPr lang="en-US" sz="1600" dirty="0">
                        <a:latin typeface="EB Garamond" charset="0"/>
                        <a:ea typeface="EB Garamond" charset="0"/>
                        <a:cs typeface="EB Garamond" charset="0"/>
                      </a:endParaRPr>
                    </a:p>
                  </a:txBody>
                  <a:tcPr marL="0" marR="73152" marT="36576" marB="36576" anchor="ctr">
                    <a:lnL w="0" cap="flat" cmpd="sng" algn="ctr">
                      <a:noFill/>
                    </a:lnL>
                    <a:lnR w="0" cap="flat" cmpd="sng" algn="ctr">
                      <a:noFill/>
                    </a:lnR>
                    <a:lnT w="0" cap="flat" cmpd="sng" algn="ctr">
                      <a:noFill/>
                    </a:lnT>
                    <a:lnB w="12700" cap="flat" cmpd="sng" algn="ctr">
                      <a:solidFill>
                        <a:srgbClr val="1F1B16"/>
                      </a:solidFill>
                      <a:prstDash val="solid"/>
                      <a:round/>
                      <a:headEnd type="none" w="med" len="med"/>
                      <a:tailEnd type="none" w="med" len="med"/>
                    </a:lnB>
                    <a:solidFill>
                      <a:srgbClr val="F4F1EA"/>
                    </a:solidFill>
                  </a:tcPr>
                </a:tc>
                <a:tc>
                  <a:txBody>
                    <a:bodyPr/>
                    <a:lstStyle/>
                    <a:p>
                      <a:pPr indent="0" marL="0">
                        <a:buNone/>
                      </a:pPr>
                      <a:r>
                        <a:rPr lang="en-US" sz="1600" b="1" dirty="0">
                          <a:solidFill>
                            <a:srgbClr val="1F1B16"/>
                          </a:solidFill>
                          <a:latin typeface="EB Garamond" pitchFamily="34" charset="0"/>
                          <a:ea typeface="EB Garamond" pitchFamily="34" charset="-122"/>
                          <a:cs typeface="EB Garamond" pitchFamily="34" charset="-120"/>
                        </a:rPr>
                        <a:t>Radix sort</a:t>
                      </a:r>
                      <a:endParaRPr lang="en-US" sz="1600" dirty="0">
                        <a:latin typeface="EB Garamond" charset="0"/>
                        <a:ea typeface="EB Garamond" charset="0"/>
                        <a:cs typeface="EB Garamond" charset="0"/>
                      </a:endParaRPr>
                    </a:p>
                  </a:txBody>
                  <a:tcPr marL="0" marR="73152" marT="36576" marB="36576" anchor="ctr">
                    <a:lnL w="0" cap="flat" cmpd="sng" algn="ctr">
                      <a:noFill/>
                    </a:lnL>
                    <a:lnR w="0" cap="flat" cmpd="sng" algn="ctr">
                      <a:noFill/>
                    </a:lnR>
                    <a:lnT w="0" cap="flat" cmpd="sng" algn="ctr">
                      <a:noFill/>
                    </a:lnT>
                    <a:lnB w="12700" cap="flat" cmpd="sng" algn="ctr">
                      <a:solidFill>
                        <a:srgbClr val="1F1B16"/>
                      </a:solidFill>
                      <a:prstDash val="solid"/>
                      <a:round/>
                      <a:headEnd type="none" w="med" len="med"/>
                      <a:tailEnd type="none" w="med" len="med"/>
                    </a:lnB>
                    <a:solidFill>
                      <a:srgbClr val="F4F1EA"/>
                    </a:solidFill>
                  </a:tcPr>
                </a:tc>
                <a:tc>
                  <a:txBody>
                    <a:bodyPr/>
                    <a:lstStyle/>
                    <a:p>
                      <a:pPr indent="0" marL="0">
                        <a:buNone/>
                      </a:pPr>
                      <a:r>
                        <a:rPr lang="en-US" sz="1600" b="1" dirty="0">
                          <a:solidFill>
                            <a:srgbClr val="1F1B16"/>
                          </a:solidFill>
                          <a:latin typeface="EB Garamond" pitchFamily="34" charset="0"/>
                          <a:ea typeface="EB Garamond" pitchFamily="34" charset="-122"/>
                          <a:cs typeface="EB Garamond" pitchFamily="34" charset="-120"/>
                        </a:rPr>
                        <a:t>Bucket sort</a:t>
                      </a:r>
                      <a:endParaRPr lang="en-US" sz="1600" dirty="0">
                        <a:latin typeface="EB Garamond" charset="0"/>
                        <a:ea typeface="EB Garamond" charset="0"/>
                        <a:cs typeface="EB Garamond" charset="0"/>
                      </a:endParaRPr>
                    </a:p>
                  </a:txBody>
                  <a:tcPr marL="0" marR="73152" marT="36576" marB="36576" anchor="ctr">
                    <a:lnL w="0" cap="flat" cmpd="sng" algn="ctr">
                      <a:noFill/>
                    </a:lnL>
                    <a:lnR w="0" cap="flat" cmpd="sng" algn="ctr">
                      <a:noFill/>
                    </a:lnR>
                    <a:lnT w="0" cap="flat" cmpd="sng" algn="ctr">
                      <a:noFill/>
                    </a:lnT>
                    <a:lnB w="12700" cap="flat" cmpd="sng" algn="ctr">
                      <a:solidFill>
                        <a:srgbClr val="1F1B16"/>
                      </a:solidFill>
                      <a:prstDash val="solid"/>
                      <a:round/>
                      <a:headEnd type="none" w="med" len="med"/>
                      <a:tailEnd type="none" w="med" len="med"/>
                    </a:lnB>
                    <a:solidFill>
                      <a:srgbClr val="F4F1EA"/>
                    </a:solidFill>
                  </a:tcPr>
                </a:tc>
              </a:tr>
              <a:tr h="502920">
                <a:tc>
                  <a:txBody>
                    <a:bodyPr/>
                    <a:lstStyle/>
                    <a:p>
                      <a:pPr indent="0" marL="0">
                        <a:buNone/>
                      </a:pPr>
                      <a:r>
                        <a:rPr lang="en-US" sz="1400" dirty="0">
                          <a:solidFill>
                            <a:srgbClr val="1F1B16"/>
                          </a:solidFill>
                          <a:latin typeface="EB Garamond" pitchFamily="34" charset="0"/>
                          <a:ea typeface="EB Garamond" pitchFamily="34" charset="-122"/>
                          <a:cs typeface="EB Garamond" pitchFamily="34" charset="-120"/>
                        </a:rPr>
                        <a:t>Qué lee de la clave</a:t>
                      </a:r>
                      <a:endParaRPr lang="en-US" sz="1400" dirty="0">
                        <a:latin typeface="EB Garamond" charset="0"/>
                        <a:ea typeface="EB Garamond" charset="0"/>
                        <a:cs typeface="EB Garamond"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400" dirty="0">
                          <a:solidFill>
                            <a:srgbClr val="1F1B16"/>
                          </a:solidFill>
                          <a:latin typeface="IBM Plex Sans" pitchFamily="34" charset="0"/>
                          <a:ea typeface="IBM Plex Sans" pitchFamily="34" charset="-122"/>
                          <a:cs typeface="IBM Plex Sans" pitchFamily="34" charset="-120"/>
                        </a:rPr>
                        <a:t>El valor entero completo</a:t>
                      </a:r>
                      <a:endParaRPr lang="en-US" sz="1400" dirty="0">
                        <a:latin typeface="IBM Plex Sans" charset="0"/>
                        <a:ea typeface="IBM Plex Sans" charset="0"/>
                        <a:cs typeface="IBM Plex Sans"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400" dirty="0">
                          <a:solidFill>
                            <a:srgbClr val="1F1B16"/>
                          </a:solidFill>
                          <a:latin typeface="IBM Plex Sans" pitchFamily="34" charset="0"/>
                          <a:ea typeface="IBM Plex Sans" pitchFamily="34" charset="-122"/>
                          <a:cs typeface="IBM Plex Sans" pitchFamily="34" charset="-120"/>
                        </a:rPr>
                        <a:t>Un dígito por pasada</a:t>
                      </a:r>
                      <a:endParaRPr lang="en-US" sz="1400" dirty="0">
                        <a:latin typeface="IBM Plex Sans" charset="0"/>
                        <a:ea typeface="IBM Plex Sans" charset="0"/>
                        <a:cs typeface="IBM Plex Sans"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400" dirty="0">
                          <a:solidFill>
                            <a:srgbClr val="1F1B16"/>
                          </a:solidFill>
                          <a:latin typeface="IBM Plex Sans" pitchFamily="34" charset="0"/>
                          <a:ea typeface="IBM Plex Sans" pitchFamily="34" charset="-122"/>
                          <a:cs typeface="IBM Plex Sans" pitchFamily="34" charset="-120"/>
                        </a:rPr>
                        <a:t>Su posición dentro del rango</a:t>
                      </a:r>
                      <a:endParaRPr lang="en-US" sz="1400" dirty="0">
                        <a:latin typeface="IBM Plex Sans" charset="0"/>
                        <a:ea typeface="IBM Plex Sans" charset="0"/>
                        <a:cs typeface="IBM Plex Sans"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r>
              <a:tr h="502920">
                <a:tc>
                  <a:txBody>
                    <a:bodyPr/>
                    <a:lstStyle/>
                    <a:p>
                      <a:pPr indent="0" marL="0">
                        <a:buNone/>
                      </a:pPr>
                      <a:r>
                        <a:rPr lang="en-US" sz="1400" dirty="0">
                          <a:solidFill>
                            <a:srgbClr val="1F1B16"/>
                          </a:solidFill>
                          <a:latin typeface="EB Garamond" pitchFamily="34" charset="0"/>
                          <a:ea typeface="EB Garamond" pitchFamily="34" charset="-122"/>
                          <a:cs typeface="EB Garamond" pitchFamily="34" charset="-120"/>
                        </a:rPr>
                        <a:t>Qué asume</a:t>
                      </a:r>
                      <a:endParaRPr lang="en-US" sz="1400" dirty="0">
                        <a:latin typeface="EB Garamond" charset="0"/>
                        <a:ea typeface="EB Garamond" charset="0"/>
                        <a:cs typeface="EB Garamond"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400" dirty="0">
                          <a:solidFill>
                            <a:srgbClr val="1F1B16"/>
                          </a:solidFill>
                          <a:latin typeface="IBM Plex Sans" pitchFamily="34" charset="0"/>
                          <a:ea typeface="IBM Plex Sans" pitchFamily="34" charset="-122"/>
                          <a:cs typeface="IBM Plex Sans" pitchFamily="34" charset="-120"/>
                        </a:rPr>
                        <a:t>Enteros en [0, k], con k conocido</a:t>
                      </a:r>
                      <a:endParaRPr lang="en-US" sz="1400" dirty="0">
                        <a:latin typeface="IBM Plex Sans" charset="0"/>
                        <a:ea typeface="IBM Plex Sans" charset="0"/>
                        <a:cs typeface="IBM Plex Sans"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400" dirty="0">
                          <a:solidFill>
                            <a:srgbClr val="1F1B16"/>
                          </a:solidFill>
                          <a:latin typeface="IBM Plex Sans" pitchFamily="34" charset="0"/>
                          <a:ea typeface="IBM Plex Sans" pitchFamily="34" charset="-122"/>
                          <a:cs typeface="IBM Plex Sans" pitchFamily="34" charset="-120"/>
                        </a:rPr>
                        <a:t>Claves de d dígitos en base b</a:t>
                      </a:r>
                      <a:endParaRPr lang="en-US" sz="1400" dirty="0">
                        <a:latin typeface="IBM Plex Sans" charset="0"/>
                        <a:ea typeface="IBM Plex Sans" charset="0"/>
                        <a:cs typeface="IBM Plex Sans"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400" dirty="0">
                          <a:solidFill>
                            <a:srgbClr val="1F1B16"/>
                          </a:solidFill>
                          <a:latin typeface="IBM Plex Sans" pitchFamily="34" charset="0"/>
                          <a:ea typeface="IBM Plex Sans" pitchFamily="34" charset="-122"/>
                          <a:cs typeface="IBM Plex Sans" pitchFamily="34" charset="-120"/>
                        </a:rPr>
                        <a:t>Distribución aproximadamente uniforme</a:t>
                      </a:r>
                      <a:endParaRPr lang="en-US" sz="1400" dirty="0">
                        <a:latin typeface="IBM Plex Sans" charset="0"/>
                        <a:ea typeface="IBM Plex Sans" charset="0"/>
                        <a:cs typeface="IBM Plex Sans"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r>
              <a:tr h="502920">
                <a:tc>
                  <a:txBody>
                    <a:bodyPr/>
                    <a:lstStyle/>
                    <a:p>
                      <a:pPr indent="0" marL="0">
                        <a:buNone/>
                      </a:pPr>
                      <a:r>
                        <a:rPr lang="en-US" sz="1400" dirty="0">
                          <a:solidFill>
                            <a:srgbClr val="1F1B16"/>
                          </a:solidFill>
                          <a:latin typeface="EB Garamond" pitchFamily="34" charset="0"/>
                          <a:ea typeface="EB Garamond" pitchFamily="34" charset="-122"/>
                          <a:cs typeface="EB Garamond" pitchFamily="34" charset="-120"/>
                        </a:rPr>
                        <a:t>Memoria extra</a:t>
                      </a:r>
                      <a:endParaRPr lang="en-US" sz="1400" dirty="0">
                        <a:latin typeface="EB Garamond" charset="0"/>
                        <a:ea typeface="EB Garamond" charset="0"/>
                        <a:cs typeface="EB Garamond"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400" dirty="0">
                          <a:solidFill>
                            <a:srgbClr val="1F1B16"/>
                          </a:solidFill>
                          <a:latin typeface="IBM Plex Sans" pitchFamily="34" charset="0"/>
                          <a:ea typeface="IBM Plex Sans" pitchFamily="34" charset="-122"/>
                          <a:cs typeface="IBM Plex Sans" pitchFamily="34" charset="-120"/>
                        </a:rPr>
                        <a:t>C[0..k] y el arreglo de salida B</a:t>
                      </a:r>
                      <a:endParaRPr lang="en-US" sz="1400" dirty="0">
                        <a:latin typeface="IBM Plex Sans" charset="0"/>
                        <a:ea typeface="IBM Plex Sans" charset="0"/>
                        <a:cs typeface="IBM Plex Sans"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400" dirty="0">
                          <a:solidFill>
                            <a:srgbClr val="1F1B16"/>
                          </a:solidFill>
                          <a:latin typeface="IBM Plex Sans" pitchFamily="34" charset="0"/>
                          <a:ea typeface="IBM Plex Sans" pitchFamily="34" charset="-122"/>
                          <a:cs typeface="IBM Plex Sans" pitchFamily="34" charset="-120"/>
                        </a:rPr>
                        <a:t>b contadores, reutilizados d veces</a:t>
                      </a:r>
                      <a:endParaRPr lang="en-US" sz="1400" dirty="0">
                        <a:latin typeface="IBM Plex Sans" charset="0"/>
                        <a:ea typeface="IBM Plex Sans" charset="0"/>
                        <a:cs typeface="IBM Plex Sans"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400" dirty="0">
                          <a:solidFill>
                            <a:srgbClr val="1F1B16"/>
                          </a:solidFill>
                          <a:latin typeface="IBM Plex Sans" pitchFamily="34" charset="0"/>
                          <a:ea typeface="IBM Plex Sans" pitchFamily="34" charset="-122"/>
                          <a:cs typeface="IBM Plex Sans" pitchFamily="34" charset="-120"/>
                        </a:rPr>
                        <a:t>m listas encadenadas</a:t>
                      </a:r>
                      <a:endParaRPr lang="en-US" sz="1400" dirty="0">
                        <a:latin typeface="IBM Plex Sans" charset="0"/>
                        <a:ea typeface="IBM Plex Sans" charset="0"/>
                        <a:cs typeface="IBM Plex Sans"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r>
              <a:tr h="502920">
                <a:tc>
                  <a:txBody>
                    <a:bodyPr/>
                    <a:lstStyle/>
                    <a:p>
                      <a:pPr indent="0" marL="0">
                        <a:buNone/>
                      </a:pPr>
                      <a:r>
                        <a:rPr lang="en-US" sz="1400" dirty="0">
                          <a:solidFill>
                            <a:srgbClr val="1F1B16"/>
                          </a:solidFill>
                          <a:latin typeface="EB Garamond" pitchFamily="34" charset="0"/>
                          <a:ea typeface="EB Garamond" pitchFamily="34" charset="-122"/>
                          <a:cs typeface="EB Garamond" pitchFamily="34" charset="-120"/>
                        </a:rPr>
                        <a:t>Es lineal cuando</a:t>
                      </a:r>
                      <a:endParaRPr lang="en-US" sz="1400" dirty="0">
                        <a:latin typeface="EB Garamond" charset="0"/>
                        <a:ea typeface="EB Garamond" charset="0"/>
                        <a:cs typeface="EB Garamond"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400" b="1" dirty="0">
                          <a:solidFill>
                            <a:srgbClr val="8C2F23"/>
                          </a:solidFill>
                          <a:latin typeface="IBM Plex Sans" pitchFamily="34" charset="0"/>
                          <a:ea typeface="IBM Plex Sans" pitchFamily="34" charset="-122"/>
                          <a:cs typeface="IBM Plex Sans" pitchFamily="34" charset="-120"/>
                        </a:rPr>
                        <a:t>k = O(n)</a:t>
                      </a:r>
                      <a:endParaRPr lang="en-US" sz="1400" dirty="0">
                        <a:latin typeface="IBM Plex Sans" charset="0"/>
                        <a:ea typeface="IBM Plex Sans" charset="0"/>
                        <a:cs typeface="IBM Plex Sans"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400" b="1" dirty="0">
                          <a:solidFill>
                            <a:srgbClr val="8C2F23"/>
                          </a:solidFill>
                          <a:latin typeface="IBM Plex Sans" pitchFamily="34" charset="0"/>
                          <a:ea typeface="IBM Plex Sans" pitchFamily="34" charset="-122"/>
                          <a:cs typeface="IBM Plex Sans" pitchFamily="34" charset="-120"/>
                        </a:rPr>
                        <a:t>d es constante</a:t>
                      </a:r>
                      <a:endParaRPr lang="en-US" sz="1400" dirty="0">
                        <a:latin typeface="IBM Plex Sans" charset="0"/>
                        <a:ea typeface="IBM Plex Sans" charset="0"/>
                        <a:cs typeface="IBM Plex Sans"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400" b="1" dirty="0">
                          <a:solidFill>
                            <a:srgbClr val="8C2F23"/>
                          </a:solidFill>
                          <a:latin typeface="IBM Plex Sans" pitchFamily="34" charset="0"/>
                          <a:ea typeface="IBM Plex Sans" pitchFamily="34" charset="-122"/>
                          <a:cs typeface="IBM Plex Sans" pitchFamily="34" charset="-120"/>
                        </a:rPr>
                        <a:t>el reparto es parejo</a:t>
                      </a:r>
                      <a:endParaRPr lang="en-US" sz="1400" dirty="0">
                        <a:latin typeface="IBM Plex Sans" charset="0"/>
                        <a:ea typeface="IBM Plex Sans" charset="0"/>
                        <a:cs typeface="IBM Plex Sans"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r>
              <a:tr h="502920">
                <a:tc>
                  <a:txBody>
                    <a:bodyPr/>
                    <a:lstStyle/>
                    <a:p>
                      <a:pPr indent="0" marL="0">
                        <a:buNone/>
                      </a:pPr>
                      <a:r>
                        <a:rPr lang="en-US" sz="1400" dirty="0">
                          <a:solidFill>
                            <a:srgbClr val="1F1B16"/>
                          </a:solidFill>
                          <a:latin typeface="EB Garamond" pitchFamily="34" charset="0"/>
                          <a:ea typeface="EB Garamond" pitchFamily="34" charset="-122"/>
                          <a:cs typeface="EB Garamond" pitchFamily="34" charset="-120"/>
                        </a:rPr>
                        <a:t>Estable</a:t>
                      </a:r>
                      <a:endParaRPr lang="en-US" sz="1400" dirty="0">
                        <a:latin typeface="EB Garamond" charset="0"/>
                        <a:ea typeface="EB Garamond" charset="0"/>
                        <a:cs typeface="EB Garamond" charset="0"/>
                      </a:endParaRPr>
                    </a:p>
                  </a:txBody>
                  <a:tcPr marL="0" marR="73152" marT="36576" marB="36576" anchor="ctr">
                    <a:lnL w="0" cap="flat" cmpd="sng" algn="ctr">
                      <a:noFill/>
                    </a:lnL>
                    <a:lnR w="0" cap="flat" cmpd="sng" algn="ctr">
                      <a:noFill/>
                    </a:lnR>
                    <a:lnT w="0" cap="flat" cmpd="sng" algn="ctr">
                      <a:noFill/>
                    </a:lnT>
                    <a:lnB w="9525" cap="flat" cmpd="sng" algn="ctr">
                      <a:solidFill>
                        <a:srgbClr val="1F1B16"/>
                      </a:solidFill>
                      <a:prstDash val="solid"/>
                      <a:round/>
                      <a:headEnd type="none" w="med" len="med"/>
                      <a:tailEnd type="none" w="med" len="med"/>
                    </a:lnB>
                    <a:solidFill>
                      <a:srgbClr val="F4F1EA"/>
                    </a:solidFill>
                  </a:tcPr>
                </a:tc>
                <a:tc>
                  <a:txBody>
                    <a:bodyPr/>
                    <a:lstStyle/>
                    <a:p>
                      <a:pPr indent="0" marL="0">
                        <a:buNone/>
                      </a:pPr>
                      <a:r>
                        <a:rPr lang="en-US" sz="1400" dirty="0">
                          <a:solidFill>
                            <a:srgbClr val="1F1B16"/>
                          </a:solidFill>
                          <a:latin typeface="IBM Plex Sans" pitchFamily="34" charset="0"/>
                          <a:ea typeface="IBM Plex Sans" pitchFamily="34" charset="-122"/>
                          <a:cs typeface="IBM Plex Sans" pitchFamily="34" charset="-120"/>
                        </a:rPr>
                        <a:t>Sí</a:t>
                      </a:r>
                      <a:endParaRPr lang="en-US" sz="1400" dirty="0">
                        <a:latin typeface="IBM Plex Sans" charset="0"/>
                        <a:ea typeface="IBM Plex Sans" charset="0"/>
                        <a:cs typeface="IBM Plex Sans" charset="0"/>
                      </a:endParaRPr>
                    </a:p>
                  </a:txBody>
                  <a:tcPr marL="0" marR="73152" marT="36576" marB="36576" anchor="ctr">
                    <a:lnL w="0" cap="flat" cmpd="sng" algn="ctr">
                      <a:noFill/>
                    </a:lnL>
                    <a:lnR w="0" cap="flat" cmpd="sng" algn="ctr">
                      <a:noFill/>
                    </a:lnR>
                    <a:lnT w="0" cap="flat" cmpd="sng" algn="ctr">
                      <a:noFill/>
                    </a:lnT>
                    <a:lnB w="9525" cap="flat" cmpd="sng" algn="ctr">
                      <a:solidFill>
                        <a:srgbClr val="1F1B16"/>
                      </a:solidFill>
                      <a:prstDash val="solid"/>
                      <a:round/>
                      <a:headEnd type="none" w="med" len="med"/>
                      <a:tailEnd type="none" w="med" len="med"/>
                    </a:lnB>
                    <a:solidFill>
                      <a:srgbClr val="F4F1EA"/>
                    </a:solidFill>
                  </a:tcPr>
                </a:tc>
                <a:tc>
                  <a:txBody>
                    <a:bodyPr/>
                    <a:lstStyle/>
                    <a:p>
                      <a:pPr indent="0" marL="0">
                        <a:buNone/>
                      </a:pPr>
                      <a:r>
                        <a:rPr lang="en-US" sz="1400" dirty="0">
                          <a:solidFill>
                            <a:srgbClr val="1F1B16"/>
                          </a:solidFill>
                          <a:latin typeface="IBM Plex Sans" pitchFamily="34" charset="0"/>
                          <a:ea typeface="IBM Plex Sans" pitchFamily="34" charset="-122"/>
                          <a:cs typeface="IBM Plex Sans" pitchFamily="34" charset="-120"/>
                        </a:rPr>
                        <a:t>Sí, y es imprescindible</a:t>
                      </a:r>
                      <a:endParaRPr lang="en-US" sz="1400" dirty="0">
                        <a:latin typeface="IBM Plex Sans" charset="0"/>
                        <a:ea typeface="IBM Plex Sans" charset="0"/>
                        <a:cs typeface="IBM Plex Sans" charset="0"/>
                      </a:endParaRPr>
                    </a:p>
                  </a:txBody>
                  <a:tcPr marL="0" marR="73152" marT="36576" marB="36576" anchor="ctr">
                    <a:lnL w="0" cap="flat" cmpd="sng" algn="ctr">
                      <a:noFill/>
                    </a:lnL>
                    <a:lnR w="0" cap="flat" cmpd="sng" algn="ctr">
                      <a:noFill/>
                    </a:lnR>
                    <a:lnT w="0" cap="flat" cmpd="sng" algn="ctr">
                      <a:noFill/>
                    </a:lnT>
                    <a:lnB w="9525" cap="flat" cmpd="sng" algn="ctr">
                      <a:solidFill>
                        <a:srgbClr val="1F1B16"/>
                      </a:solidFill>
                      <a:prstDash val="solid"/>
                      <a:round/>
                      <a:headEnd type="none" w="med" len="med"/>
                      <a:tailEnd type="none" w="med" len="med"/>
                    </a:lnB>
                    <a:solidFill>
                      <a:srgbClr val="F4F1EA"/>
                    </a:solidFill>
                  </a:tcPr>
                </a:tc>
                <a:tc>
                  <a:txBody>
                    <a:bodyPr/>
                    <a:lstStyle/>
                    <a:p>
                      <a:pPr indent="0" marL="0">
                        <a:buNone/>
                      </a:pPr>
                      <a:r>
                        <a:rPr lang="en-US" sz="1400" dirty="0">
                          <a:solidFill>
                            <a:srgbClr val="1F1B16"/>
                          </a:solidFill>
                          <a:latin typeface="IBM Plex Sans" pitchFamily="34" charset="0"/>
                          <a:ea typeface="IBM Plex Sans" pitchFamily="34" charset="-122"/>
                          <a:cs typeface="IBM Plex Sans" pitchFamily="34" charset="-120"/>
                        </a:rPr>
                        <a:t>Sí, si la cubeta usa inserción</a:t>
                      </a:r>
                      <a:endParaRPr lang="en-US" sz="1400" dirty="0">
                        <a:latin typeface="IBM Plex Sans" charset="0"/>
                        <a:ea typeface="IBM Plex Sans" charset="0"/>
                        <a:cs typeface="IBM Plex Sans" charset="0"/>
                      </a:endParaRPr>
                    </a:p>
                  </a:txBody>
                  <a:tcPr marL="0" marR="73152" marT="36576" marB="36576" anchor="ctr">
                    <a:lnL w="0" cap="flat" cmpd="sng" algn="ctr">
                      <a:noFill/>
                    </a:lnL>
                    <a:lnR w="0" cap="flat" cmpd="sng" algn="ctr">
                      <a:noFill/>
                    </a:lnR>
                    <a:lnT w="0" cap="flat" cmpd="sng" algn="ctr">
                      <a:noFill/>
                    </a:lnT>
                    <a:lnB w="9525" cap="flat" cmpd="sng" algn="ctr">
                      <a:solidFill>
                        <a:srgbClr val="1F1B16"/>
                      </a:solidFill>
                      <a:prstDash val="solid"/>
                      <a:round/>
                      <a:headEnd type="none" w="med" len="med"/>
                      <a:tailEnd type="none" w="med" len="med"/>
                    </a:lnB>
                    <a:solidFill>
                      <a:srgbClr val="F4F1EA"/>
                    </a:solidFill>
                  </a:tcPr>
                </a:tc>
              </a:tr>
            </a:tbl>
          </a:graphicData>
        </a:graphic>
      </p:graphicFrame>
      <p:sp>
        <p:nvSpPr>
          <p:cNvPr id="7" name="Text 3"/>
          <p:cNvSpPr txBox="1"/>
          <p:nvPr/>
        </p:nvSpPr>
        <p:spPr>
          <a:xfrm>
            <a:off x="548640" y="5669280"/>
            <a:ext cx="11091672" cy="365760"/>
          </a:xfrm>
          <a:prstGeom prst="rect">
            <a:avLst/>
          </a:prstGeom>
          <a:noFill/>
          <a:ln/>
        </p:spPr>
        <p:txBody>
          <a:bodyPr wrap="square" lIns="0" tIns="0" rIns="0" bIns="0" rtlCol="0" anchor="t"/>
          <a:lstStyle/>
          <a:p>
            <a:pPr indent="0" marL="0">
              <a:buNone/>
            </a:pPr>
            <a:r>
              <a:rPr lang="en-US" sz="1400" dirty="0">
                <a:solidFill>
                  <a:srgbClr val="6E6657"/>
                </a:solidFill>
                <a:latin typeface="IBM Plex Sans" pitchFamily="34" charset="0"/>
                <a:ea typeface="IBM Plex Sans" pitchFamily="34" charset="-122"/>
                <a:cs typeface="IBM Plex Sans" pitchFamily="34" charset="-120"/>
              </a:rPr>
              <a:t>Ninguno es in-place: la velocidad se paga con memoria.</a:t>
            </a:r>
            <a:endParaRPr lang="en-US" sz="1400" dirty="0"/>
          </a:p>
        </p:txBody>
      </p:sp>
      <p:sp>
        <p:nvSpPr>
          <p:cNvPr id="25" name="Slide Number Placeholder 0"/>
          <p:cNvSpPr>
            <a:spLocks noGrp="1"/>
          </p:cNvSpPr>
          <p:nvPr>
            <p:ph type="sldNum" sz="quarter" idx="4294967295"/>
          </p:nvPr>
        </p:nvSpPr>
        <p:spPr>
          <a:xfrm>
            <a:off x="10725912" y="6473952"/>
            <a:ext cx="9144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657"/>
                </a:solidFill>
                <a:latin typeface="JetBrains Mono"/>
                <a:ea typeface="JetBrains Mono"/>
                <a:cs typeface="JetBrains Mon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100" spc="200" kern="0" dirty="0">
                <a:solidFill>
                  <a:srgbClr val="8C2F23"/>
                </a:solidFill>
                <a:latin typeface="JetBrains Mono" pitchFamily="34" charset="0"/>
                <a:ea typeface="JetBrains Mono" pitchFamily="34" charset="-122"/>
                <a:cs typeface="JetBrains Mono" pitchFamily="34" charset="-120"/>
              </a:rPr>
              <a:t>§ 02 · COUNTING SORT</a:t>
            </a:r>
            <a:endParaRPr lang="en-US" sz="1100" dirty="0"/>
          </a:p>
        </p:txBody>
      </p:sp>
      <p:sp>
        <p:nvSpPr>
          <p:cNvPr id="3" name="Text 3"/>
          <p:cNvSpPr/>
          <p:nvPr>
            <p:ph idx="103" type="title" hasCustomPrompt="1"/>
          </p:nvPr>
        </p:nvSpPr>
        <p:spPr>
          <a:xfrm>
            <a:off x="548640" y="804672"/>
            <a:ext cx="11091672" cy="777240"/>
          </a:xfrm>
          <a:prstGeom prst="rect">
            <a:avLst/>
          </a:prstGeom>
          <a:noFill/>
          <a:ln/>
        </p:spPr>
        <p:txBody>
          <a:bodyPr wrap="square" lIns="0" tIns="0" rIns="0" bIns="0" rtlCol="0" anchor="t"/>
          <a:lstStyle/>
          <a:p>
            <a:pPr algn="l" indent="0" marL="0">
              <a:buNone/>
            </a:pPr>
            <a:r>
              <a:rPr lang="en-US" sz="3600" dirty="0">
                <a:solidFill>
                  <a:srgbClr val="1F1B16"/>
                </a:solidFill>
                <a:latin typeface="EB Garamond" pitchFamily="34" charset="0"/>
                <a:ea typeface="EB Garamond" pitchFamily="34" charset="-122"/>
                <a:cs typeface="EB Garamond" pitchFamily="34" charset="-120"/>
              </a:rPr>
              <a:t>Counting sort: cómo funciona</a:t>
            </a:r>
            <a:endParaRPr lang="en-US" sz="3600" dirty="0"/>
          </a:p>
        </p:txBody>
      </p:sp>
      <p:sp>
        <p:nvSpPr>
          <p:cNvPr id="5" name="Text 2"/>
          <p:cNvSpPr txBox="1"/>
          <p:nvPr/>
        </p:nvSpPr>
        <p:spPr>
          <a:xfrm>
            <a:off x="548640" y="1645920"/>
            <a:ext cx="11091672" cy="777240"/>
          </a:xfrm>
          <a:prstGeom prst="rect">
            <a:avLst/>
          </a:prstGeom>
          <a:noFill/>
          <a:ln/>
        </p:spPr>
        <p:txBody>
          <a:bodyPr wrap="square" lIns="0" tIns="0" rIns="0" bIns="0" rtlCol="0" anchor="t"/>
          <a:lstStyle/>
          <a:p>
            <a:pPr indent="0" marL="0">
              <a:buNone/>
            </a:pPr>
            <a:r>
              <a:rPr lang="en-US" sz="2200" i="1" dirty="0">
                <a:solidFill>
                  <a:srgbClr val="1F1B16"/>
                </a:solidFill>
                <a:latin typeface="EB Garamond" pitchFamily="34" charset="0"/>
                <a:ea typeface="EB Garamond" pitchFamily="34" charset="-122"/>
                <a:cs typeface="EB Garamond" pitchFamily="34" charset="-120"/>
              </a:rPr>
              <a:t>No mueve ningún elemento hasta saber exactamente dónde va: primero calcula la posición final de cada valor y después lo escribe allí, una sola vez.</a:t>
            </a:r>
            <a:endParaRPr lang="en-US" sz="2200" dirty="0"/>
          </a:p>
        </p:txBody>
      </p:sp>
      <p:sp>
        <p:nvSpPr>
          <p:cNvPr id="6" name="Shape 3"/>
          <p:cNvSpPr/>
          <p:nvPr/>
        </p:nvSpPr>
        <p:spPr>
          <a:xfrm>
            <a:off x="548640" y="2487168"/>
            <a:ext cx="11091672" cy="0"/>
          </a:xfrm>
          <a:prstGeom prst="line">
            <a:avLst/>
          </a:prstGeom>
          <a:noFill/>
          <a:ln w="6350">
            <a:solidFill>
              <a:srgbClr val="1F1B16"/>
            </a:solidFill>
            <a:prstDash val="solid"/>
          </a:ln>
        </p:spPr>
      </p:sp>
      <p:sp>
        <p:nvSpPr>
          <p:cNvPr id="7" name="Text 4"/>
          <p:cNvSpPr txBox="1"/>
          <p:nvPr/>
        </p:nvSpPr>
        <p:spPr>
          <a:xfrm>
            <a:off x="548640" y="2670048"/>
            <a:ext cx="5349240" cy="3611880"/>
          </a:xfrm>
          <a:prstGeom prst="rect">
            <a:avLst/>
          </a:prstGeom>
          <a:noFill/>
          <a:ln/>
        </p:spPr>
        <p:txBody>
          <a:bodyPr wrap="square" lIns="0" tIns="0" rIns="0" bIns="0" rtlCol="0" anchor="t"/>
          <a:lstStyle/>
          <a:p>
            <a:pPr indent="0" marL="0">
              <a:lnSpc>
                <a:spcPct val="105000"/>
              </a:lnSpc>
              <a:buNone/>
            </a:pPr>
            <a:r>
              <a:rPr lang="en-US" sz="1400" b="1" dirty="0">
                <a:solidFill>
                  <a:srgbClr val="8C2F23"/>
                </a:solidFill>
                <a:latin typeface="IBM Plex Sans" pitchFamily="34" charset="0"/>
                <a:ea typeface="IBM Plex Sans" pitchFamily="34" charset="-122"/>
                <a:cs typeface="IBM Plex Sans" pitchFamily="34" charset="-120"/>
              </a:rPr>
              <a:t>Contar. </a:t>
            </a:r>
            <a:pPr indent="0" marL="0">
              <a:lnSpc>
                <a:spcPct val="105000"/>
              </a:lnSpc>
              <a:spcAft>
                <a:spcPts val="900"/>
              </a:spcAft>
              <a:buNone/>
            </a:pPr>
            <a:r>
              <a:rPr lang="en-US" sz="1400" dirty="0">
                <a:solidFill>
                  <a:srgbClr val="1F1B16"/>
                </a:solidFill>
                <a:latin typeface="IBM Plex Sans" pitchFamily="34" charset="0"/>
                <a:ea typeface="IBM Plex Sans" pitchFamily="34" charset="-122"/>
                <a:cs typeface="IBM Plex Sans" pitchFamily="34" charset="-120"/>
              </a:rPr>
              <a:t>Se recorre A una vez y, por cada valor v que aparece, se incrementa C[v]. Al terminar, C es un histograma de la entrada. Esto exige claves enteras en un rango conocido [0, k]: C necesita una casilla por cada valor posible, aparezca o no. Con nuestra entrada k = 100, así que C tiene 101 casillas y solo siete se ocupan.</a:t>
            </a:r>
            <a:endParaRPr lang="en-US" sz="1400" dirty="0"/>
          </a:p>
          <a:p>
            <a:pPr indent="0" marL="0">
              <a:lnSpc>
                <a:spcPct val="105000"/>
              </a:lnSpc>
              <a:buNone/>
            </a:pPr>
            <a:r>
              <a:rPr lang="en-US" sz="1400" b="1" dirty="0">
                <a:solidFill>
                  <a:srgbClr val="8C2F23"/>
                </a:solidFill>
                <a:latin typeface="IBM Plex Sans" pitchFamily="34" charset="0"/>
                <a:ea typeface="IBM Plex Sans" pitchFamily="34" charset="-122"/>
                <a:cs typeface="IBM Plex Sans" pitchFamily="34" charset="-120"/>
              </a:rPr>
              <a:t>Acumular. </a:t>
            </a:r>
            <a:pPr indent="0" marL="0">
              <a:lnSpc>
                <a:spcPct val="105000"/>
              </a:lnSpc>
              <a:spcAft>
                <a:spcPts val="900"/>
              </a:spcAft>
              <a:buNone/>
            </a:pPr>
            <a:r>
              <a:rPr lang="en-US" sz="1400" dirty="0">
                <a:solidFill>
                  <a:srgbClr val="1F1B16"/>
                </a:solidFill>
                <a:latin typeface="IBM Plex Sans" pitchFamily="34" charset="0"/>
                <a:ea typeface="IBM Plex Sans" pitchFamily="34" charset="-122"/>
                <a:cs typeface="IBM Plex Sans" pitchFamily="34" charset="-120"/>
              </a:rPr>
              <a:t>Se recorre C sumando cada casilla a la anterior. Ahora C[v] ya no dice cuántos v hay, sino cuántos elementos son menores o iguales que v, y ese número es la posición final del último v más uno. Para el 50 el acumulado es 5: hay cinco elementos ≤ 50, así que el 50 irá en B[4].</a:t>
            </a:r>
            <a:endParaRPr lang="en-US" sz="1400" dirty="0"/>
          </a:p>
        </p:txBody>
      </p:sp>
      <p:sp>
        <p:nvSpPr>
          <p:cNvPr id="8" name="Shape 5"/>
          <p:cNvSpPr/>
          <p:nvPr/>
        </p:nvSpPr>
        <p:spPr>
          <a:xfrm>
            <a:off x="6094476" y="2670048"/>
            <a:ext cx="0" cy="3520440"/>
          </a:xfrm>
          <a:prstGeom prst="line">
            <a:avLst/>
          </a:prstGeom>
          <a:noFill/>
          <a:ln w="6350">
            <a:solidFill>
              <a:srgbClr val="B5AD9B"/>
            </a:solidFill>
            <a:prstDash val="solid"/>
          </a:ln>
        </p:spPr>
      </p:sp>
      <p:sp>
        <p:nvSpPr>
          <p:cNvPr id="9" name="Text 6"/>
          <p:cNvSpPr txBox="1"/>
          <p:nvPr/>
        </p:nvSpPr>
        <p:spPr>
          <a:xfrm>
            <a:off x="6291072" y="2670048"/>
            <a:ext cx="5349240" cy="3611880"/>
          </a:xfrm>
          <a:prstGeom prst="rect">
            <a:avLst/>
          </a:prstGeom>
          <a:noFill/>
          <a:ln/>
        </p:spPr>
        <p:txBody>
          <a:bodyPr wrap="square" lIns="0" tIns="0" rIns="0" bIns="0" rtlCol="0" anchor="t"/>
          <a:lstStyle/>
          <a:p>
            <a:pPr indent="0" marL="0">
              <a:lnSpc>
                <a:spcPct val="105000"/>
              </a:lnSpc>
              <a:buNone/>
            </a:pPr>
            <a:r>
              <a:rPr lang="en-US" sz="1400" b="1" dirty="0">
                <a:solidFill>
                  <a:srgbClr val="8C2F23"/>
                </a:solidFill>
                <a:latin typeface="IBM Plex Sans" pitchFamily="34" charset="0"/>
                <a:ea typeface="IBM Plex Sans" pitchFamily="34" charset="-122"/>
                <a:cs typeface="IBM Plex Sans" pitchFamily="34" charset="-120"/>
              </a:rPr>
              <a:t>Colocar. </a:t>
            </a:r>
            <a:pPr indent="0" marL="0">
              <a:lnSpc>
                <a:spcPct val="105000"/>
              </a:lnSpc>
              <a:spcAft>
                <a:spcPts val="900"/>
              </a:spcAft>
              <a:buNone/>
            </a:pPr>
            <a:r>
              <a:rPr lang="en-US" sz="1400" dirty="0">
                <a:solidFill>
                  <a:srgbClr val="1F1B16"/>
                </a:solidFill>
                <a:latin typeface="IBM Plex Sans" pitchFamily="34" charset="0"/>
                <a:ea typeface="IBM Plex Sans" pitchFamily="34" charset="-122"/>
                <a:cs typeface="IBM Plex Sans" pitchFamily="34" charset="-120"/>
              </a:rPr>
              <a:t>Se recorre A de derecha a izquierda. Para cada x se resta uno a C[x] y se escribe x en B[C[x]]. El decremento deja lista la posición de un siguiente x igual, una casilla más a la izquierda. En la traza: A[6] = 99 cae en B[5], A[5] = 40 en B[3], y así hasta A[0] = 50 en B[4].</a:t>
            </a:r>
            <a:endParaRPr lang="en-US" sz="1400" dirty="0"/>
          </a:p>
          <a:p>
            <a:pPr indent="0" marL="0">
              <a:lnSpc>
                <a:spcPct val="105000"/>
              </a:lnSpc>
              <a:buNone/>
            </a:pPr>
            <a:r>
              <a:rPr lang="en-US" sz="1400" b="1" dirty="0">
                <a:solidFill>
                  <a:srgbClr val="8C2F23"/>
                </a:solidFill>
                <a:latin typeface="IBM Plex Sans" pitchFamily="34" charset="0"/>
                <a:ea typeface="IBM Plex Sans" pitchFamily="34" charset="-122"/>
                <a:cs typeface="IBM Plex Sans" pitchFamily="34" charset="-120"/>
              </a:rPr>
              <a:t>Por qué al revés. </a:t>
            </a:r>
            <a:pPr indent="0" marL="0">
              <a:lnSpc>
                <a:spcPct val="105000"/>
              </a:lnSpc>
              <a:spcAft>
                <a:spcPts val="900"/>
              </a:spcAft>
              <a:buNone/>
            </a:pPr>
            <a:r>
              <a:rPr lang="en-US" sz="1400" dirty="0">
                <a:solidFill>
                  <a:srgbClr val="1F1B16"/>
                </a:solidFill>
                <a:latin typeface="IBM Plex Sans" pitchFamily="34" charset="0"/>
                <a:ea typeface="IBM Plex Sans" pitchFamily="34" charset="-122"/>
                <a:cs typeface="IBM Plex Sans" pitchFamily="34" charset="-120"/>
              </a:rPr>
              <a:t>Así, de dos elementos con la misma clave, el que estaba más a la derecha se coloca primero y queda más a la derecha: el orden relativo se conserva y el algoritmo es estable. No es un detalle estético, es lo que hace posible Radix sort. Nunca se compara un elemento con otro: cada posición sale de una suma.</a:t>
            </a:r>
            <a:endParaRPr lang="en-US" sz="1400" dirty="0"/>
          </a:p>
        </p:txBody>
      </p:sp>
      <p:sp>
        <p:nvSpPr>
          <p:cNvPr id="25" name="Slide Number Placeholder 0"/>
          <p:cNvSpPr>
            <a:spLocks noGrp="1"/>
          </p:cNvSpPr>
          <p:nvPr>
            <p:ph type="sldNum" sz="quarter" idx="4294967295"/>
          </p:nvPr>
        </p:nvSpPr>
        <p:spPr>
          <a:xfrm>
            <a:off x="10725912" y="6473952"/>
            <a:ext cx="9144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657"/>
                </a:solidFill>
                <a:latin typeface="JetBrains Mono"/>
                <a:ea typeface="JetBrains Mono"/>
                <a:cs typeface="JetBrains Mon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100" spc="200" kern="0" dirty="0">
                <a:solidFill>
                  <a:srgbClr val="8C2F23"/>
                </a:solidFill>
                <a:latin typeface="JetBrains Mono" pitchFamily="34" charset="0"/>
                <a:ea typeface="JetBrains Mono" pitchFamily="34" charset="-122"/>
                <a:cs typeface="JetBrains Mono" pitchFamily="34" charset="-120"/>
              </a:rPr>
              <a:t>§ 02 · COUNTING SORT</a:t>
            </a:r>
            <a:endParaRPr lang="en-US" sz="1100" dirty="0"/>
          </a:p>
        </p:txBody>
      </p:sp>
      <p:sp>
        <p:nvSpPr>
          <p:cNvPr id="3" name="Text 3"/>
          <p:cNvSpPr/>
          <p:nvPr>
            <p:ph idx="103" type="title" hasCustomPrompt="1"/>
          </p:nvPr>
        </p:nvSpPr>
        <p:spPr>
          <a:xfrm>
            <a:off x="548640" y="804672"/>
            <a:ext cx="11091672" cy="777240"/>
          </a:xfrm>
          <a:prstGeom prst="rect">
            <a:avLst/>
          </a:prstGeom>
          <a:noFill/>
          <a:ln/>
        </p:spPr>
        <p:txBody>
          <a:bodyPr wrap="square" lIns="0" tIns="0" rIns="0" bIns="0" rtlCol="0" anchor="t"/>
          <a:lstStyle/>
          <a:p>
            <a:pPr algn="l" indent="0" marL="0">
              <a:buNone/>
            </a:pPr>
            <a:r>
              <a:rPr lang="en-US" sz="3600" dirty="0">
                <a:solidFill>
                  <a:srgbClr val="1F1B16"/>
                </a:solidFill>
                <a:latin typeface="EB Garamond" pitchFamily="34" charset="0"/>
                <a:ea typeface="EB Garamond" pitchFamily="34" charset="-122"/>
                <a:cs typeface="EB Garamond" pitchFamily="34" charset="-120"/>
              </a:rPr>
              <a:t>Counting sort: pseudocódigo</a:t>
            </a:r>
            <a:endParaRPr lang="en-US" sz="3600" dirty="0"/>
          </a:p>
        </p:txBody>
      </p:sp>
      <p:sp>
        <p:nvSpPr>
          <p:cNvPr id="5" name="Shape 2"/>
          <p:cNvSpPr/>
          <p:nvPr/>
        </p:nvSpPr>
        <p:spPr>
          <a:xfrm>
            <a:off x="548640" y="1627632"/>
            <a:ext cx="11091672" cy="0"/>
          </a:xfrm>
          <a:prstGeom prst="line">
            <a:avLst/>
          </a:prstGeom>
          <a:noFill/>
          <a:ln w="6350">
            <a:solidFill>
              <a:srgbClr val="B5AD9B"/>
            </a:solidFill>
            <a:prstDash val="solid"/>
          </a:ln>
        </p:spPr>
      </p:sp>
      <p:sp>
        <p:nvSpPr>
          <p:cNvPr id="6" name="Text 3"/>
          <p:cNvSpPr txBox="1"/>
          <p:nvPr/>
        </p:nvSpPr>
        <p:spPr>
          <a:xfrm>
            <a:off x="548640" y="1691640"/>
            <a:ext cx="320040" cy="254000"/>
          </a:xfrm>
          <a:prstGeom prst="rect">
            <a:avLst/>
          </a:prstGeom>
          <a:noFill/>
          <a:ln/>
        </p:spPr>
        <p:txBody>
          <a:bodyPr wrap="square" lIns="0" tIns="0" rIns="0" bIns="0" rtlCol="0" anchor="t"/>
          <a:lstStyle/>
          <a:p>
            <a:pPr algn="r" indent="0" marL="0">
              <a:lnSpc>
                <a:spcPts val="2000"/>
              </a:lnSpc>
              <a:buNone/>
            </a:pPr>
            <a:r>
              <a:rPr lang="en-US" sz="1200" dirty="0">
                <a:solidFill>
                  <a:srgbClr val="8C2F23"/>
                </a:solidFill>
                <a:latin typeface="JetBrains Mono" pitchFamily="34" charset="0"/>
                <a:ea typeface="JetBrains Mono" pitchFamily="34" charset="-122"/>
                <a:cs typeface="JetBrains Mono" pitchFamily="34" charset="-120"/>
              </a:rPr>
              <a:t>1</a:t>
            </a:r>
            <a:endParaRPr lang="en-US" sz="1200" dirty="0"/>
          </a:p>
        </p:txBody>
      </p:sp>
      <p:sp>
        <p:nvSpPr>
          <p:cNvPr id="7" name="Text 4"/>
          <p:cNvSpPr txBox="1"/>
          <p:nvPr/>
        </p:nvSpPr>
        <p:spPr>
          <a:xfrm>
            <a:off x="960120" y="1691640"/>
            <a:ext cx="3886200" cy="254000"/>
          </a:xfrm>
          <a:prstGeom prst="rect">
            <a:avLst/>
          </a:prstGeom>
          <a:noFill/>
          <a:ln/>
        </p:spPr>
        <p:txBody>
          <a:bodyPr wrap="square" lIns="0" tIns="0" rIns="0" bIns="0" rtlCol="0" anchor="t"/>
          <a:lstStyle/>
          <a:p>
            <a:pPr indent="0" marL="0">
              <a:lnSpc>
                <a:spcPts val="2000"/>
              </a:lnSpc>
              <a:buNone/>
            </a:pPr>
            <a:r>
              <a:rPr lang="en-US" sz="1300" b="1" dirty="0">
                <a:solidFill>
                  <a:srgbClr val="8C2F23"/>
                </a:solidFill>
                <a:latin typeface="JetBrains Mono" pitchFamily="34" charset="0"/>
                <a:ea typeface="JetBrains Mono" pitchFamily="34" charset="-122"/>
                <a:cs typeface="JetBrains Mono" pitchFamily="34" charset="-120"/>
              </a:rPr>
              <a:t>COUNTING-SORT</a:t>
            </a:r>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(A, n, k)</a:t>
            </a:r>
            <a:endParaRPr lang="en-US" sz="1400" dirty="0"/>
          </a:p>
        </p:txBody>
      </p:sp>
      <p:sp>
        <p:nvSpPr>
          <p:cNvPr id="8" name="Text 5"/>
          <p:cNvSpPr txBox="1"/>
          <p:nvPr/>
        </p:nvSpPr>
        <p:spPr>
          <a:xfrm>
            <a:off x="5166360" y="1691640"/>
            <a:ext cx="6473952" cy="429768"/>
          </a:xfrm>
          <a:prstGeom prst="rect">
            <a:avLst/>
          </a:prstGeom>
          <a:noFill/>
          <a:ln/>
        </p:spPr>
        <p:txBody>
          <a:bodyPr wrap="square" lIns="0" tIns="0" rIns="0" bIns="0" rtlCol="0" anchor="t"/>
          <a:lstStyle/>
          <a:p>
            <a:pPr indent="0" marL="0">
              <a:buNone/>
            </a:pPr>
            <a:r>
              <a:rPr lang="en-US" sz="1300" b="1" dirty="0">
                <a:solidFill>
                  <a:srgbClr val="1F1B16"/>
                </a:solidFill>
                <a:latin typeface="IBM Plex Sans" pitchFamily="34" charset="0"/>
                <a:ea typeface="IBM Plex Sans" pitchFamily="34" charset="-122"/>
                <a:cs typeface="IBM Plex Sans" pitchFamily="34" charset="-120"/>
              </a:rPr>
              <a:t>Firma. </a:t>
            </a:r>
            <a:pPr indent="0" marL="0">
              <a:buNone/>
            </a:pPr>
            <a:r>
              <a:rPr lang="en-US" sz="1300" dirty="0">
                <a:solidFill>
                  <a:srgbClr val="1F1B16"/>
                </a:solidFill>
                <a:latin typeface="IBM Plex Sans" pitchFamily="34" charset="0"/>
                <a:ea typeface="IBM Plex Sans" pitchFamily="34" charset="-122"/>
                <a:cs typeface="IBM Plex Sans" pitchFamily="34" charset="-120"/>
              </a:rPr>
              <a:t>k, el valor máximo posible, viaja en la firma: ya delata el supuesto de que el rango se conoce de antemano.</a:t>
            </a:r>
            <a:endParaRPr lang="en-US" sz="1300" dirty="0"/>
          </a:p>
        </p:txBody>
      </p:sp>
      <p:sp>
        <p:nvSpPr>
          <p:cNvPr id="9" name="Shape 6"/>
          <p:cNvSpPr/>
          <p:nvPr/>
        </p:nvSpPr>
        <p:spPr>
          <a:xfrm>
            <a:off x="548640" y="2185416"/>
            <a:ext cx="11091672" cy="0"/>
          </a:xfrm>
          <a:prstGeom prst="line">
            <a:avLst/>
          </a:prstGeom>
          <a:noFill/>
          <a:ln w="6350">
            <a:solidFill>
              <a:srgbClr val="B5AD9B"/>
            </a:solidFill>
            <a:prstDash val="solid"/>
          </a:ln>
        </p:spPr>
      </p:sp>
      <p:sp>
        <p:nvSpPr>
          <p:cNvPr id="10" name="Text 7"/>
          <p:cNvSpPr txBox="1"/>
          <p:nvPr/>
        </p:nvSpPr>
        <p:spPr>
          <a:xfrm>
            <a:off x="548640" y="2249424"/>
            <a:ext cx="320040" cy="508000"/>
          </a:xfrm>
          <a:prstGeom prst="rect">
            <a:avLst/>
          </a:prstGeom>
          <a:noFill/>
          <a:ln/>
        </p:spPr>
        <p:txBody>
          <a:bodyPr wrap="square" lIns="0" tIns="0" rIns="0" bIns="0" rtlCol="0" anchor="t"/>
          <a:lstStyle/>
          <a:p>
            <a:pPr algn="r" indent="0" marL="0">
              <a:lnSpc>
                <a:spcPts val="2000"/>
              </a:lnSpc>
              <a:buNone/>
            </a:pPr>
            <a:r>
              <a:rPr lang="en-US" sz="1200" dirty="0">
                <a:solidFill>
                  <a:srgbClr val="8C2F23"/>
                </a:solidFill>
                <a:latin typeface="JetBrains Mono" pitchFamily="34" charset="0"/>
                <a:ea typeface="JetBrains Mono" pitchFamily="34" charset="-122"/>
                <a:cs typeface="JetBrains Mono" pitchFamily="34" charset="-120"/>
              </a:rPr>
              <a:t>2</a:t>
            </a:r>
            <a:endParaRPr lang="en-US" sz="1200" dirty="0"/>
          </a:p>
          <a:p>
            <a:pPr algn="r" indent="0" marL="0">
              <a:lnSpc>
                <a:spcPts val="2000"/>
              </a:lnSpc>
              <a:buNone/>
            </a:pPr>
            <a:r>
              <a:rPr lang="en-US" sz="1200" dirty="0">
                <a:solidFill>
                  <a:srgbClr val="8C2F23"/>
                </a:solidFill>
                <a:latin typeface="JetBrains Mono" pitchFamily="34" charset="0"/>
                <a:ea typeface="JetBrains Mono" pitchFamily="34" charset="-122"/>
                <a:cs typeface="JetBrains Mono" pitchFamily="34" charset="-120"/>
              </a:rPr>
              <a:t>3</a:t>
            </a:r>
            <a:endParaRPr lang="en-US" sz="1200" dirty="0"/>
          </a:p>
        </p:txBody>
      </p:sp>
      <p:sp>
        <p:nvSpPr>
          <p:cNvPr id="11" name="Text 8"/>
          <p:cNvSpPr txBox="1"/>
          <p:nvPr/>
        </p:nvSpPr>
        <p:spPr>
          <a:xfrm>
            <a:off x="960120" y="2249424"/>
            <a:ext cx="3886200" cy="508000"/>
          </a:xfrm>
          <a:prstGeom prst="rect">
            <a:avLst/>
          </a:prstGeom>
          <a:noFill/>
          <a:ln/>
        </p:spPr>
        <p:txBody>
          <a:bodyPr wrap="square" lIns="0" tIns="0" rIns="0" bIns="0" rtlCol="0" anchor="t"/>
          <a:lstStyle/>
          <a:p>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a:t>
            </a:r>
            <a:pPr indent="0" marL="0">
              <a:lnSpc>
                <a:spcPts val="2000"/>
              </a:lnSpc>
              <a:buNone/>
            </a:pPr>
            <a:r>
              <a:rPr lang="en-US" sz="1300" b="1" dirty="0">
                <a:solidFill>
                  <a:srgbClr val="2F5D50"/>
                </a:solidFill>
                <a:latin typeface="JetBrains Mono" pitchFamily="34" charset="0"/>
                <a:ea typeface="JetBrains Mono" pitchFamily="34" charset="-122"/>
                <a:cs typeface="JetBrains Mono" pitchFamily="34" charset="-120"/>
              </a:rPr>
              <a:t>sea</a:t>
            </a:r>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C[0..k] arreglo nuevo</a:t>
            </a:r>
            <a:endParaRPr lang="en-US" sz="1400" dirty="0"/>
          </a:p>
          <a:p>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a:t>
            </a:r>
            <a:pPr indent="0" marL="0">
              <a:lnSpc>
                <a:spcPts val="2000"/>
              </a:lnSpc>
              <a:buNone/>
            </a:pPr>
            <a:r>
              <a:rPr lang="en-US" sz="1300" b="1" dirty="0">
                <a:solidFill>
                  <a:srgbClr val="2F5D50"/>
                </a:solidFill>
                <a:latin typeface="JetBrains Mono" pitchFamily="34" charset="0"/>
                <a:ea typeface="JetBrains Mono" pitchFamily="34" charset="-122"/>
                <a:cs typeface="JetBrains Mono" pitchFamily="34" charset="-120"/>
              </a:rPr>
              <a:t>sea</a:t>
            </a:r>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B[0..n-1] arreglo nuevo</a:t>
            </a:r>
            <a:endParaRPr lang="en-US" sz="1400" dirty="0"/>
          </a:p>
        </p:txBody>
      </p:sp>
      <p:sp>
        <p:nvSpPr>
          <p:cNvPr id="12" name="Text 9"/>
          <p:cNvSpPr txBox="1"/>
          <p:nvPr/>
        </p:nvSpPr>
        <p:spPr>
          <a:xfrm>
            <a:off x="5166360" y="2249424"/>
            <a:ext cx="6473952" cy="429768"/>
          </a:xfrm>
          <a:prstGeom prst="rect">
            <a:avLst/>
          </a:prstGeom>
          <a:noFill/>
          <a:ln/>
        </p:spPr>
        <p:txBody>
          <a:bodyPr wrap="square" lIns="0" tIns="0" rIns="0" bIns="0" rtlCol="0" anchor="t"/>
          <a:lstStyle/>
          <a:p>
            <a:pPr indent="0" marL="0">
              <a:buNone/>
            </a:pPr>
            <a:r>
              <a:rPr lang="en-US" sz="1300" b="1" dirty="0">
                <a:solidFill>
                  <a:srgbClr val="1F1B16"/>
                </a:solidFill>
                <a:latin typeface="IBM Plex Sans" pitchFamily="34" charset="0"/>
                <a:ea typeface="IBM Plex Sans" pitchFamily="34" charset="-122"/>
                <a:cs typeface="IBM Plex Sans" pitchFamily="34" charset="-120"/>
              </a:rPr>
              <a:t>Líneas 2–3. </a:t>
            </a:r>
            <a:pPr indent="0" marL="0">
              <a:buNone/>
            </a:pPr>
            <a:r>
              <a:rPr lang="en-US" sz="1300" dirty="0">
                <a:solidFill>
                  <a:srgbClr val="1F1B16"/>
                </a:solidFill>
                <a:latin typeface="IBM Plex Sans" pitchFamily="34" charset="0"/>
                <a:ea typeface="IBM Plex Sans" pitchFamily="34" charset="-122"/>
                <a:cs typeface="IBM Plex Sans" pitchFamily="34" charset="-120"/>
              </a:rPr>
              <a:t>C del tamaño del rango, B del tamaño de la entrada. Aquí se ve por qué no puede ser in-place.</a:t>
            </a:r>
            <a:endParaRPr lang="en-US" sz="1300" dirty="0"/>
          </a:p>
        </p:txBody>
      </p:sp>
      <p:sp>
        <p:nvSpPr>
          <p:cNvPr id="13" name="Shape 10"/>
          <p:cNvSpPr/>
          <p:nvPr/>
        </p:nvSpPr>
        <p:spPr>
          <a:xfrm>
            <a:off x="548640" y="2821432"/>
            <a:ext cx="11091672" cy="0"/>
          </a:xfrm>
          <a:prstGeom prst="line">
            <a:avLst/>
          </a:prstGeom>
          <a:noFill/>
          <a:ln w="6350">
            <a:solidFill>
              <a:srgbClr val="B5AD9B"/>
            </a:solidFill>
            <a:prstDash val="solid"/>
          </a:ln>
        </p:spPr>
      </p:sp>
      <p:sp>
        <p:nvSpPr>
          <p:cNvPr id="14" name="Text 11"/>
          <p:cNvSpPr txBox="1"/>
          <p:nvPr/>
        </p:nvSpPr>
        <p:spPr>
          <a:xfrm>
            <a:off x="548640" y="2885440"/>
            <a:ext cx="320040" cy="508000"/>
          </a:xfrm>
          <a:prstGeom prst="rect">
            <a:avLst/>
          </a:prstGeom>
          <a:noFill/>
          <a:ln/>
        </p:spPr>
        <p:txBody>
          <a:bodyPr wrap="square" lIns="0" tIns="0" rIns="0" bIns="0" rtlCol="0" anchor="t"/>
          <a:lstStyle/>
          <a:p>
            <a:pPr algn="r" indent="0" marL="0">
              <a:lnSpc>
                <a:spcPts val="2000"/>
              </a:lnSpc>
              <a:buNone/>
            </a:pPr>
            <a:r>
              <a:rPr lang="en-US" sz="1200" dirty="0">
                <a:solidFill>
                  <a:srgbClr val="8C2F23"/>
                </a:solidFill>
                <a:latin typeface="JetBrains Mono" pitchFamily="34" charset="0"/>
                <a:ea typeface="JetBrains Mono" pitchFamily="34" charset="-122"/>
                <a:cs typeface="JetBrains Mono" pitchFamily="34" charset="-120"/>
              </a:rPr>
              <a:t>4</a:t>
            </a:r>
            <a:endParaRPr lang="en-US" sz="1200" dirty="0"/>
          </a:p>
          <a:p>
            <a:pPr algn="r" indent="0" marL="0">
              <a:lnSpc>
                <a:spcPts val="2000"/>
              </a:lnSpc>
              <a:buNone/>
            </a:pPr>
            <a:r>
              <a:rPr lang="en-US" sz="1200" dirty="0">
                <a:solidFill>
                  <a:srgbClr val="8C2F23"/>
                </a:solidFill>
                <a:latin typeface="JetBrains Mono" pitchFamily="34" charset="0"/>
                <a:ea typeface="JetBrains Mono" pitchFamily="34" charset="-122"/>
                <a:cs typeface="JetBrains Mono" pitchFamily="34" charset="-120"/>
              </a:rPr>
              <a:t>5</a:t>
            </a:r>
            <a:endParaRPr lang="en-US" sz="1200" dirty="0"/>
          </a:p>
        </p:txBody>
      </p:sp>
      <p:sp>
        <p:nvSpPr>
          <p:cNvPr id="15" name="Text 12"/>
          <p:cNvSpPr txBox="1"/>
          <p:nvPr/>
        </p:nvSpPr>
        <p:spPr>
          <a:xfrm>
            <a:off x="960120" y="2885440"/>
            <a:ext cx="3886200" cy="508000"/>
          </a:xfrm>
          <a:prstGeom prst="rect">
            <a:avLst/>
          </a:prstGeom>
          <a:noFill/>
          <a:ln/>
        </p:spPr>
        <p:txBody>
          <a:bodyPr wrap="square" lIns="0" tIns="0" rIns="0" bIns="0" rtlCol="0" anchor="t"/>
          <a:lstStyle/>
          <a:p>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a:t>
            </a:r>
            <a:pPr indent="0" marL="0">
              <a:lnSpc>
                <a:spcPts val="2000"/>
              </a:lnSpc>
              <a:buNone/>
            </a:pPr>
            <a:r>
              <a:rPr lang="en-US" sz="1300" b="1" dirty="0">
                <a:solidFill>
                  <a:srgbClr val="2F5D50"/>
                </a:solidFill>
                <a:latin typeface="JetBrains Mono" pitchFamily="34" charset="0"/>
                <a:ea typeface="JetBrains Mono" pitchFamily="34" charset="-122"/>
                <a:cs typeface="JetBrains Mono" pitchFamily="34" charset="-120"/>
              </a:rPr>
              <a:t>para</a:t>
            </a:r>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i = 0 </a:t>
            </a:r>
            <a:pPr indent="0" marL="0">
              <a:lnSpc>
                <a:spcPts val="2000"/>
              </a:lnSpc>
              <a:buNone/>
            </a:pPr>
            <a:r>
              <a:rPr lang="en-US" sz="1300" b="1" dirty="0">
                <a:solidFill>
                  <a:srgbClr val="2F5D50"/>
                </a:solidFill>
                <a:latin typeface="JetBrains Mono" pitchFamily="34" charset="0"/>
                <a:ea typeface="JetBrains Mono" pitchFamily="34" charset="-122"/>
                <a:cs typeface="JetBrains Mono" pitchFamily="34" charset="-120"/>
              </a:rPr>
              <a:t>hasta</a:t>
            </a:r>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k</a:t>
            </a:r>
            <a:endParaRPr lang="en-US" sz="1400" dirty="0"/>
          </a:p>
          <a:p>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C[i] = 0</a:t>
            </a:r>
            <a:endParaRPr lang="en-US" sz="1400" dirty="0"/>
          </a:p>
        </p:txBody>
      </p:sp>
      <p:sp>
        <p:nvSpPr>
          <p:cNvPr id="16" name="Text 13"/>
          <p:cNvSpPr txBox="1"/>
          <p:nvPr/>
        </p:nvSpPr>
        <p:spPr>
          <a:xfrm>
            <a:off x="5166360" y="2885440"/>
            <a:ext cx="6473952" cy="429768"/>
          </a:xfrm>
          <a:prstGeom prst="rect">
            <a:avLst/>
          </a:prstGeom>
          <a:noFill/>
          <a:ln/>
        </p:spPr>
        <p:txBody>
          <a:bodyPr wrap="square" lIns="0" tIns="0" rIns="0" bIns="0" rtlCol="0" anchor="t"/>
          <a:lstStyle/>
          <a:p>
            <a:pPr indent="0" marL="0">
              <a:buNone/>
            </a:pPr>
            <a:r>
              <a:rPr lang="en-US" sz="1300" b="1" dirty="0">
                <a:solidFill>
                  <a:srgbClr val="1F1B16"/>
                </a:solidFill>
                <a:latin typeface="IBM Plex Sans" pitchFamily="34" charset="0"/>
                <a:ea typeface="IBM Plex Sans" pitchFamily="34" charset="-122"/>
                <a:cs typeface="IBM Plex Sans" pitchFamily="34" charset="-120"/>
              </a:rPr>
              <a:t>Líneas 4–5. </a:t>
            </a:r>
            <a:pPr indent="0" marL="0">
              <a:buNone/>
            </a:pPr>
            <a:r>
              <a:rPr lang="en-US" sz="1300" dirty="0">
                <a:solidFill>
                  <a:srgbClr val="1F1B16"/>
                </a:solidFill>
                <a:latin typeface="IBM Plex Sans" pitchFamily="34" charset="0"/>
                <a:ea typeface="IBM Plex Sans" pitchFamily="34" charset="-122"/>
                <a:cs typeface="IBM Plex Sans" pitchFamily="34" charset="-120"/>
              </a:rPr>
              <a:t>Poner C en ceros recorre k + 1 casillas: Θ(k), aunque casi todas queden vacías.</a:t>
            </a:r>
            <a:endParaRPr lang="en-US" sz="1300" dirty="0"/>
          </a:p>
        </p:txBody>
      </p:sp>
      <p:sp>
        <p:nvSpPr>
          <p:cNvPr id="17" name="Shape 14"/>
          <p:cNvSpPr/>
          <p:nvPr/>
        </p:nvSpPr>
        <p:spPr>
          <a:xfrm>
            <a:off x="548640" y="3457448"/>
            <a:ext cx="11091672" cy="0"/>
          </a:xfrm>
          <a:prstGeom prst="line">
            <a:avLst/>
          </a:prstGeom>
          <a:noFill/>
          <a:ln w="6350">
            <a:solidFill>
              <a:srgbClr val="B5AD9B"/>
            </a:solidFill>
            <a:prstDash val="solid"/>
          </a:ln>
        </p:spPr>
      </p:sp>
      <p:sp>
        <p:nvSpPr>
          <p:cNvPr id="18" name="Text 15"/>
          <p:cNvSpPr txBox="1"/>
          <p:nvPr/>
        </p:nvSpPr>
        <p:spPr>
          <a:xfrm>
            <a:off x="548640" y="3521456"/>
            <a:ext cx="320040" cy="508000"/>
          </a:xfrm>
          <a:prstGeom prst="rect">
            <a:avLst/>
          </a:prstGeom>
          <a:noFill/>
          <a:ln/>
        </p:spPr>
        <p:txBody>
          <a:bodyPr wrap="square" lIns="0" tIns="0" rIns="0" bIns="0" rtlCol="0" anchor="t"/>
          <a:lstStyle/>
          <a:p>
            <a:pPr algn="r" indent="0" marL="0">
              <a:lnSpc>
                <a:spcPts val="2000"/>
              </a:lnSpc>
              <a:buNone/>
            </a:pPr>
            <a:r>
              <a:rPr lang="en-US" sz="1200" dirty="0">
                <a:solidFill>
                  <a:srgbClr val="8C2F23"/>
                </a:solidFill>
                <a:latin typeface="JetBrains Mono" pitchFamily="34" charset="0"/>
                <a:ea typeface="JetBrains Mono" pitchFamily="34" charset="-122"/>
                <a:cs typeface="JetBrains Mono" pitchFamily="34" charset="-120"/>
              </a:rPr>
              <a:t>6</a:t>
            </a:r>
            <a:endParaRPr lang="en-US" sz="1200" dirty="0"/>
          </a:p>
          <a:p>
            <a:pPr algn="r" indent="0" marL="0">
              <a:lnSpc>
                <a:spcPts val="2000"/>
              </a:lnSpc>
              <a:buNone/>
            </a:pPr>
            <a:r>
              <a:rPr lang="en-US" sz="1200" dirty="0">
                <a:solidFill>
                  <a:srgbClr val="8C2F23"/>
                </a:solidFill>
                <a:latin typeface="JetBrains Mono" pitchFamily="34" charset="0"/>
                <a:ea typeface="JetBrains Mono" pitchFamily="34" charset="-122"/>
                <a:cs typeface="JetBrains Mono" pitchFamily="34" charset="-120"/>
              </a:rPr>
              <a:t>7</a:t>
            </a:r>
            <a:endParaRPr lang="en-US" sz="1200" dirty="0"/>
          </a:p>
        </p:txBody>
      </p:sp>
      <p:sp>
        <p:nvSpPr>
          <p:cNvPr id="19" name="Text 16"/>
          <p:cNvSpPr txBox="1"/>
          <p:nvPr/>
        </p:nvSpPr>
        <p:spPr>
          <a:xfrm>
            <a:off x="960120" y="3521456"/>
            <a:ext cx="3886200" cy="508000"/>
          </a:xfrm>
          <a:prstGeom prst="rect">
            <a:avLst/>
          </a:prstGeom>
          <a:noFill/>
          <a:ln/>
        </p:spPr>
        <p:txBody>
          <a:bodyPr wrap="square" lIns="0" tIns="0" rIns="0" bIns="0" rtlCol="0" anchor="t"/>
          <a:lstStyle/>
          <a:p>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a:t>
            </a:r>
            <a:pPr indent="0" marL="0">
              <a:lnSpc>
                <a:spcPts val="2000"/>
              </a:lnSpc>
              <a:buNone/>
            </a:pPr>
            <a:r>
              <a:rPr lang="en-US" sz="1300" b="1" dirty="0">
                <a:solidFill>
                  <a:srgbClr val="2F5D50"/>
                </a:solidFill>
                <a:latin typeface="JetBrains Mono" pitchFamily="34" charset="0"/>
                <a:ea typeface="JetBrains Mono" pitchFamily="34" charset="-122"/>
                <a:cs typeface="JetBrains Mono" pitchFamily="34" charset="-120"/>
              </a:rPr>
              <a:t>para</a:t>
            </a:r>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j = 0 </a:t>
            </a:r>
            <a:pPr indent="0" marL="0">
              <a:lnSpc>
                <a:spcPts val="2000"/>
              </a:lnSpc>
              <a:buNone/>
            </a:pPr>
            <a:r>
              <a:rPr lang="en-US" sz="1300" b="1" dirty="0">
                <a:solidFill>
                  <a:srgbClr val="2F5D50"/>
                </a:solidFill>
                <a:latin typeface="JetBrains Mono" pitchFamily="34" charset="0"/>
                <a:ea typeface="JetBrains Mono" pitchFamily="34" charset="-122"/>
                <a:cs typeface="JetBrains Mono" pitchFamily="34" charset="-120"/>
              </a:rPr>
              <a:t>hasta</a:t>
            </a:r>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n-1</a:t>
            </a:r>
            <a:endParaRPr lang="en-US" sz="1400" dirty="0"/>
          </a:p>
          <a:p>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C[A[j]] = C[A[j]] + 1</a:t>
            </a:r>
            <a:endParaRPr lang="en-US" sz="1400" dirty="0"/>
          </a:p>
        </p:txBody>
      </p:sp>
      <p:sp>
        <p:nvSpPr>
          <p:cNvPr id="20" name="Text 17"/>
          <p:cNvSpPr txBox="1"/>
          <p:nvPr/>
        </p:nvSpPr>
        <p:spPr>
          <a:xfrm>
            <a:off x="5166360" y="3521456"/>
            <a:ext cx="6473952" cy="429768"/>
          </a:xfrm>
          <a:prstGeom prst="rect">
            <a:avLst/>
          </a:prstGeom>
          <a:noFill/>
          <a:ln/>
        </p:spPr>
        <p:txBody>
          <a:bodyPr wrap="square" lIns="0" tIns="0" rIns="0" bIns="0" rtlCol="0" anchor="t"/>
          <a:lstStyle/>
          <a:p>
            <a:pPr indent="0" marL="0">
              <a:buNone/>
            </a:pPr>
            <a:r>
              <a:rPr lang="en-US" sz="1300" b="1" dirty="0">
                <a:solidFill>
                  <a:srgbClr val="1F1B16"/>
                </a:solidFill>
                <a:latin typeface="IBM Plex Sans" pitchFamily="34" charset="0"/>
                <a:ea typeface="IBM Plex Sans" pitchFamily="34" charset="-122"/>
                <a:cs typeface="IBM Plex Sans" pitchFamily="34" charset="-120"/>
              </a:rPr>
              <a:t>Líneas 6–7. </a:t>
            </a:r>
            <a:pPr indent="0" marL="0">
              <a:buNone/>
            </a:pPr>
            <a:r>
              <a:rPr lang="en-US" sz="1300" dirty="0">
                <a:solidFill>
                  <a:srgbClr val="1F1B16"/>
                </a:solidFill>
                <a:latin typeface="IBM Plex Sans" pitchFamily="34" charset="0"/>
                <a:ea typeface="IBM Plex Sans" pitchFamily="34" charset="-122"/>
                <a:cs typeface="IBM Plex Sans" pitchFamily="34" charset="-120"/>
              </a:rPr>
              <a:t>El histograma: una lectura por elemento, Θ(n). Aquí C[v] cuenta cuántos v hay.</a:t>
            </a:r>
            <a:endParaRPr lang="en-US" sz="1300" dirty="0"/>
          </a:p>
        </p:txBody>
      </p:sp>
      <p:sp>
        <p:nvSpPr>
          <p:cNvPr id="21" name="Shape 18"/>
          <p:cNvSpPr/>
          <p:nvPr/>
        </p:nvSpPr>
        <p:spPr>
          <a:xfrm>
            <a:off x="548640" y="4093464"/>
            <a:ext cx="11091672" cy="0"/>
          </a:xfrm>
          <a:prstGeom prst="line">
            <a:avLst/>
          </a:prstGeom>
          <a:noFill/>
          <a:ln w="6350">
            <a:solidFill>
              <a:srgbClr val="B5AD9B"/>
            </a:solidFill>
            <a:prstDash val="solid"/>
          </a:ln>
        </p:spPr>
      </p:sp>
      <p:sp>
        <p:nvSpPr>
          <p:cNvPr id="22" name="Text 19"/>
          <p:cNvSpPr txBox="1"/>
          <p:nvPr/>
        </p:nvSpPr>
        <p:spPr>
          <a:xfrm>
            <a:off x="548640" y="4157472"/>
            <a:ext cx="320040" cy="508000"/>
          </a:xfrm>
          <a:prstGeom prst="rect">
            <a:avLst/>
          </a:prstGeom>
          <a:noFill/>
          <a:ln/>
        </p:spPr>
        <p:txBody>
          <a:bodyPr wrap="square" lIns="0" tIns="0" rIns="0" bIns="0" rtlCol="0" anchor="t"/>
          <a:lstStyle/>
          <a:p>
            <a:pPr algn="r" indent="0" marL="0">
              <a:lnSpc>
                <a:spcPts val="2000"/>
              </a:lnSpc>
              <a:buNone/>
            </a:pPr>
            <a:r>
              <a:rPr lang="en-US" sz="1200" dirty="0">
                <a:solidFill>
                  <a:srgbClr val="8C2F23"/>
                </a:solidFill>
                <a:latin typeface="JetBrains Mono" pitchFamily="34" charset="0"/>
                <a:ea typeface="JetBrains Mono" pitchFamily="34" charset="-122"/>
                <a:cs typeface="JetBrains Mono" pitchFamily="34" charset="-120"/>
              </a:rPr>
              <a:t>8</a:t>
            </a:r>
            <a:endParaRPr lang="en-US" sz="1200" dirty="0"/>
          </a:p>
          <a:p>
            <a:pPr algn="r" indent="0" marL="0">
              <a:lnSpc>
                <a:spcPts val="2000"/>
              </a:lnSpc>
              <a:buNone/>
            </a:pPr>
            <a:r>
              <a:rPr lang="en-US" sz="1200" dirty="0">
                <a:solidFill>
                  <a:srgbClr val="8C2F23"/>
                </a:solidFill>
                <a:latin typeface="JetBrains Mono" pitchFamily="34" charset="0"/>
                <a:ea typeface="JetBrains Mono" pitchFamily="34" charset="-122"/>
                <a:cs typeface="JetBrains Mono" pitchFamily="34" charset="-120"/>
              </a:rPr>
              <a:t>9</a:t>
            </a:r>
            <a:endParaRPr lang="en-US" sz="1200" dirty="0"/>
          </a:p>
        </p:txBody>
      </p:sp>
      <p:sp>
        <p:nvSpPr>
          <p:cNvPr id="23" name="Text 20"/>
          <p:cNvSpPr txBox="1"/>
          <p:nvPr/>
        </p:nvSpPr>
        <p:spPr>
          <a:xfrm>
            <a:off x="960120" y="4157472"/>
            <a:ext cx="3886200" cy="508000"/>
          </a:xfrm>
          <a:prstGeom prst="rect">
            <a:avLst/>
          </a:prstGeom>
          <a:noFill/>
          <a:ln/>
        </p:spPr>
        <p:txBody>
          <a:bodyPr wrap="square" lIns="0" tIns="0" rIns="0" bIns="0" rtlCol="0" anchor="t"/>
          <a:lstStyle/>
          <a:p>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a:t>
            </a:r>
            <a:pPr indent="0" marL="0">
              <a:lnSpc>
                <a:spcPts val="2000"/>
              </a:lnSpc>
              <a:buNone/>
            </a:pPr>
            <a:r>
              <a:rPr lang="en-US" sz="1300" b="1" dirty="0">
                <a:solidFill>
                  <a:srgbClr val="2F5D50"/>
                </a:solidFill>
                <a:latin typeface="JetBrains Mono" pitchFamily="34" charset="0"/>
                <a:ea typeface="JetBrains Mono" pitchFamily="34" charset="-122"/>
                <a:cs typeface="JetBrains Mono" pitchFamily="34" charset="-120"/>
              </a:rPr>
              <a:t>para</a:t>
            </a:r>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i = 1 </a:t>
            </a:r>
            <a:pPr indent="0" marL="0">
              <a:lnSpc>
                <a:spcPts val="2000"/>
              </a:lnSpc>
              <a:buNone/>
            </a:pPr>
            <a:r>
              <a:rPr lang="en-US" sz="1300" b="1" dirty="0">
                <a:solidFill>
                  <a:srgbClr val="2F5D50"/>
                </a:solidFill>
                <a:latin typeface="JetBrains Mono" pitchFamily="34" charset="0"/>
                <a:ea typeface="JetBrains Mono" pitchFamily="34" charset="-122"/>
                <a:cs typeface="JetBrains Mono" pitchFamily="34" charset="-120"/>
              </a:rPr>
              <a:t>hasta</a:t>
            </a:r>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k</a:t>
            </a:r>
            <a:endParaRPr lang="en-US" sz="1400" dirty="0"/>
          </a:p>
          <a:p>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C[i] = C[i] + C[i-1]</a:t>
            </a:r>
            <a:endParaRPr lang="en-US" sz="1400" dirty="0"/>
          </a:p>
        </p:txBody>
      </p:sp>
      <p:sp>
        <p:nvSpPr>
          <p:cNvPr id="24" name="Text 21"/>
          <p:cNvSpPr txBox="1"/>
          <p:nvPr/>
        </p:nvSpPr>
        <p:spPr>
          <a:xfrm>
            <a:off x="5166360" y="4157472"/>
            <a:ext cx="6473952" cy="429768"/>
          </a:xfrm>
          <a:prstGeom prst="rect">
            <a:avLst/>
          </a:prstGeom>
          <a:noFill/>
          <a:ln/>
        </p:spPr>
        <p:txBody>
          <a:bodyPr wrap="square" lIns="0" tIns="0" rIns="0" bIns="0" rtlCol="0" anchor="t"/>
          <a:lstStyle/>
          <a:p>
            <a:pPr indent="0" marL="0">
              <a:buNone/>
            </a:pPr>
            <a:r>
              <a:rPr lang="en-US" sz="1300" b="1" dirty="0">
                <a:solidFill>
                  <a:srgbClr val="1F1B16"/>
                </a:solidFill>
                <a:latin typeface="IBM Plex Sans" pitchFamily="34" charset="0"/>
                <a:ea typeface="IBM Plex Sans" pitchFamily="34" charset="-122"/>
                <a:cs typeface="IBM Plex Sans" pitchFamily="34" charset="-120"/>
              </a:rPr>
              <a:t>Líneas 8–9. </a:t>
            </a:r>
            <a:pPr indent="0" marL="0">
              <a:buNone/>
            </a:pPr>
            <a:r>
              <a:rPr lang="en-US" sz="1300" dirty="0">
                <a:solidFill>
                  <a:srgbClr val="1F1B16"/>
                </a:solidFill>
                <a:latin typeface="IBM Plex Sans" pitchFamily="34" charset="0"/>
                <a:ea typeface="IBM Plex Sans" pitchFamily="34" charset="-122"/>
                <a:cs typeface="IBM Plex Sans" pitchFamily="34" charset="-120"/>
              </a:rPr>
              <a:t>Suma acumulada. Al salir, C[i] es la cantidad de elementos ≤ i: la posición final del último i, más uno.</a:t>
            </a:r>
            <a:endParaRPr lang="en-US" sz="1300" dirty="0"/>
          </a:p>
        </p:txBody>
      </p:sp>
      <p:sp>
        <p:nvSpPr>
          <p:cNvPr id="25" name="Shape 22"/>
          <p:cNvSpPr/>
          <p:nvPr/>
        </p:nvSpPr>
        <p:spPr>
          <a:xfrm>
            <a:off x="548640" y="4729480"/>
            <a:ext cx="11091672" cy="0"/>
          </a:xfrm>
          <a:prstGeom prst="line">
            <a:avLst/>
          </a:prstGeom>
          <a:noFill/>
          <a:ln w="6350">
            <a:solidFill>
              <a:srgbClr val="B5AD9B"/>
            </a:solidFill>
            <a:prstDash val="solid"/>
          </a:ln>
        </p:spPr>
      </p:sp>
      <p:sp>
        <p:nvSpPr>
          <p:cNvPr id="26" name="Text 23"/>
          <p:cNvSpPr txBox="1"/>
          <p:nvPr/>
        </p:nvSpPr>
        <p:spPr>
          <a:xfrm>
            <a:off x="548640" y="4793488"/>
            <a:ext cx="320040" cy="762000"/>
          </a:xfrm>
          <a:prstGeom prst="rect">
            <a:avLst/>
          </a:prstGeom>
          <a:noFill/>
          <a:ln/>
        </p:spPr>
        <p:txBody>
          <a:bodyPr wrap="square" lIns="0" tIns="0" rIns="0" bIns="0" rtlCol="0" anchor="t"/>
          <a:lstStyle/>
          <a:p>
            <a:pPr algn="r" indent="0" marL="0">
              <a:lnSpc>
                <a:spcPts val="2000"/>
              </a:lnSpc>
              <a:buNone/>
            </a:pPr>
            <a:r>
              <a:rPr lang="en-US" sz="1200" dirty="0">
                <a:solidFill>
                  <a:srgbClr val="8C2F23"/>
                </a:solidFill>
                <a:latin typeface="JetBrains Mono" pitchFamily="34" charset="0"/>
                <a:ea typeface="JetBrains Mono" pitchFamily="34" charset="-122"/>
                <a:cs typeface="JetBrains Mono" pitchFamily="34" charset="-120"/>
              </a:rPr>
              <a:t>10</a:t>
            </a:r>
            <a:endParaRPr lang="en-US" sz="1200" dirty="0"/>
          </a:p>
          <a:p>
            <a:pPr algn="r" indent="0" marL="0">
              <a:lnSpc>
                <a:spcPts val="2000"/>
              </a:lnSpc>
              <a:buNone/>
            </a:pPr>
            <a:r>
              <a:rPr lang="en-US" sz="1200" dirty="0">
                <a:solidFill>
                  <a:srgbClr val="8C2F23"/>
                </a:solidFill>
                <a:latin typeface="JetBrains Mono" pitchFamily="34" charset="0"/>
                <a:ea typeface="JetBrains Mono" pitchFamily="34" charset="-122"/>
                <a:cs typeface="JetBrains Mono" pitchFamily="34" charset="-120"/>
              </a:rPr>
              <a:t>11</a:t>
            </a:r>
            <a:endParaRPr lang="en-US" sz="1200" dirty="0"/>
          </a:p>
          <a:p>
            <a:pPr algn="r" indent="0" marL="0">
              <a:lnSpc>
                <a:spcPts val="2000"/>
              </a:lnSpc>
              <a:buNone/>
            </a:pPr>
            <a:r>
              <a:rPr lang="en-US" sz="1200" dirty="0">
                <a:solidFill>
                  <a:srgbClr val="8C2F23"/>
                </a:solidFill>
                <a:latin typeface="JetBrains Mono" pitchFamily="34" charset="0"/>
                <a:ea typeface="JetBrains Mono" pitchFamily="34" charset="-122"/>
                <a:cs typeface="JetBrains Mono" pitchFamily="34" charset="-120"/>
              </a:rPr>
              <a:t>12</a:t>
            </a:r>
            <a:endParaRPr lang="en-US" sz="1200" dirty="0"/>
          </a:p>
        </p:txBody>
      </p:sp>
      <p:sp>
        <p:nvSpPr>
          <p:cNvPr id="27" name="Text 24"/>
          <p:cNvSpPr txBox="1"/>
          <p:nvPr/>
        </p:nvSpPr>
        <p:spPr>
          <a:xfrm>
            <a:off x="960120" y="4793488"/>
            <a:ext cx="3886200" cy="762000"/>
          </a:xfrm>
          <a:prstGeom prst="rect">
            <a:avLst/>
          </a:prstGeom>
          <a:noFill/>
          <a:ln/>
        </p:spPr>
        <p:txBody>
          <a:bodyPr wrap="square" lIns="0" tIns="0" rIns="0" bIns="0" rtlCol="0" anchor="t"/>
          <a:lstStyle/>
          <a:p>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a:t>
            </a:r>
            <a:pPr indent="0" marL="0">
              <a:lnSpc>
                <a:spcPts val="2000"/>
              </a:lnSpc>
              <a:buNone/>
            </a:pPr>
            <a:r>
              <a:rPr lang="en-US" sz="1300" b="1" dirty="0">
                <a:solidFill>
                  <a:srgbClr val="2F5D50"/>
                </a:solidFill>
                <a:latin typeface="JetBrains Mono" pitchFamily="34" charset="0"/>
                <a:ea typeface="JetBrains Mono" pitchFamily="34" charset="-122"/>
                <a:cs typeface="JetBrains Mono" pitchFamily="34" charset="-120"/>
              </a:rPr>
              <a:t>para</a:t>
            </a:r>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j = n-1 </a:t>
            </a:r>
            <a:pPr indent="0" marL="0">
              <a:lnSpc>
                <a:spcPts val="2000"/>
              </a:lnSpc>
              <a:buNone/>
            </a:pPr>
            <a:r>
              <a:rPr lang="en-US" sz="1300" b="1" dirty="0">
                <a:solidFill>
                  <a:srgbClr val="2F5D50"/>
                </a:solidFill>
                <a:latin typeface="JetBrains Mono" pitchFamily="34" charset="0"/>
                <a:ea typeface="JetBrains Mono" pitchFamily="34" charset="-122"/>
                <a:cs typeface="JetBrains Mono" pitchFamily="34" charset="-120"/>
              </a:rPr>
              <a:t>descendiendo</a:t>
            </a:r>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a:t>
            </a:r>
            <a:pPr indent="0" marL="0">
              <a:lnSpc>
                <a:spcPts val="2000"/>
              </a:lnSpc>
              <a:buNone/>
            </a:pPr>
            <a:r>
              <a:rPr lang="en-US" sz="1300" b="1" dirty="0">
                <a:solidFill>
                  <a:srgbClr val="2F5D50"/>
                </a:solidFill>
                <a:latin typeface="JetBrains Mono" pitchFamily="34" charset="0"/>
                <a:ea typeface="JetBrains Mono" pitchFamily="34" charset="-122"/>
                <a:cs typeface="JetBrains Mono" pitchFamily="34" charset="-120"/>
              </a:rPr>
              <a:t>hasta</a:t>
            </a:r>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0</a:t>
            </a:r>
            <a:endParaRPr lang="en-US" sz="1400" dirty="0"/>
          </a:p>
          <a:p>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C[A[j]] = C[A[j]] - 1</a:t>
            </a:r>
            <a:endParaRPr lang="en-US" sz="1400" dirty="0"/>
          </a:p>
          <a:p>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B[C[A[j]]] = A[j]</a:t>
            </a:r>
            <a:endParaRPr lang="en-US" sz="1400" dirty="0"/>
          </a:p>
        </p:txBody>
      </p:sp>
      <p:sp>
        <p:nvSpPr>
          <p:cNvPr id="28" name="Text 25"/>
          <p:cNvSpPr txBox="1"/>
          <p:nvPr/>
        </p:nvSpPr>
        <p:spPr>
          <a:xfrm>
            <a:off x="5166360" y="4793488"/>
            <a:ext cx="6473952" cy="644652"/>
          </a:xfrm>
          <a:prstGeom prst="rect">
            <a:avLst/>
          </a:prstGeom>
          <a:noFill/>
          <a:ln/>
        </p:spPr>
        <p:txBody>
          <a:bodyPr wrap="square" lIns="0" tIns="0" rIns="0" bIns="0" rtlCol="0" anchor="t"/>
          <a:lstStyle/>
          <a:p>
            <a:pPr indent="0" marL="0">
              <a:buNone/>
            </a:pPr>
            <a:r>
              <a:rPr lang="en-US" sz="1300" b="1" dirty="0">
                <a:solidFill>
                  <a:srgbClr val="1F1B16"/>
                </a:solidFill>
                <a:latin typeface="IBM Plex Sans" pitchFamily="34" charset="0"/>
                <a:ea typeface="IBM Plex Sans" pitchFamily="34" charset="-122"/>
                <a:cs typeface="IBM Plex Sans" pitchFamily="34" charset="-120"/>
              </a:rPr>
              <a:t>Líneas 10–12. </a:t>
            </a:r>
            <a:pPr indent="0" marL="0">
              <a:buNone/>
            </a:pPr>
            <a:r>
              <a:rPr lang="en-US" sz="1300" dirty="0">
                <a:solidFill>
                  <a:srgbClr val="1F1B16"/>
                </a:solidFill>
                <a:latin typeface="IBM Plex Sans" pitchFamily="34" charset="0"/>
                <a:ea typeface="IBM Plex Sans" pitchFamily="34" charset="-122"/>
                <a:cs typeface="IBM Plex Sans" pitchFamily="34" charset="-120"/>
              </a:rPr>
              <a:t>Se resta antes de escribir porque B empieza en 0: si hay cinco elementos ≤ 20, el último 20 va en B[4], no en B[5]. Ir de derecha a izquierda es lo que da estabilidad.</a:t>
            </a:r>
            <a:endParaRPr lang="en-US" sz="1300" dirty="0"/>
          </a:p>
        </p:txBody>
      </p:sp>
      <p:sp>
        <p:nvSpPr>
          <p:cNvPr id="29" name="Shape 26"/>
          <p:cNvSpPr/>
          <p:nvPr/>
        </p:nvSpPr>
        <p:spPr>
          <a:xfrm>
            <a:off x="548640" y="5619496"/>
            <a:ext cx="11091672" cy="0"/>
          </a:xfrm>
          <a:prstGeom prst="line">
            <a:avLst/>
          </a:prstGeom>
          <a:noFill/>
          <a:ln w="6350">
            <a:solidFill>
              <a:srgbClr val="B5AD9B"/>
            </a:solidFill>
            <a:prstDash val="solid"/>
          </a:ln>
        </p:spPr>
      </p:sp>
      <p:sp>
        <p:nvSpPr>
          <p:cNvPr id="30" name="Text 27"/>
          <p:cNvSpPr txBox="1"/>
          <p:nvPr/>
        </p:nvSpPr>
        <p:spPr>
          <a:xfrm>
            <a:off x="548640" y="5683504"/>
            <a:ext cx="320040" cy="254000"/>
          </a:xfrm>
          <a:prstGeom prst="rect">
            <a:avLst/>
          </a:prstGeom>
          <a:noFill/>
          <a:ln/>
        </p:spPr>
        <p:txBody>
          <a:bodyPr wrap="square" lIns="0" tIns="0" rIns="0" bIns="0" rtlCol="0" anchor="t"/>
          <a:lstStyle/>
          <a:p>
            <a:pPr algn="r" indent="0" marL="0">
              <a:lnSpc>
                <a:spcPts val="2000"/>
              </a:lnSpc>
              <a:buNone/>
            </a:pPr>
            <a:r>
              <a:rPr lang="en-US" sz="1200" dirty="0">
                <a:solidFill>
                  <a:srgbClr val="8C2F23"/>
                </a:solidFill>
                <a:latin typeface="JetBrains Mono" pitchFamily="34" charset="0"/>
                <a:ea typeface="JetBrains Mono" pitchFamily="34" charset="-122"/>
                <a:cs typeface="JetBrains Mono" pitchFamily="34" charset="-120"/>
              </a:rPr>
              <a:t>13</a:t>
            </a:r>
            <a:endParaRPr lang="en-US" sz="1200" dirty="0"/>
          </a:p>
        </p:txBody>
      </p:sp>
      <p:sp>
        <p:nvSpPr>
          <p:cNvPr id="31" name="Text 28"/>
          <p:cNvSpPr txBox="1"/>
          <p:nvPr/>
        </p:nvSpPr>
        <p:spPr>
          <a:xfrm>
            <a:off x="960120" y="5683504"/>
            <a:ext cx="3886200" cy="254000"/>
          </a:xfrm>
          <a:prstGeom prst="rect">
            <a:avLst/>
          </a:prstGeom>
          <a:noFill/>
          <a:ln/>
        </p:spPr>
        <p:txBody>
          <a:bodyPr wrap="square" lIns="0" tIns="0" rIns="0" bIns="0" rtlCol="0" anchor="t"/>
          <a:lstStyle/>
          <a:p>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a:t>
            </a:r>
            <a:pPr indent="0" marL="0">
              <a:lnSpc>
                <a:spcPts val="2000"/>
              </a:lnSpc>
              <a:buNone/>
            </a:pPr>
            <a:r>
              <a:rPr lang="en-US" sz="1300" b="1" dirty="0">
                <a:solidFill>
                  <a:srgbClr val="2F5D50"/>
                </a:solidFill>
                <a:latin typeface="JetBrains Mono" pitchFamily="34" charset="0"/>
                <a:ea typeface="JetBrains Mono" pitchFamily="34" charset="-122"/>
                <a:cs typeface="JetBrains Mono" pitchFamily="34" charset="-120"/>
              </a:rPr>
              <a:t>devolver</a:t>
            </a:r>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B</a:t>
            </a:r>
            <a:endParaRPr lang="en-US" sz="1400" dirty="0"/>
          </a:p>
        </p:txBody>
      </p:sp>
      <p:sp>
        <p:nvSpPr>
          <p:cNvPr id="32" name="Text 29"/>
          <p:cNvSpPr txBox="1"/>
          <p:nvPr/>
        </p:nvSpPr>
        <p:spPr>
          <a:xfrm>
            <a:off x="5166360" y="5683504"/>
            <a:ext cx="6473952" cy="429768"/>
          </a:xfrm>
          <a:prstGeom prst="rect">
            <a:avLst/>
          </a:prstGeom>
          <a:noFill/>
          <a:ln/>
        </p:spPr>
        <p:txBody>
          <a:bodyPr wrap="square" lIns="0" tIns="0" rIns="0" bIns="0" rtlCol="0" anchor="t"/>
          <a:lstStyle/>
          <a:p>
            <a:pPr indent="0" marL="0">
              <a:buNone/>
            </a:pPr>
            <a:r>
              <a:rPr lang="en-US" sz="1300" b="1" dirty="0">
                <a:solidFill>
                  <a:srgbClr val="1F1B16"/>
                </a:solidFill>
                <a:latin typeface="IBM Plex Sans" pitchFamily="34" charset="0"/>
                <a:ea typeface="IBM Plex Sans" pitchFamily="34" charset="-122"/>
                <a:cs typeface="IBM Plex Sans" pitchFamily="34" charset="-120"/>
              </a:rPr>
              <a:t>Línea 13. </a:t>
            </a:r>
            <a:pPr indent="0" marL="0">
              <a:buNone/>
            </a:pPr>
            <a:r>
              <a:rPr lang="en-US" sz="1300" dirty="0">
                <a:solidFill>
                  <a:srgbClr val="1F1B16"/>
                </a:solidFill>
                <a:latin typeface="IBM Plex Sans" pitchFamily="34" charset="0"/>
                <a:ea typeface="IBM Plex Sans" pitchFamily="34" charset="-122"/>
                <a:cs typeface="IBM Plex Sans" pitchFamily="34" charset="-120"/>
              </a:rPr>
              <a:t>Costo Θ(n + k), sin mejor ni peor caso: mismo trabajo con datos ordenados, invertidos o al azar.</a:t>
            </a:r>
            <a:endParaRPr lang="en-US" sz="1300" dirty="0"/>
          </a:p>
        </p:txBody>
      </p:sp>
      <p:sp>
        <p:nvSpPr>
          <p:cNvPr id="33" name="Shape 30"/>
          <p:cNvSpPr/>
          <p:nvPr/>
        </p:nvSpPr>
        <p:spPr>
          <a:xfrm>
            <a:off x="548640" y="6177280"/>
            <a:ext cx="11091672" cy="0"/>
          </a:xfrm>
          <a:prstGeom prst="line">
            <a:avLst/>
          </a:prstGeom>
          <a:noFill/>
          <a:ln w="9525">
            <a:solidFill>
              <a:srgbClr val="1F1B16"/>
            </a:solidFill>
            <a:prstDash val="solid"/>
          </a:ln>
        </p:spPr>
      </p:sp>
      <p:sp>
        <p:nvSpPr>
          <p:cNvPr id="25" name="Slide Number Placeholder 0"/>
          <p:cNvSpPr>
            <a:spLocks noGrp="1"/>
          </p:cNvSpPr>
          <p:nvPr>
            <p:ph type="sldNum" sz="quarter" idx="4294967295"/>
          </p:nvPr>
        </p:nvSpPr>
        <p:spPr>
          <a:xfrm>
            <a:off x="10725912" y="6473952"/>
            <a:ext cx="9144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657"/>
                </a:solidFill>
                <a:latin typeface="JetBrains Mono"/>
                <a:ea typeface="JetBrains Mono"/>
                <a:cs typeface="JetBrains Mon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100" spc="200" kern="0" dirty="0">
                <a:solidFill>
                  <a:srgbClr val="8C2F23"/>
                </a:solidFill>
                <a:latin typeface="JetBrains Mono" pitchFamily="34" charset="0"/>
                <a:ea typeface="JetBrains Mono" pitchFamily="34" charset="-122"/>
                <a:cs typeface="JetBrains Mono" pitchFamily="34" charset="-120"/>
              </a:rPr>
              <a:t>§ 02 · COUNTING SORT</a:t>
            </a:r>
            <a:endParaRPr lang="en-US" sz="1100" dirty="0"/>
          </a:p>
        </p:txBody>
      </p:sp>
      <p:sp>
        <p:nvSpPr>
          <p:cNvPr id="3" name="Text 3"/>
          <p:cNvSpPr/>
          <p:nvPr>
            <p:ph idx="103" type="title" hasCustomPrompt="1"/>
          </p:nvPr>
        </p:nvSpPr>
        <p:spPr>
          <a:xfrm>
            <a:off x="548640" y="804672"/>
            <a:ext cx="11091672" cy="777240"/>
          </a:xfrm>
          <a:prstGeom prst="rect">
            <a:avLst/>
          </a:prstGeom>
          <a:noFill/>
          <a:ln/>
        </p:spPr>
        <p:txBody>
          <a:bodyPr wrap="square" lIns="0" tIns="0" rIns="0" bIns="0" rtlCol="0" anchor="t"/>
          <a:lstStyle/>
          <a:p>
            <a:pPr algn="l" indent="0" marL="0">
              <a:buNone/>
            </a:pPr>
            <a:r>
              <a:rPr lang="en-US" sz="3600" dirty="0">
                <a:solidFill>
                  <a:srgbClr val="1F1B16"/>
                </a:solidFill>
                <a:latin typeface="EB Garamond" pitchFamily="34" charset="0"/>
                <a:ea typeface="EB Garamond" pitchFamily="34" charset="-122"/>
                <a:cs typeface="EB Garamond" pitchFamily="34" charset="-120"/>
              </a:rPr>
              <a:t>Counting sort sobre la entrada</a:t>
            </a:r>
            <a:endParaRPr lang="en-US" sz="3600" dirty="0"/>
          </a:p>
        </p:txBody>
      </p:sp>
      <p:sp>
        <p:nvSpPr>
          <p:cNvPr id="5" name="Text 2"/>
          <p:cNvSpPr txBox="1"/>
          <p:nvPr/>
        </p:nvSpPr>
        <p:spPr>
          <a:xfrm>
            <a:off x="548640" y="1828800"/>
            <a:ext cx="1645920" cy="365760"/>
          </a:xfrm>
          <a:prstGeom prst="rect">
            <a:avLst/>
          </a:prstGeom>
          <a:noFill/>
          <a:ln/>
        </p:spPr>
        <p:txBody>
          <a:bodyPr wrap="square" lIns="0" tIns="0" rIns="0" bIns="0" rtlCol="0" anchor="ctr"/>
          <a:lstStyle/>
          <a:p>
            <a:pPr indent="0" marL="0">
              <a:buNone/>
            </a:pPr>
            <a:r>
              <a:rPr lang="en-US" sz="1100" dirty="0">
                <a:solidFill>
                  <a:srgbClr val="6E6657"/>
                </a:solidFill>
                <a:latin typeface="JetBrains Mono" pitchFamily="34" charset="0"/>
                <a:ea typeface="JetBrains Mono" pitchFamily="34" charset="-122"/>
                <a:cs typeface="JetBrains Mono" pitchFamily="34" charset="-120"/>
              </a:rPr>
              <a:t>ENTRADA A</a:t>
            </a:r>
            <a:endParaRPr lang="en-US" sz="1100" dirty="0"/>
          </a:p>
        </p:txBody>
      </p:sp>
      <p:sp>
        <p:nvSpPr>
          <p:cNvPr id="6" name="Text 3"/>
          <p:cNvSpPr txBox="1"/>
          <p:nvPr/>
        </p:nvSpPr>
        <p:spPr>
          <a:xfrm>
            <a:off x="2240280" y="1828800"/>
            <a:ext cx="868680" cy="438912"/>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dirty="0">
                <a:solidFill>
                  <a:srgbClr val="1F1B16"/>
                </a:solidFill>
                <a:latin typeface="JetBrains Mono" pitchFamily="34" charset="0"/>
                <a:ea typeface="JetBrains Mono" pitchFamily="34" charset="-122"/>
                <a:cs typeface="JetBrains Mono" pitchFamily="34" charset="-120"/>
              </a:rPr>
              <a:t>50</a:t>
            </a:r>
            <a:endParaRPr lang="en-US" sz="1500" dirty="0"/>
          </a:p>
        </p:txBody>
      </p:sp>
      <p:sp>
        <p:nvSpPr>
          <p:cNvPr id="7" name="Text 4"/>
          <p:cNvSpPr txBox="1"/>
          <p:nvPr/>
        </p:nvSpPr>
        <p:spPr>
          <a:xfrm>
            <a:off x="3108960" y="1828800"/>
            <a:ext cx="868680" cy="438912"/>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dirty="0">
                <a:solidFill>
                  <a:srgbClr val="1F1B16"/>
                </a:solidFill>
                <a:latin typeface="JetBrains Mono" pitchFamily="34" charset="0"/>
                <a:ea typeface="JetBrains Mono" pitchFamily="34" charset="-122"/>
                <a:cs typeface="JetBrains Mono" pitchFamily="34" charset="-120"/>
              </a:rPr>
              <a:t>1</a:t>
            </a:r>
            <a:endParaRPr lang="en-US" sz="1500" dirty="0"/>
          </a:p>
        </p:txBody>
      </p:sp>
      <p:sp>
        <p:nvSpPr>
          <p:cNvPr id="8" name="Text 5"/>
          <p:cNvSpPr txBox="1"/>
          <p:nvPr/>
        </p:nvSpPr>
        <p:spPr>
          <a:xfrm>
            <a:off x="3977640" y="1828800"/>
            <a:ext cx="868680" cy="438912"/>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dirty="0">
                <a:solidFill>
                  <a:srgbClr val="1F1B16"/>
                </a:solidFill>
                <a:latin typeface="JetBrains Mono" pitchFamily="34" charset="0"/>
                <a:ea typeface="JetBrains Mono" pitchFamily="34" charset="-122"/>
                <a:cs typeface="JetBrains Mono" pitchFamily="34" charset="-120"/>
              </a:rPr>
              <a:t>100</a:t>
            </a:r>
            <a:endParaRPr lang="en-US" sz="1500" dirty="0"/>
          </a:p>
        </p:txBody>
      </p:sp>
      <p:sp>
        <p:nvSpPr>
          <p:cNvPr id="9" name="Text 6"/>
          <p:cNvSpPr txBox="1"/>
          <p:nvPr/>
        </p:nvSpPr>
        <p:spPr>
          <a:xfrm>
            <a:off x="4846320" y="1828800"/>
            <a:ext cx="868680" cy="438912"/>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dirty="0">
                <a:solidFill>
                  <a:srgbClr val="1F1B16"/>
                </a:solidFill>
                <a:latin typeface="JetBrains Mono" pitchFamily="34" charset="0"/>
                <a:ea typeface="JetBrains Mono" pitchFamily="34" charset="-122"/>
                <a:cs typeface="JetBrains Mono" pitchFamily="34" charset="-120"/>
              </a:rPr>
              <a:t>20</a:t>
            </a:r>
            <a:endParaRPr lang="en-US" sz="1500" dirty="0"/>
          </a:p>
        </p:txBody>
      </p:sp>
      <p:sp>
        <p:nvSpPr>
          <p:cNvPr id="10" name="Text 7"/>
          <p:cNvSpPr txBox="1"/>
          <p:nvPr/>
        </p:nvSpPr>
        <p:spPr>
          <a:xfrm>
            <a:off x="5715000" y="1828800"/>
            <a:ext cx="868680" cy="438912"/>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dirty="0">
                <a:solidFill>
                  <a:srgbClr val="1F1B16"/>
                </a:solidFill>
                <a:latin typeface="JetBrains Mono" pitchFamily="34" charset="0"/>
                <a:ea typeface="JetBrains Mono" pitchFamily="34" charset="-122"/>
                <a:cs typeface="JetBrains Mono" pitchFamily="34" charset="-120"/>
              </a:rPr>
              <a:t>19</a:t>
            </a:r>
            <a:endParaRPr lang="en-US" sz="1500" dirty="0"/>
          </a:p>
        </p:txBody>
      </p:sp>
      <p:sp>
        <p:nvSpPr>
          <p:cNvPr id="11" name="Text 8"/>
          <p:cNvSpPr txBox="1"/>
          <p:nvPr/>
        </p:nvSpPr>
        <p:spPr>
          <a:xfrm>
            <a:off x="6583680" y="1828800"/>
            <a:ext cx="868680" cy="438912"/>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dirty="0">
                <a:solidFill>
                  <a:srgbClr val="1F1B16"/>
                </a:solidFill>
                <a:latin typeface="JetBrains Mono" pitchFamily="34" charset="0"/>
                <a:ea typeface="JetBrains Mono" pitchFamily="34" charset="-122"/>
                <a:cs typeface="JetBrains Mono" pitchFamily="34" charset="-120"/>
              </a:rPr>
              <a:t>40</a:t>
            </a:r>
            <a:endParaRPr lang="en-US" sz="1500" dirty="0"/>
          </a:p>
        </p:txBody>
      </p:sp>
      <p:sp>
        <p:nvSpPr>
          <p:cNvPr id="12" name="Text 9"/>
          <p:cNvSpPr txBox="1"/>
          <p:nvPr/>
        </p:nvSpPr>
        <p:spPr>
          <a:xfrm>
            <a:off x="7452360" y="1828800"/>
            <a:ext cx="868680" cy="438912"/>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dirty="0">
                <a:solidFill>
                  <a:srgbClr val="1F1B16"/>
                </a:solidFill>
                <a:latin typeface="JetBrains Mono" pitchFamily="34" charset="0"/>
                <a:ea typeface="JetBrains Mono" pitchFamily="34" charset="-122"/>
                <a:cs typeface="JetBrains Mono" pitchFamily="34" charset="-120"/>
              </a:rPr>
              <a:t>99</a:t>
            </a:r>
            <a:endParaRPr lang="en-US" sz="1500" dirty="0"/>
          </a:p>
        </p:txBody>
      </p:sp>
      <p:sp>
        <p:nvSpPr>
          <p:cNvPr id="13" name="Text 10"/>
          <p:cNvSpPr txBox="1"/>
          <p:nvPr/>
        </p:nvSpPr>
        <p:spPr>
          <a:xfrm>
            <a:off x="548640" y="2606040"/>
            <a:ext cx="1645920" cy="457200"/>
          </a:xfrm>
          <a:prstGeom prst="rect">
            <a:avLst/>
          </a:prstGeom>
          <a:noFill/>
          <a:ln/>
        </p:spPr>
        <p:txBody>
          <a:bodyPr wrap="square" lIns="0" tIns="0" rIns="0" bIns="0" rtlCol="0" anchor="ctr"/>
          <a:lstStyle/>
          <a:p>
            <a:pPr indent="0" marL="0">
              <a:buNone/>
            </a:pPr>
            <a:r>
              <a:rPr lang="en-US" sz="1100" dirty="0">
                <a:solidFill>
                  <a:srgbClr val="6E6657"/>
                </a:solidFill>
                <a:latin typeface="JetBrains Mono" pitchFamily="34" charset="0"/>
                <a:ea typeface="JetBrains Mono" pitchFamily="34" charset="-122"/>
                <a:cs typeface="JetBrains Mono" pitchFamily="34" charset="-120"/>
              </a:rPr>
              <a:t>índice i</a:t>
            </a:r>
            <a:endParaRPr lang="en-US" sz="1100" dirty="0"/>
          </a:p>
        </p:txBody>
      </p:sp>
      <p:sp>
        <p:nvSpPr>
          <p:cNvPr id="14" name="Text 11"/>
          <p:cNvSpPr txBox="1"/>
          <p:nvPr/>
        </p:nvSpPr>
        <p:spPr>
          <a:xfrm>
            <a:off x="2240280" y="2606040"/>
            <a:ext cx="868680" cy="457200"/>
          </a:xfrm>
          <a:prstGeom prst="rect">
            <a:avLst/>
          </a:prstGeom>
          <a:solidFill>
            <a:srgbClr val="EAE5D8"/>
          </a:solidFill>
          <a:ln w="9525">
            <a:solidFill>
              <a:srgbClr val="1F1B16"/>
            </a:solidFill>
          </a:ln>
        </p:spPr>
        <p:txBody>
          <a:bodyPr wrap="square" lIns="0" tIns="0" rIns="0" bIns="0" rtlCol="0" anchor="ctr"/>
          <a:lstStyle/>
          <a:p>
            <a:pPr algn="ctr" indent="0" marL="0">
              <a:buNone/>
            </a:pPr>
            <a:r>
              <a:rPr lang="en-US" sz="1500" b="1" dirty="0">
                <a:solidFill>
                  <a:srgbClr val="1F1B16"/>
                </a:solidFill>
                <a:latin typeface="JetBrains Mono" pitchFamily="34" charset="0"/>
                <a:ea typeface="JetBrains Mono" pitchFamily="34" charset="-122"/>
                <a:cs typeface="JetBrains Mono" pitchFamily="34" charset="-120"/>
              </a:rPr>
              <a:t>1</a:t>
            </a:r>
            <a:endParaRPr lang="en-US" sz="1500" dirty="0"/>
          </a:p>
        </p:txBody>
      </p:sp>
      <p:sp>
        <p:nvSpPr>
          <p:cNvPr id="15" name="Text 12"/>
          <p:cNvSpPr txBox="1"/>
          <p:nvPr/>
        </p:nvSpPr>
        <p:spPr>
          <a:xfrm>
            <a:off x="3108960" y="2606040"/>
            <a:ext cx="868680" cy="457200"/>
          </a:xfrm>
          <a:prstGeom prst="rect">
            <a:avLst/>
          </a:prstGeom>
          <a:solidFill>
            <a:srgbClr val="EAE5D8"/>
          </a:solidFill>
          <a:ln w="9525">
            <a:solidFill>
              <a:srgbClr val="1F1B16"/>
            </a:solidFill>
          </a:ln>
        </p:spPr>
        <p:txBody>
          <a:bodyPr wrap="square" lIns="0" tIns="0" rIns="0" bIns="0" rtlCol="0" anchor="ctr"/>
          <a:lstStyle/>
          <a:p>
            <a:pPr algn="ctr" indent="0" marL="0">
              <a:buNone/>
            </a:pPr>
            <a:r>
              <a:rPr lang="en-US" sz="1500" b="1" dirty="0">
                <a:solidFill>
                  <a:srgbClr val="1F1B16"/>
                </a:solidFill>
                <a:latin typeface="JetBrains Mono" pitchFamily="34" charset="0"/>
                <a:ea typeface="JetBrains Mono" pitchFamily="34" charset="-122"/>
                <a:cs typeface="JetBrains Mono" pitchFamily="34" charset="-120"/>
              </a:rPr>
              <a:t>19</a:t>
            </a:r>
            <a:endParaRPr lang="en-US" sz="1500" dirty="0"/>
          </a:p>
        </p:txBody>
      </p:sp>
      <p:sp>
        <p:nvSpPr>
          <p:cNvPr id="16" name="Text 13"/>
          <p:cNvSpPr txBox="1"/>
          <p:nvPr/>
        </p:nvSpPr>
        <p:spPr>
          <a:xfrm>
            <a:off x="3977640" y="2606040"/>
            <a:ext cx="868680" cy="457200"/>
          </a:xfrm>
          <a:prstGeom prst="rect">
            <a:avLst/>
          </a:prstGeom>
          <a:solidFill>
            <a:srgbClr val="EAE5D8"/>
          </a:solidFill>
          <a:ln w="9525">
            <a:solidFill>
              <a:srgbClr val="1F1B16"/>
            </a:solidFill>
          </a:ln>
        </p:spPr>
        <p:txBody>
          <a:bodyPr wrap="square" lIns="0" tIns="0" rIns="0" bIns="0" rtlCol="0" anchor="ctr"/>
          <a:lstStyle/>
          <a:p>
            <a:pPr algn="ctr" indent="0" marL="0">
              <a:buNone/>
            </a:pPr>
            <a:r>
              <a:rPr lang="en-US" sz="1500" b="1" dirty="0">
                <a:solidFill>
                  <a:srgbClr val="1F1B16"/>
                </a:solidFill>
                <a:latin typeface="JetBrains Mono" pitchFamily="34" charset="0"/>
                <a:ea typeface="JetBrains Mono" pitchFamily="34" charset="-122"/>
                <a:cs typeface="JetBrains Mono" pitchFamily="34" charset="-120"/>
              </a:rPr>
              <a:t>20</a:t>
            </a:r>
            <a:endParaRPr lang="en-US" sz="1500" dirty="0"/>
          </a:p>
        </p:txBody>
      </p:sp>
      <p:sp>
        <p:nvSpPr>
          <p:cNvPr id="17" name="Text 14"/>
          <p:cNvSpPr txBox="1"/>
          <p:nvPr/>
        </p:nvSpPr>
        <p:spPr>
          <a:xfrm>
            <a:off x="4846320" y="2606040"/>
            <a:ext cx="868680" cy="457200"/>
          </a:xfrm>
          <a:prstGeom prst="rect">
            <a:avLst/>
          </a:prstGeom>
          <a:solidFill>
            <a:srgbClr val="EAE5D8"/>
          </a:solidFill>
          <a:ln w="9525">
            <a:solidFill>
              <a:srgbClr val="1F1B16"/>
            </a:solidFill>
          </a:ln>
        </p:spPr>
        <p:txBody>
          <a:bodyPr wrap="square" lIns="0" tIns="0" rIns="0" bIns="0" rtlCol="0" anchor="ctr"/>
          <a:lstStyle/>
          <a:p>
            <a:pPr algn="ctr" indent="0" marL="0">
              <a:buNone/>
            </a:pPr>
            <a:r>
              <a:rPr lang="en-US" sz="1500" b="1" dirty="0">
                <a:solidFill>
                  <a:srgbClr val="1F1B16"/>
                </a:solidFill>
                <a:latin typeface="JetBrains Mono" pitchFamily="34" charset="0"/>
                <a:ea typeface="JetBrains Mono" pitchFamily="34" charset="-122"/>
                <a:cs typeface="JetBrains Mono" pitchFamily="34" charset="-120"/>
              </a:rPr>
              <a:t>40</a:t>
            </a:r>
            <a:endParaRPr lang="en-US" sz="1500" dirty="0"/>
          </a:p>
        </p:txBody>
      </p:sp>
      <p:sp>
        <p:nvSpPr>
          <p:cNvPr id="18" name="Text 15"/>
          <p:cNvSpPr txBox="1"/>
          <p:nvPr/>
        </p:nvSpPr>
        <p:spPr>
          <a:xfrm>
            <a:off x="5715000" y="2606040"/>
            <a:ext cx="868680" cy="457200"/>
          </a:xfrm>
          <a:prstGeom prst="rect">
            <a:avLst/>
          </a:prstGeom>
          <a:solidFill>
            <a:srgbClr val="EAE5D8"/>
          </a:solidFill>
          <a:ln w="9525">
            <a:solidFill>
              <a:srgbClr val="1F1B16"/>
            </a:solidFill>
          </a:ln>
        </p:spPr>
        <p:txBody>
          <a:bodyPr wrap="square" lIns="0" tIns="0" rIns="0" bIns="0" rtlCol="0" anchor="ctr"/>
          <a:lstStyle/>
          <a:p>
            <a:pPr algn="ctr" indent="0" marL="0">
              <a:buNone/>
            </a:pPr>
            <a:r>
              <a:rPr lang="en-US" sz="1500" b="1" dirty="0">
                <a:solidFill>
                  <a:srgbClr val="1F1B16"/>
                </a:solidFill>
                <a:latin typeface="JetBrains Mono" pitchFamily="34" charset="0"/>
                <a:ea typeface="JetBrains Mono" pitchFamily="34" charset="-122"/>
                <a:cs typeface="JetBrains Mono" pitchFamily="34" charset="-120"/>
              </a:rPr>
              <a:t>50</a:t>
            </a:r>
            <a:endParaRPr lang="en-US" sz="1500" dirty="0"/>
          </a:p>
        </p:txBody>
      </p:sp>
      <p:sp>
        <p:nvSpPr>
          <p:cNvPr id="19" name="Text 16"/>
          <p:cNvSpPr txBox="1"/>
          <p:nvPr/>
        </p:nvSpPr>
        <p:spPr>
          <a:xfrm>
            <a:off x="6583680" y="2606040"/>
            <a:ext cx="868680" cy="457200"/>
          </a:xfrm>
          <a:prstGeom prst="rect">
            <a:avLst/>
          </a:prstGeom>
          <a:solidFill>
            <a:srgbClr val="EAE5D8"/>
          </a:solidFill>
          <a:ln w="9525">
            <a:solidFill>
              <a:srgbClr val="1F1B16"/>
            </a:solidFill>
          </a:ln>
        </p:spPr>
        <p:txBody>
          <a:bodyPr wrap="square" lIns="0" tIns="0" rIns="0" bIns="0" rtlCol="0" anchor="ctr"/>
          <a:lstStyle/>
          <a:p>
            <a:pPr algn="ctr" indent="0" marL="0">
              <a:buNone/>
            </a:pPr>
            <a:r>
              <a:rPr lang="en-US" sz="1500" b="1" dirty="0">
                <a:solidFill>
                  <a:srgbClr val="1F1B16"/>
                </a:solidFill>
                <a:latin typeface="JetBrains Mono" pitchFamily="34" charset="0"/>
                <a:ea typeface="JetBrains Mono" pitchFamily="34" charset="-122"/>
                <a:cs typeface="JetBrains Mono" pitchFamily="34" charset="-120"/>
              </a:rPr>
              <a:t>99</a:t>
            </a:r>
            <a:endParaRPr lang="en-US" sz="1500" dirty="0"/>
          </a:p>
        </p:txBody>
      </p:sp>
      <p:sp>
        <p:nvSpPr>
          <p:cNvPr id="20" name="Text 17"/>
          <p:cNvSpPr txBox="1"/>
          <p:nvPr/>
        </p:nvSpPr>
        <p:spPr>
          <a:xfrm>
            <a:off x="7452360" y="2606040"/>
            <a:ext cx="868680" cy="457200"/>
          </a:xfrm>
          <a:prstGeom prst="rect">
            <a:avLst/>
          </a:prstGeom>
          <a:solidFill>
            <a:srgbClr val="EAE5D8"/>
          </a:solidFill>
          <a:ln w="9525">
            <a:solidFill>
              <a:srgbClr val="1F1B16"/>
            </a:solidFill>
          </a:ln>
        </p:spPr>
        <p:txBody>
          <a:bodyPr wrap="square" lIns="0" tIns="0" rIns="0" bIns="0" rtlCol="0" anchor="ctr"/>
          <a:lstStyle/>
          <a:p>
            <a:pPr algn="ctr" indent="0" marL="0">
              <a:buNone/>
            </a:pPr>
            <a:r>
              <a:rPr lang="en-US" sz="1500" b="1" dirty="0">
                <a:solidFill>
                  <a:srgbClr val="1F1B16"/>
                </a:solidFill>
                <a:latin typeface="JetBrains Mono" pitchFamily="34" charset="0"/>
                <a:ea typeface="JetBrains Mono" pitchFamily="34" charset="-122"/>
                <a:cs typeface="JetBrains Mono" pitchFamily="34" charset="-120"/>
              </a:rPr>
              <a:t>100</a:t>
            </a:r>
            <a:endParaRPr lang="en-US" sz="1500" dirty="0"/>
          </a:p>
        </p:txBody>
      </p:sp>
      <p:sp>
        <p:nvSpPr>
          <p:cNvPr id="21" name="Text 18"/>
          <p:cNvSpPr txBox="1"/>
          <p:nvPr/>
        </p:nvSpPr>
        <p:spPr>
          <a:xfrm>
            <a:off x="548640" y="3063240"/>
            <a:ext cx="1645920" cy="457200"/>
          </a:xfrm>
          <a:prstGeom prst="rect">
            <a:avLst/>
          </a:prstGeom>
          <a:noFill/>
          <a:ln/>
        </p:spPr>
        <p:txBody>
          <a:bodyPr wrap="square" lIns="0" tIns="0" rIns="0" bIns="0" rtlCol="0" anchor="ctr"/>
          <a:lstStyle/>
          <a:p>
            <a:pPr indent="0" marL="0">
              <a:buNone/>
            </a:pPr>
            <a:r>
              <a:rPr lang="en-US" sz="1100" dirty="0">
                <a:solidFill>
                  <a:srgbClr val="6E6657"/>
                </a:solidFill>
                <a:latin typeface="JetBrains Mono" pitchFamily="34" charset="0"/>
                <a:ea typeface="JetBrains Mono" pitchFamily="34" charset="-122"/>
                <a:cs typeface="JetBrains Mono" pitchFamily="34" charset="-120"/>
              </a:rPr>
              <a:t>C[i] contado</a:t>
            </a:r>
            <a:endParaRPr lang="en-US" sz="1100" dirty="0"/>
          </a:p>
        </p:txBody>
      </p:sp>
      <p:sp>
        <p:nvSpPr>
          <p:cNvPr id="22" name="Text 19"/>
          <p:cNvSpPr txBox="1"/>
          <p:nvPr/>
        </p:nvSpPr>
        <p:spPr>
          <a:xfrm>
            <a:off x="2240280" y="3063240"/>
            <a:ext cx="868680" cy="45720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dirty="0">
                <a:solidFill>
                  <a:srgbClr val="1F1B16"/>
                </a:solidFill>
                <a:latin typeface="JetBrains Mono" pitchFamily="34" charset="0"/>
                <a:ea typeface="JetBrains Mono" pitchFamily="34" charset="-122"/>
                <a:cs typeface="JetBrains Mono" pitchFamily="34" charset="-120"/>
              </a:rPr>
              <a:t>1</a:t>
            </a:r>
            <a:endParaRPr lang="en-US" sz="1500" dirty="0"/>
          </a:p>
        </p:txBody>
      </p:sp>
      <p:sp>
        <p:nvSpPr>
          <p:cNvPr id="23" name="Text 20"/>
          <p:cNvSpPr txBox="1"/>
          <p:nvPr/>
        </p:nvSpPr>
        <p:spPr>
          <a:xfrm>
            <a:off x="3108960" y="3063240"/>
            <a:ext cx="868680" cy="45720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dirty="0">
                <a:solidFill>
                  <a:srgbClr val="1F1B16"/>
                </a:solidFill>
                <a:latin typeface="JetBrains Mono" pitchFamily="34" charset="0"/>
                <a:ea typeface="JetBrains Mono" pitchFamily="34" charset="-122"/>
                <a:cs typeface="JetBrains Mono" pitchFamily="34" charset="-120"/>
              </a:rPr>
              <a:t>1</a:t>
            </a:r>
            <a:endParaRPr lang="en-US" sz="1500" dirty="0"/>
          </a:p>
        </p:txBody>
      </p:sp>
      <p:sp>
        <p:nvSpPr>
          <p:cNvPr id="24" name="Text 21"/>
          <p:cNvSpPr txBox="1"/>
          <p:nvPr/>
        </p:nvSpPr>
        <p:spPr>
          <a:xfrm>
            <a:off x="3977640" y="3063240"/>
            <a:ext cx="868680" cy="45720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dirty="0">
                <a:solidFill>
                  <a:srgbClr val="1F1B16"/>
                </a:solidFill>
                <a:latin typeface="JetBrains Mono" pitchFamily="34" charset="0"/>
                <a:ea typeface="JetBrains Mono" pitchFamily="34" charset="-122"/>
                <a:cs typeface="JetBrains Mono" pitchFamily="34" charset="-120"/>
              </a:rPr>
              <a:t>1</a:t>
            </a:r>
            <a:endParaRPr lang="en-US" sz="1500" dirty="0"/>
          </a:p>
        </p:txBody>
      </p:sp>
      <p:sp>
        <p:nvSpPr>
          <p:cNvPr id="25" name="Text 22"/>
          <p:cNvSpPr txBox="1"/>
          <p:nvPr/>
        </p:nvSpPr>
        <p:spPr>
          <a:xfrm>
            <a:off x="4846320" y="3063240"/>
            <a:ext cx="868680" cy="45720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dirty="0">
                <a:solidFill>
                  <a:srgbClr val="1F1B16"/>
                </a:solidFill>
                <a:latin typeface="JetBrains Mono" pitchFamily="34" charset="0"/>
                <a:ea typeface="JetBrains Mono" pitchFamily="34" charset="-122"/>
                <a:cs typeface="JetBrains Mono" pitchFamily="34" charset="-120"/>
              </a:rPr>
              <a:t>1</a:t>
            </a:r>
            <a:endParaRPr lang="en-US" sz="1500" dirty="0"/>
          </a:p>
        </p:txBody>
      </p:sp>
      <p:sp>
        <p:nvSpPr>
          <p:cNvPr id="26" name="Text 23"/>
          <p:cNvSpPr txBox="1"/>
          <p:nvPr/>
        </p:nvSpPr>
        <p:spPr>
          <a:xfrm>
            <a:off x="5715000" y="3063240"/>
            <a:ext cx="868680" cy="45720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dirty="0">
                <a:solidFill>
                  <a:srgbClr val="1F1B16"/>
                </a:solidFill>
                <a:latin typeface="JetBrains Mono" pitchFamily="34" charset="0"/>
                <a:ea typeface="JetBrains Mono" pitchFamily="34" charset="-122"/>
                <a:cs typeface="JetBrains Mono" pitchFamily="34" charset="-120"/>
              </a:rPr>
              <a:t>1</a:t>
            </a:r>
            <a:endParaRPr lang="en-US" sz="1500" dirty="0"/>
          </a:p>
        </p:txBody>
      </p:sp>
      <p:sp>
        <p:nvSpPr>
          <p:cNvPr id="27" name="Text 24"/>
          <p:cNvSpPr txBox="1"/>
          <p:nvPr/>
        </p:nvSpPr>
        <p:spPr>
          <a:xfrm>
            <a:off x="6583680" y="3063240"/>
            <a:ext cx="868680" cy="45720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dirty="0">
                <a:solidFill>
                  <a:srgbClr val="1F1B16"/>
                </a:solidFill>
                <a:latin typeface="JetBrains Mono" pitchFamily="34" charset="0"/>
                <a:ea typeface="JetBrains Mono" pitchFamily="34" charset="-122"/>
                <a:cs typeface="JetBrains Mono" pitchFamily="34" charset="-120"/>
              </a:rPr>
              <a:t>1</a:t>
            </a:r>
            <a:endParaRPr lang="en-US" sz="1500" dirty="0"/>
          </a:p>
        </p:txBody>
      </p:sp>
      <p:sp>
        <p:nvSpPr>
          <p:cNvPr id="28" name="Text 25"/>
          <p:cNvSpPr txBox="1"/>
          <p:nvPr/>
        </p:nvSpPr>
        <p:spPr>
          <a:xfrm>
            <a:off x="7452360" y="3063240"/>
            <a:ext cx="868680" cy="45720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dirty="0">
                <a:solidFill>
                  <a:srgbClr val="1F1B16"/>
                </a:solidFill>
                <a:latin typeface="JetBrains Mono" pitchFamily="34" charset="0"/>
                <a:ea typeface="JetBrains Mono" pitchFamily="34" charset="-122"/>
                <a:cs typeface="JetBrains Mono" pitchFamily="34" charset="-120"/>
              </a:rPr>
              <a:t>1</a:t>
            </a:r>
            <a:endParaRPr lang="en-US" sz="1500" dirty="0"/>
          </a:p>
        </p:txBody>
      </p:sp>
      <p:sp>
        <p:nvSpPr>
          <p:cNvPr id="29" name="Text 26"/>
          <p:cNvSpPr txBox="1"/>
          <p:nvPr/>
        </p:nvSpPr>
        <p:spPr>
          <a:xfrm>
            <a:off x="548640" y="3520440"/>
            <a:ext cx="1645920" cy="457200"/>
          </a:xfrm>
          <a:prstGeom prst="rect">
            <a:avLst/>
          </a:prstGeom>
          <a:noFill/>
          <a:ln/>
        </p:spPr>
        <p:txBody>
          <a:bodyPr wrap="square" lIns="0" tIns="0" rIns="0" bIns="0" rtlCol="0" anchor="ctr"/>
          <a:lstStyle/>
          <a:p>
            <a:pPr indent="0" marL="0">
              <a:buNone/>
            </a:pPr>
            <a:r>
              <a:rPr lang="en-US" sz="1100" dirty="0">
                <a:solidFill>
                  <a:srgbClr val="6E6657"/>
                </a:solidFill>
                <a:latin typeface="JetBrains Mono" pitchFamily="34" charset="0"/>
                <a:ea typeface="JetBrains Mono" pitchFamily="34" charset="-122"/>
                <a:cs typeface="JetBrains Mono" pitchFamily="34" charset="-120"/>
              </a:rPr>
              <a:t>C[i] acumulado</a:t>
            </a:r>
            <a:endParaRPr lang="en-US" sz="1100" dirty="0"/>
          </a:p>
        </p:txBody>
      </p:sp>
      <p:sp>
        <p:nvSpPr>
          <p:cNvPr id="30" name="Text 27"/>
          <p:cNvSpPr txBox="1"/>
          <p:nvPr/>
        </p:nvSpPr>
        <p:spPr>
          <a:xfrm>
            <a:off x="2240280" y="3520440"/>
            <a:ext cx="868680" cy="45720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b="1" dirty="0">
                <a:solidFill>
                  <a:srgbClr val="2F5D50"/>
                </a:solidFill>
                <a:latin typeface="JetBrains Mono" pitchFamily="34" charset="0"/>
                <a:ea typeface="JetBrains Mono" pitchFamily="34" charset="-122"/>
                <a:cs typeface="JetBrains Mono" pitchFamily="34" charset="-120"/>
              </a:rPr>
              <a:t>1</a:t>
            </a:r>
            <a:endParaRPr lang="en-US" sz="1500" dirty="0"/>
          </a:p>
        </p:txBody>
      </p:sp>
      <p:sp>
        <p:nvSpPr>
          <p:cNvPr id="31" name="Text 28"/>
          <p:cNvSpPr txBox="1"/>
          <p:nvPr/>
        </p:nvSpPr>
        <p:spPr>
          <a:xfrm>
            <a:off x="3108960" y="3520440"/>
            <a:ext cx="868680" cy="45720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b="1" dirty="0">
                <a:solidFill>
                  <a:srgbClr val="2F5D50"/>
                </a:solidFill>
                <a:latin typeface="JetBrains Mono" pitchFamily="34" charset="0"/>
                <a:ea typeface="JetBrains Mono" pitchFamily="34" charset="-122"/>
                <a:cs typeface="JetBrains Mono" pitchFamily="34" charset="-120"/>
              </a:rPr>
              <a:t>2</a:t>
            </a:r>
            <a:endParaRPr lang="en-US" sz="1500" dirty="0"/>
          </a:p>
        </p:txBody>
      </p:sp>
      <p:sp>
        <p:nvSpPr>
          <p:cNvPr id="32" name="Text 29"/>
          <p:cNvSpPr txBox="1"/>
          <p:nvPr/>
        </p:nvSpPr>
        <p:spPr>
          <a:xfrm>
            <a:off x="3977640" y="3520440"/>
            <a:ext cx="868680" cy="45720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b="1" dirty="0">
                <a:solidFill>
                  <a:srgbClr val="2F5D50"/>
                </a:solidFill>
                <a:latin typeface="JetBrains Mono" pitchFamily="34" charset="0"/>
                <a:ea typeface="JetBrains Mono" pitchFamily="34" charset="-122"/>
                <a:cs typeface="JetBrains Mono" pitchFamily="34" charset="-120"/>
              </a:rPr>
              <a:t>3</a:t>
            </a:r>
            <a:endParaRPr lang="en-US" sz="1500" dirty="0"/>
          </a:p>
        </p:txBody>
      </p:sp>
      <p:sp>
        <p:nvSpPr>
          <p:cNvPr id="33" name="Text 30"/>
          <p:cNvSpPr txBox="1"/>
          <p:nvPr/>
        </p:nvSpPr>
        <p:spPr>
          <a:xfrm>
            <a:off x="4846320" y="3520440"/>
            <a:ext cx="868680" cy="45720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b="1" dirty="0">
                <a:solidFill>
                  <a:srgbClr val="2F5D50"/>
                </a:solidFill>
                <a:latin typeface="JetBrains Mono" pitchFamily="34" charset="0"/>
                <a:ea typeface="JetBrains Mono" pitchFamily="34" charset="-122"/>
                <a:cs typeface="JetBrains Mono" pitchFamily="34" charset="-120"/>
              </a:rPr>
              <a:t>4</a:t>
            </a:r>
            <a:endParaRPr lang="en-US" sz="1500" dirty="0"/>
          </a:p>
        </p:txBody>
      </p:sp>
      <p:sp>
        <p:nvSpPr>
          <p:cNvPr id="34" name="Text 31"/>
          <p:cNvSpPr txBox="1"/>
          <p:nvPr/>
        </p:nvSpPr>
        <p:spPr>
          <a:xfrm>
            <a:off x="5715000" y="3520440"/>
            <a:ext cx="868680" cy="45720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b="1" dirty="0">
                <a:solidFill>
                  <a:srgbClr val="2F5D50"/>
                </a:solidFill>
                <a:latin typeface="JetBrains Mono" pitchFamily="34" charset="0"/>
                <a:ea typeface="JetBrains Mono" pitchFamily="34" charset="-122"/>
                <a:cs typeface="JetBrains Mono" pitchFamily="34" charset="-120"/>
              </a:rPr>
              <a:t>5</a:t>
            </a:r>
            <a:endParaRPr lang="en-US" sz="1500" dirty="0"/>
          </a:p>
        </p:txBody>
      </p:sp>
      <p:sp>
        <p:nvSpPr>
          <p:cNvPr id="35" name="Text 32"/>
          <p:cNvSpPr txBox="1"/>
          <p:nvPr/>
        </p:nvSpPr>
        <p:spPr>
          <a:xfrm>
            <a:off x="6583680" y="3520440"/>
            <a:ext cx="868680" cy="45720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b="1" dirty="0">
                <a:solidFill>
                  <a:srgbClr val="2F5D50"/>
                </a:solidFill>
                <a:latin typeface="JetBrains Mono" pitchFamily="34" charset="0"/>
                <a:ea typeface="JetBrains Mono" pitchFamily="34" charset="-122"/>
                <a:cs typeface="JetBrains Mono" pitchFamily="34" charset="-120"/>
              </a:rPr>
              <a:t>6</a:t>
            </a:r>
            <a:endParaRPr lang="en-US" sz="1500" dirty="0"/>
          </a:p>
        </p:txBody>
      </p:sp>
      <p:sp>
        <p:nvSpPr>
          <p:cNvPr id="36" name="Text 33"/>
          <p:cNvSpPr txBox="1"/>
          <p:nvPr/>
        </p:nvSpPr>
        <p:spPr>
          <a:xfrm>
            <a:off x="7452360" y="3520440"/>
            <a:ext cx="868680" cy="45720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b="1" dirty="0">
                <a:solidFill>
                  <a:srgbClr val="2F5D50"/>
                </a:solidFill>
                <a:latin typeface="JetBrains Mono" pitchFamily="34" charset="0"/>
                <a:ea typeface="JetBrains Mono" pitchFamily="34" charset="-122"/>
                <a:cs typeface="JetBrains Mono" pitchFamily="34" charset="-120"/>
              </a:rPr>
              <a:t>7</a:t>
            </a:r>
            <a:endParaRPr lang="en-US" sz="1500" dirty="0"/>
          </a:p>
        </p:txBody>
      </p:sp>
      <p:sp>
        <p:nvSpPr>
          <p:cNvPr id="37" name="Text 34"/>
          <p:cNvSpPr txBox="1"/>
          <p:nvPr/>
        </p:nvSpPr>
        <p:spPr>
          <a:xfrm>
            <a:off x="548640" y="3977640"/>
            <a:ext cx="1645920" cy="457200"/>
          </a:xfrm>
          <a:prstGeom prst="rect">
            <a:avLst/>
          </a:prstGeom>
          <a:noFill/>
          <a:ln/>
        </p:spPr>
        <p:txBody>
          <a:bodyPr wrap="square" lIns="0" tIns="0" rIns="0" bIns="0" rtlCol="0" anchor="ctr"/>
          <a:lstStyle/>
          <a:p>
            <a:pPr indent="0" marL="0">
              <a:buNone/>
            </a:pPr>
            <a:r>
              <a:rPr lang="en-US" sz="1100" dirty="0">
                <a:solidFill>
                  <a:srgbClr val="6E6657"/>
                </a:solidFill>
                <a:latin typeface="JetBrains Mono" pitchFamily="34" charset="0"/>
                <a:ea typeface="JetBrains Mono" pitchFamily="34" charset="-122"/>
                <a:cs typeface="JetBrains Mono" pitchFamily="34" charset="-120"/>
              </a:rPr>
              <a:t>va en B[…]</a:t>
            </a:r>
            <a:endParaRPr lang="en-US" sz="1100" dirty="0"/>
          </a:p>
        </p:txBody>
      </p:sp>
      <p:sp>
        <p:nvSpPr>
          <p:cNvPr id="38" name="Text 35"/>
          <p:cNvSpPr txBox="1"/>
          <p:nvPr/>
        </p:nvSpPr>
        <p:spPr>
          <a:xfrm>
            <a:off x="2240280" y="3977640"/>
            <a:ext cx="868680" cy="45720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b="1" dirty="0">
                <a:solidFill>
                  <a:srgbClr val="8C2F23"/>
                </a:solidFill>
                <a:latin typeface="JetBrains Mono" pitchFamily="34" charset="0"/>
                <a:ea typeface="JetBrains Mono" pitchFamily="34" charset="-122"/>
                <a:cs typeface="JetBrains Mono" pitchFamily="34" charset="-120"/>
              </a:rPr>
              <a:t>0</a:t>
            </a:r>
            <a:endParaRPr lang="en-US" sz="1500" dirty="0"/>
          </a:p>
        </p:txBody>
      </p:sp>
      <p:sp>
        <p:nvSpPr>
          <p:cNvPr id="39" name="Text 36"/>
          <p:cNvSpPr txBox="1"/>
          <p:nvPr/>
        </p:nvSpPr>
        <p:spPr>
          <a:xfrm>
            <a:off x="3108960" y="3977640"/>
            <a:ext cx="868680" cy="45720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b="1" dirty="0">
                <a:solidFill>
                  <a:srgbClr val="8C2F23"/>
                </a:solidFill>
                <a:latin typeface="JetBrains Mono" pitchFamily="34" charset="0"/>
                <a:ea typeface="JetBrains Mono" pitchFamily="34" charset="-122"/>
                <a:cs typeface="JetBrains Mono" pitchFamily="34" charset="-120"/>
              </a:rPr>
              <a:t>1</a:t>
            </a:r>
            <a:endParaRPr lang="en-US" sz="1500" dirty="0"/>
          </a:p>
        </p:txBody>
      </p:sp>
      <p:sp>
        <p:nvSpPr>
          <p:cNvPr id="40" name="Text 37"/>
          <p:cNvSpPr txBox="1"/>
          <p:nvPr/>
        </p:nvSpPr>
        <p:spPr>
          <a:xfrm>
            <a:off x="3977640" y="3977640"/>
            <a:ext cx="868680" cy="45720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b="1" dirty="0">
                <a:solidFill>
                  <a:srgbClr val="8C2F23"/>
                </a:solidFill>
                <a:latin typeface="JetBrains Mono" pitchFamily="34" charset="0"/>
                <a:ea typeface="JetBrains Mono" pitchFamily="34" charset="-122"/>
                <a:cs typeface="JetBrains Mono" pitchFamily="34" charset="-120"/>
              </a:rPr>
              <a:t>2</a:t>
            </a:r>
            <a:endParaRPr lang="en-US" sz="1500" dirty="0"/>
          </a:p>
        </p:txBody>
      </p:sp>
      <p:sp>
        <p:nvSpPr>
          <p:cNvPr id="41" name="Text 38"/>
          <p:cNvSpPr txBox="1"/>
          <p:nvPr/>
        </p:nvSpPr>
        <p:spPr>
          <a:xfrm>
            <a:off x="4846320" y="3977640"/>
            <a:ext cx="868680" cy="45720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b="1" dirty="0">
                <a:solidFill>
                  <a:srgbClr val="8C2F23"/>
                </a:solidFill>
                <a:latin typeface="JetBrains Mono" pitchFamily="34" charset="0"/>
                <a:ea typeface="JetBrains Mono" pitchFamily="34" charset="-122"/>
                <a:cs typeface="JetBrains Mono" pitchFamily="34" charset="-120"/>
              </a:rPr>
              <a:t>3</a:t>
            </a:r>
            <a:endParaRPr lang="en-US" sz="1500" dirty="0"/>
          </a:p>
        </p:txBody>
      </p:sp>
      <p:sp>
        <p:nvSpPr>
          <p:cNvPr id="42" name="Text 39"/>
          <p:cNvSpPr txBox="1"/>
          <p:nvPr/>
        </p:nvSpPr>
        <p:spPr>
          <a:xfrm>
            <a:off x="5715000" y="3977640"/>
            <a:ext cx="868680" cy="45720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b="1" dirty="0">
                <a:solidFill>
                  <a:srgbClr val="8C2F23"/>
                </a:solidFill>
                <a:latin typeface="JetBrains Mono" pitchFamily="34" charset="0"/>
                <a:ea typeface="JetBrains Mono" pitchFamily="34" charset="-122"/>
                <a:cs typeface="JetBrains Mono" pitchFamily="34" charset="-120"/>
              </a:rPr>
              <a:t>4</a:t>
            </a:r>
            <a:endParaRPr lang="en-US" sz="1500" dirty="0"/>
          </a:p>
        </p:txBody>
      </p:sp>
      <p:sp>
        <p:nvSpPr>
          <p:cNvPr id="43" name="Text 40"/>
          <p:cNvSpPr txBox="1"/>
          <p:nvPr/>
        </p:nvSpPr>
        <p:spPr>
          <a:xfrm>
            <a:off x="6583680" y="3977640"/>
            <a:ext cx="868680" cy="45720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b="1" dirty="0">
                <a:solidFill>
                  <a:srgbClr val="8C2F23"/>
                </a:solidFill>
                <a:latin typeface="JetBrains Mono" pitchFamily="34" charset="0"/>
                <a:ea typeface="JetBrains Mono" pitchFamily="34" charset="-122"/>
                <a:cs typeface="JetBrains Mono" pitchFamily="34" charset="-120"/>
              </a:rPr>
              <a:t>5</a:t>
            </a:r>
            <a:endParaRPr lang="en-US" sz="1500" dirty="0"/>
          </a:p>
        </p:txBody>
      </p:sp>
      <p:sp>
        <p:nvSpPr>
          <p:cNvPr id="44" name="Text 41"/>
          <p:cNvSpPr txBox="1"/>
          <p:nvPr/>
        </p:nvSpPr>
        <p:spPr>
          <a:xfrm>
            <a:off x="7452360" y="3977640"/>
            <a:ext cx="868680" cy="45720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b="1" dirty="0">
                <a:solidFill>
                  <a:srgbClr val="8C2F23"/>
                </a:solidFill>
                <a:latin typeface="JetBrains Mono" pitchFamily="34" charset="0"/>
                <a:ea typeface="JetBrains Mono" pitchFamily="34" charset="-122"/>
                <a:cs typeface="JetBrains Mono" pitchFamily="34" charset="-120"/>
              </a:rPr>
              <a:t>6</a:t>
            </a:r>
            <a:endParaRPr lang="en-US" sz="1500" dirty="0"/>
          </a:p>
        </p:txBody>
      </p:sp>
      <p:sp>
        <p:nvSpPr>
          <p:cNvPr id="45" name="Text 42"/>
          <p:cNvSpPr txBox="1"/>
          <p:nvPr/>
        </p:nvSpPr>
        <p:spPr>
          <a:xfrm>
            <a:off x="548640" y="4754880"/>
            <a:ext cx="1645920" cy="438912"/>
          </a:xfrm>
          <a:prstGeom prst="rect">
            <a:avLst/>
          </a:prstGeom>
          <a:noFill/>
          <a:ln/>
        </p:spPr>
        <p:txBody>
          <a:bodyPr wrap="square" lIns="0" tIns="0" rIns="0" bIns="0" rtlCol="0" anchor="ctr"/>
          <a:lstStyle/>
          <a:p>
            <a:pPr indent="0" marL="0">
              <a:buNone/>
            </a:pPr>
            <a:r>
              <a:rPr lang="en-US" sz="1100" dirty="0">
                <a:solidFill>
                  <a:srgbClr val="6E6657"/>
                </a:solidFill>
                <a:latin typeface="JetBrains Mono" pitchFamily="34" charset="0"/>
                <a:ea typeface="JetBrains Mono" pitchFamily="34" charset="-122"/>
                <a:cs typeface="JetBrains Mono" pitchFamily="34" charset="-120"/>
              </a:rPr>
              <a:t>SALIDA B</a:t>
            </a:r>
            <a:endParaRPr lang="en-US" sz="1100" dirty="0"/>
          </a:p>
        </p:txBody>
      </p:sp>
      <p:sp>
        <p:nvSpPr>
          <p:cNvPr id="46" name="Text 43"/>
          <p:cNvSpPr txBox="1"/>
          <p:nvPr/>
        </p:nvSpPr>
        <p:spPr>
          <a:xfrm>
            <a:off x="2240280" y="4754880"/>
            <a:ext cx="868680" cy="438912"/>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b="1" dirty="0">
                <a:solidFill>
                  <a:srgbClr val="2F5D50"/>
                </a:solidFill>
                <a:latin typeface="JetBrains Mono" pitchFamily="34" charset="0"/>
                <a:ea typeface="JetBrains Mono" pitchFamily="34" charset="-122"/>
                <a:cs typeface="JetBrains Mono" pitchFamily="34" charset="-120"/>
              </a:rPr>
              <a:t>1</a:t>
            </a:r>
            <a:endParaRPr lang="en-US" sz="1500" dirty="0"/>
          </a:p>
        </p:txBody>
      </p:sp>
      <p:sp>
        <p:nvSpPr>
          <p:cNvPr id="47" name="Text 44"/>
          <p:cNvSpPr txBox="1"/>
          <p:nvPr/>
        </p:nvSpPr>
        <p:spPr>
          <a:xfrm>
            <a:off x="3108960" y="4754880"/>
            <a:ext cx="868680" cy="438912"/>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b="1" dirty="0">
                <a:solidFill>
                  <a:srgbClr val="2F5D50"/>
                </a:solidFill>
                <a:latin typeface="JetBrains Mono" pitchFamily="34" charset="0"/>
                <a:ea typeface="JetBrains Mono" pitchFamily="34" charset="-122"/>
                <a:cs typeface="JetBrains Mono" pitchFamily="34" charset="-120"/>
              </a:rPr>
              <a:t>19</a:t>
            </a:r>
            <a:endParaRPr lang="en-US" sz="1500" dirty="0"/>
          </a:p>
        </p:txBody>
      </p:sp>
      <p:sp>
        <p:nvSpPr>
          <p:cNvPr id="48" name="Text 45"/>
          <p:cNvSpPr txBox="1"/>
          <p:nvPr/>
        </p:nvSpPr>
        <p:spPr>
          <a:xfrm>
            <a:off x="3977640" y="4754880"/>
            <a:ext cx="868680" cy="438912"/>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b="1" dirty="0">
                <a:solidFill>
                  <a:srgbClr val="2F5D50"/>
                </a:solidFill>
                <a:latin typeface="JetBrains Mono" pitchFamily="34" charset="0"/>
                <a:ea typeface="JetBrains Mono" pitchFamily="34" charset="-122"/>
                <a:cs typeface="JetBrains Mono" pitchFamily="34" charset="-120"/>
              </a:rPr>
              <a:t>20</a:t>
            </a:r>
            <a:endParaRPr lang="en-US" sz="1500" dirty="0"/>
          </a:p>
        </p:txBody>
      </p:sp>
      <p:sp>
        <p:nvSpPr>
          <p:cNvPr id="49" name="Text 46"/>
          <p:cNvSpPr txBox="1"/>
          <p:nvPr/>
        </p:nvSpPr>
        <p:spPr>
          <a:xfrm>
            <a:off x="4846320" y="4754880"/>
            <a:ext cx="868680" cy="438912"/>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b="1" dirty="0">
                <a:solidFill>
                  <a:srgbClr val="2F5D50"/>
                </a:solidFill>
                <a:latin typeface="JetBrains Mono" pitchFamily="34" charset="0"/>
                <a:ea typeface="JetBrains Mono" pitchFamily="34" charset="-122"/>
                <a:cs typeface="JetBrains Mono" pitchFamily="34" charset="-120"/>
              </a:rPr>
              <a:t>40</a:t>
            </a:r>
            <a:endParaRPr lang="en-US" sz="1500" dirty="0"/>
          </a:p>
        </p:txBody>
      </p:sp>
      <p:sp>
        <p:nvSpPr>
          <p:cNvPr id="50" name="Text 47"/>
          <p:cNvSpPr txBox="1"/>
          <p:nvPr/>
        </p:nvSpPr>
        <p:spPr>
          <a:xfrm>
            <a:off x="5715000" y="4754880"/>
            <a:ext cx="868680" cy="438912"/>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b="1" dirty="0">
                <a:solidFill>
                  <a:srgbClr val="2F5D50"/>
                </a:solidFill>
                <a:latin typeface="JetBrains Mono" pitchFamily="34" charset="0"/>
                <a:ea typeface="JetBrains Mono" pitchFamily="34" charset="-122"/>
                <a:cs typeface="JetBrains Mono" pitchFamily="34" charset="-120"/>
              </a:rPr>
              <a:t>50</a:t>
            </a:r>
            <a:endParaRPr lang="en-US" sz="1500" dirty="0"/>
          </a:p>
        </p:txBody>
      </p:sp>
      <p:sp>
        <p:nvSpPr>
          <p:cNvPr id="51" name="Text 48"/>
          <p:cNvSpPr txBox="1"/>
          <p:nvPr/>
        </p:nvSpPr>
        <p:spPr>
          <a:xfrm>
            <a:off x="6583680" y="4754880"/>
            <a:ext cx="868680" cy="438912"/>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b="1" dirty="0">
                <a:solidFill>
                  <a:srgbClr val="2F5D50"/>
                </a:solidFill>
                <a:latin typeface="JetBrains Mono" pitchFamily="34" charset="0"/>
                <a:ea typeface="JetBrains Mono" pitchFamily="34" charset="-122"/>
                <a:cs typeface="JetBrains Mono" pitchFamily="34" charset="-120"/>
              </a:rPr>
              <a:t>99</a:t>
            </a:r>
            <a:endParaRPr lang="en-US" sz="1500" dirty="0"/>
          </a:p>
        </p:txBody>
      </p:sp>
      <p:sp>
        <p:nvSpPr>
          <p:cNvPr id="52" name="Text 49"/>
          <p:cNvSpPr txBox="1"/>
          <p:nvPr/>
        </p:nvSpPr>
        <p:spPr>
          <a:xfrm>
            <a:off x="7452360" y="4754880"/>
            <a:ext cx="868680" cy="438912"/>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b="1" dirty="0">
                <a:solidFill>
                  <a:srgbClr val="2F5D50"/>
                </a:solidFill>
                <a:latin typeface="JetBrains Mono" pitchFamily="34" charset="0"/>
                <a:ea typeface="JetBrains Mono" pitchFamily="34" charset="-122"/>
                <a:cs typeface="JetBrains Mono" pitchFamily="34" charset="-120"/>
              </a:rPr>
              <a:t>100</a:t>
            </a:r>
            <a:endParaRPr lang="en-US" sz="1500" dirty="0"/>
          </a:p>
        </p:txBody>
      </p:sp>
      <p:sp>
        <p:nvSpPr>
          <p:cNvPr id="53" name="Text 50"/>
          <p:cNvSpPr txBox="1"/>
          <p:nvPr/>
        </p:nvSpPr>
        <p:spPr>
          <a:xfrm>
            <a:off x="2240280" y="5230368"/>
            <a:ext cx="868680"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B[0]</a:t>
            </a:r>
            <a:endParaRPr lang="en-US" sz="1000" dirty="0"/>
          </a:p>
        </p:txBody>
      </p:sp>
      <p:sp>
        <p:nvSpPr>
          <p:cNvPr id="54" name="Text 51"/>
          <p:cNvSpPr txBox="1"/>
          <p:nvPr/>
        </p:nvSpPr>
        <p:spPr>
          <a:xfrm>
            <a:off x="3108960" y="5230368"/>
            <a:ext cx="868680"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B[1]</a:t>
            </a:r>
            <a:endParaRPr lang="en-US" sz="1000" dirty="0"/>
          </a:p>
        </p:txBody>
      </p:sp>
      <p:sp>
        <p:nvSpPr>
          <p:cNvPr id="55" name="Text 52"/>
          <p:cNvSpPr txBox="1"/>
          <p:nvPr/>
        </p:nvSpPr>
        <p:spPr>
          <a:xfrm>
            <a:off x="3977640" y="5230368"/>
            <a:ext cx="868680"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B[2]</a:t>
            </a:r>
            <a:endParaRPr lang="en-US" sz="1000" dirty="0"/>
          </a:p>
        </p:txBody>
      </p:sp>
      <p:sp>
        <p:nvSpPr>
          <p:cNvPr id="56" name="Text 53"/>
          <p:cNvSpPr txBox="1"/>
          <p:nvPr/>
        </p:nvSpPr>
        <p:spPr>
          <a:xfrm>
            <a:off x="4846320" y="5230368"/>
            <a:ext cx="868680"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B[3]</a:t>
            </a:r>
            <a:endParaRPr lang="en-US" sz="1000" dirty="0"/>
          </a:p>
        </p:txBody>
      </p:sp>
      <p:sp>
        <p:nvSpPr>
          <p:cNvPr id="57" name="Text 54"/>
          <p:cNvSpPr txBox="1"/>
          <p:nvPr/>
        </p:nvSpPr>
        <p:spPr>
          <a:xfrm>
            <a:off x="5715000" y="5230368"/>
            <a:ext cx="868680"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B[4]</a:t>
            </a:r>
            <a:endParaRPr lang="en-US" sz="1000" dirty="0"/>
          </a:p>
        </p:txBody>
      </p:sp>
      <p:sp>
        <p:nvSpPr>
          <p:cNvPr id="58" name="Text 55"/>
          <p:cNvSpPr txBox="1"/>
          <p:nvPr/>
        </p:nvSpPr>
        <p:spPr>
          <a:xfrm>
            <a:off x="6583680" y="5230368"/>
            <a:ext cx="868680"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B[5]</a:t>
            </a:r>
            <a:endParaRPr lang="en-US" sz="1000" dirty="0"/>
          </a:p>
        </p:txBody>
      </p:sp>
      <p:sp>
        <p:nvSpPr>
          <p:cNvPr id="59" name="Text 56"/>
          <p:cNvSpPr txBox="1"/>
          <p:nvPr/>
        </p:nvSpPr>
        <p:spPr>
          <a:xfrm>
            <a:off x="7452360" y="5230368"/>
            <a:ext cx="868680"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B[6]</a:t>
            </a:r>
            <a:endParaRPr lang="en-US" sz="1000" dirty="0"/>
          </a:p>
        </p:txBody>
      </p:sp>
      <p:sp>
        <p:nvSpPr>
          <p:cNvPr id="60" name="Text 57"/>
          <p:cNvSpPr txBox="1"/>
          <p:nvPr/>
        </p:nvSpPr>
        <p:spPr>
          <a:xfrm>
            <a:off x="548640" y="5669280"/>
            <a:ext cx="7772400" cy="594360"/>
          </a:xfrm>
          <a:prstGeom prst="rect">
            <a:avLst/>
          </a:prstGeom>
          <a:noFill/>
          <a:ln/>
        </p:spPr>
        <p:txBody>
          <a:bodyPr wrap="square" lIns="0" tIns="0" rIns="0" bIns="0" rtlCol="0" anchor="t"/>
          <a:lstStyle/>
          <a:p>
            <a:pPr indent="0" marL="0">
              <a:buNone/>
            </a:pPr>
            <a:r>
              <a:rPr lang="en-US" sz="1300" dirty="0">
                <a:solidFill>
                  <a:srgbClr val="1F1B16"/>
                </a:solidFill>
                <a:latin typeface="IBM Plex Sans" pitchFamily="34" charset="0"/>
                <a:ea typeface="IBM Plex Sans" pitchFamily="34" charset="-122"/>
                <a:cs typeface="IBM Plex Sans" pitchFamily="34" charset="-120"/>
              </a:rPr>
              <a:t>Solo se muestran los siete índices ocupados: las otras 94 casillas de C[0..100] valen cero y se recorren igual, dos veces. Ese es el costo Θ(k).</a:t>
            </a:r>
            <a:endParaRPr lang="en-US" sz="1300" dirty="0"/>
          </a:p>
        </p:txBody>
      </p:sp>
      <p:sp>
        <p:nvSpPr>
          <p:cNvPr id="61" name="Shape 58"/>
          <p:cNvSpPr/>
          <p:nvPr/>
        </p:nvSpPr>
        <p:spPr>
          <a:xfrm>
            <a:off x="8641080" y="1783080"/>
            <a:ext cx="0" cy="4434840"/>
          </a:xfrm>
          <a:prstGeom prst="line">
            <a:avLst/>
          </a:prstGeom>
          <a:noFill/>
          <a:ln w="6350">
            <a:solidFill>
              <a:srgbClr val="B5AD9B"/>
            </a:solidFill>
            <a:prstDash val="solid"/>
          </a:ln>
        </p:spPr>
      </p:sp>
      <p:sp>
        <p:nvSpPr>
          <p:cNvPr id="62" name="Text 59"/>
          <p:cNvSpPr txBox="1"/>
          <p:nvPr/>
        </p:nvSpPr>
        <p:spPr>
          <a:xfrm>
            <a:off x="8915400" y="1783080"/>
            <a:ext cx="2743200" cy="365760"/>
          </a:xfrm>
          <a:prstGeom prst="rect">
            <a:avLst/>
          </a:prstGeom>
          <a:noFill/>
          <a:ln/>
        </p:spPr>
        <p:txBody>
          <a:bodyPr wrap="square" lIns="0" tIns="0" rIns="0" bIns="0" rtlCol="0" anchor="t"/>
          <a:lstStyle/>
          <a:p>
            <a:pPr indent="0" marL="0">
              <a:buNone/>
            </a:pPr>
            <a:r>
              <a:rPr lang="en-US" sz="1100" spc="100" kern="0" dirty="0">
                <a:solidFill>
                  <a:srgbClr val="8C2F23"/>
                </a:solidFill>
                <a:latin typeface="JetBrains Mono" pitchFamily="34" charset="0"/>
                <a:ea typeface="JetBrains Mono" pitchFamily="34" charset="-122"/>
                <a:cs typeface="JetBrains Mono" pitchFamily="34" charset="-120"/>
              </a:rPr>
              <a:t>COLOCAR, DE DERECHA A IZQUIERDA</a:t>
            </a:r>
            <a:endParaRPr lang="en-US" sz="1100" dirty="0"/>
          </a:p>
        </p:txBody>
      </p:sp>
      <p:sp>
        <p:nvSpPr>
          <p:cNvPr id="63" name="Shape 60"/>
          <p:cNvSpPr/>
          <p:nvPr/>
        </p:nvSpPr>
        <p:spPr>
          <a:xfrm>
            <a:off x="8915400" y="2240280"/>
            <a:ext cx="2724912" cy="0"/>
          </a:xfrm>
          <a:prstGeom prst="line">
            <a:avLst/>
          </a:prstGeom>
          <a:noFill/>
          <a:ln w="6350">
            <a:solidFill>
              <a:srgbClr val="B5AD9B"/>
            </a:solidFill>
            <a:prstDash val="solid"/>
          </a:ln>
        </p:spPr>
      </p:sp>
      <p:sp>
        <p:nvSpPr>
          <p:cNvPr id="64" name="Text 61"/>
          <p:cNvSpPr txBox="1"/>
          <p:nvPr/>
        </p:nvSpPr>
        <p:spPr>
          <a:xfrm>
            <a:off x="8915400" y="2295144"/>
            <a:ext cx="2724912" cy="457200"/>
          </a:xfrm>
          <a:prstGeom prst="rect">
            <a:avLst/>
          </a:prstGeom>
          <a:noFill/>
          <a:ln/>
        </p:spPr>
        <p:txBody>
          <a:bodyPr wrap="square" lIns="0" tIns="0" rIns="0" bIns="0" rtlCol="0" anchor="t"/>
          <a:lstStyle/>
          <a:p>
            <a:pPr indent="0" marL="0">
              <a:buNone/>
            </a:pPr>
            <a:r>
              <a:rPr lang="en-US" sz="1200" b="1" dirty="0">
                <a:solidFill>
                  <a:srgbClr val="1F1B16"/>
                </a:solidFill>
                <a:latin typeface="JetBrains Mono" pitchFamily="34" charset="0"/>
                <a:ea typeface="JetBrains Mono" pitchFamily="34" charset="-122"/>
                <a:cs typeface="JetBrains Mono" pitchFamily="34" charset="-120"/>
              </a:rPr>
              <a:t>A[6]=99</a:t>
            </a:r>
            <a:endParaRPr lang="en-US" sz="1200" dirty="0"/>
          </a:p>
          <a:p>
            <a:pPr indent="0" marL="0">
              <a:buNone/>
            </a:pPr>
            <a:r>
              <a:rPr lang="en-US" sz="1200" dirty="0">
                <a:solidFill>
                  <a:srgbClr val="2F5D50"/>
                </a:solidFill>
                <a:latin typeface="JetBrains Mono" pitchFamily="34" charset="0"/>
                <a:ea typeface="JetBrains Mono" pitchFamily="34" charset="-122"/>
                <a:cs typeface="JetBrains Mono" pitchFamily="34" charset="-120"/>
              </a:rPr>
              <a:t>C[99]=5 → B[5]</a:t>
            </a:r>
            <a:endParaRPr lang="en-US" sz="1200" dirty="0"/>
          </a:p>
        </p:txBody>
      </p:sp>
      <p:sp>
        <p:nvSpPr>
          <p:cNvPr id="65" name="Shape 62"/>
          <p:cNvSpPr/>
          <p:nvPr/>
        </p:nvSpPr>
        <p:spPr>
          <a:xfrm>
            <a:off x="8915400" y="2788920"/>
            <a:ext cx="2724912" cy="0"/>
          </a:xfrm>
          <a:prstGeom prst="line">
            <a:avLst/>
          </a:prstGeom>
          <a:noFill/>
          <a:ln w="6350">
            <a:solidFill>
              <a:srgbClr val="B5AD9B"/>
            </a:solidFill>
            <a:prstDash val="solid"/>
          </a:ln>
        </p:spPr>
      </p:sp>
      <p:sp>
        <p:nvSpPr>
          <p:cNvPr id="66" name="Text 63"/>
          <p:cNvSpPr txBox="1"/>
          <p:nvPr/>
        </p:nvSpPr>
        <p:spPr>
          <a:xfrm>
            <a:off x="8915400" y="2843784"/>
            <a:ext cx="2724912" cy="457200"/>
          </a:xfrm>
          <a:prstGeom prst="rect">
            <a:avLst/>
          </a:prstGeom>
          <a:noFill/>
          <a:ln/>
        </p:spPr>
        <p:txBody>
          <a:bodyPr wrap="square" lIns="0" tIns="0" rIns="0" bIns="0" rtlCol="0" anchor="t"/>
          <a:lstStyle/>
          <a:p>
            <a:pPr indent="0" marL="0">
              <a:buNone/>
            </a:pPr>
            <a:r>
              <a:rPr lang="en-US" sz="1200" b="1" dirty="0">
                <a:solidFill>
                  <a:srgbClr val="1F1B16"/>
                </a:solidFill>
                <a:latin typeface="JetBrains Mono" pitchFamily="34" charset="0"/>
                <a:ea typeface="JetBrains Mono" pitchFamily="34" charset="-122"/>
                <a:cs typeface="JetBrains Mono" pitchFamily="34" charset="-120"/>
              </a:rPr>
              <a:t>A[5]=40</a:t>
            </a:r>
            <a:endParaRPr lang="en-US" sz="1200" dirty="0"/>
          </a:p>
          <a:p>
            <a:pPr indent="0" marL="0">
              <a:buNone/>
            </a:pPr>
            <a:r>
              <a:rPr lang="en-US" sz="1200" dirty="0">
                <a:solidFill>
                  <a:srgbClr val="2F5D50"/>
                </a:solidFill>
                <a:latin typeface="JetBrains Mono" pitchFamily="34" charset="0"/>
                <a:ea typeface="JetBrains Mono" pitchFamily="34" charset="-122"/>
                <a:cs typeface="JetBrains Mono" pitchFamily="34" charset="-120"/>
              </a:rPr>
              <a:t>C[40]=3 → B[3]</a:t>
            </a:r>
            <a:endParaRPr lang="en-US" sz="1200" dirty="0"/>
          </a:p>
        </p:txBody>
      </p:sp>
      <p:sp>
        <p:nvSpPr>
          <p:cNvPr id="67" name="Shape 64"/>
          <p:cNvSpPr/>
          <p:nvPr/>
        </p:nvSpPr>
        <p:spPr>
          <a:xfrm>
            <a:off x="8915400" y="3337560"/>
            <a:ext cx="2724912" cy="0"/>
          </a:xfrm>
          <a:prstGeom prst="line">
            <a:avLst/>
          </a:prstGeom>
          <a:noFill/>
          <a:ln w="6350">
            <a:solidFill>
              <a:srgbClr val="B5AD9B"/>
            </a:solidFill>
            <a:prstDash val="solid"/>
          </a:ln>
        </p:spPr>
      </p:sp>
      <p:sp>
        <p:nvSpPr>
          <p:cNvPr id="68" name="Text 65"/>
          <p:cNvSpPr txBox="1"/>
          <p:nvPr/>
        </p:nvSpPr>
        <p:spPr>
          <a:xfrm>
            <a:off x="8915400" y="3392424"/>
            <a:ext cx="2724912" cy="457200"/>
          </a:xfrm>
          <a:prstGeom prst="rect">
            <a:avLst/>
          </a:prstGeom>
          <a:noFill/>
          <a:ln/>
        </p:spPr>
        <p:txBody>
          <a:bodyPr wrap="square" lIns="0" tIns="0" rIns="0" bIns="0" rtlCol="0" anchor="t"/>
          <a:lstStyle/>
          <a:p>
            <a:pPr indent="0" marL="0">
              <a:buNone/>
            </a:pPr>
            <a:r>
              <a:rPr lang="en-US" sz="1200" b="1" dirty="0">
                <a:solidFill>
                  <a:srgbClr val="1F1B16"/>
                </a:solidFill>
                <a:latin typeface="JetBrains Mono" pitchFamily="34" charset="0"/>
                <a:ea typeface="JetBrains Mono" pitchFamily="34" charset="-122"/>
                <a:cs typeface="JetBrains Mono" pitchFamily="34" charset="-120"/>
              </a:rPr>
              <a:t>A[4]=19</a:t>
            </a:r>
            <a:endParaRPr lang="en-US" sz="1200" dirty="0"/>
          </a:p>
          <a:p>
            <a:pPr indent="0" marL="0">
              <a:buNone/>
            </a:pPr>
            <a:r>
              <a:rPr lang="en-US" sz="1200" dirty="0">
                <a:solidFill>
                  <a:srgbClr val="2F5D50"/>
                </a:solidFill>
                <a:latin typeface="JetBrains Mono" pitchFamily="34" charset="0"/>
                <a:ea typeface="JetBrains Mono" pitchFamily="34" charset="-122"/>
                <a:cs typeface="JetBrains Mono" pitchFamily="34" charset="-120"/>
              </a:rPr>
              <a:t>C[19]=1 → B[1]</a:t>
            </a:r>
            <a:endParaRPr lang="en-US" sz="1200" dirty="0"/>
          </a:p>
        </p:txBody>
      </p:sp>
      <p:sp>
        <p:nvSpPr>
          <p:cNvPr id="69" name="Shape 66"/>
          <p:cNvSpPr/>
          <p:nvPr/>
        </p:nvSpPr>
        <p:spPr>
          <a:xfrm>
            <a:off x="8915400" y="3886200"/>
            <a:ext cx="2724912" cy="0"/>
          </a:xfrm>
          <a:prstGeom prst="line">
            <a:avLst/>
          </a:prstGeom>
          <a:noFill/>
          <a:ln w="6350">
            <a:solidFill>
              <a:srgbClr val="B5AD9B"/>
            </a:solidFill>
            <a:prstDash val="solid"/>
          </a:ln>
        </p:spPr>
      </p:sp>
      <p:sp>
        <p:nvSpPr>
          <p:cNvPr id="70" name="Text 67"/>
          <p:cNvSpPr txBox="1"/>
          <p:nvPr/>
        </p:nvSpPr>
        <p:spPr>
          <a:xfrm>
            <a:off x="8915400" y="3941064"/>
            <a:ext cx="2724912" cy="457200"/>
          </a:xfrm>
          <a:prstGeom prst="rect">
            <a:avLst/>
          </a:prstGeom>
          <a:noFill/>
          <a:ln/>
        </p:spPr>
        <p:txBody>
          <a:bodyPr wrap="square" lIns="0" tIns="0" rIns="0" bIns="0" rtlCol="0" anchor="t"/>
          <a:lstStyle/>
          <a:p>
            <a:pPr indent="0" marL="0">
              <a:buNone/>
            </a:pPr>
            <a:r>
              <a:rPr lang="en-US" sz="1200" b="1" dirty="0">
                <a:solidFill>
                  <a:srgbClr val="1F1B16"/>
                </a:solidFill>
                <a:latin typeface="JetBrains Mono" pitchFamily="34" charset="0"/>
                <a:ea typeface="JetBrains Mono" pitchFamily="34" charset="-122"/>
                <a:cs typeface="JetBrains Mono" pitchFamily="34" charset="-120"/>
              </a:rPr>
              <a:t>A[3]=20</a:t>
            </a:r>
            <a:endParaRPr lang="en-US" sz="1200" dirty="0"/>
          </a:p>
          <a:p>
            <a:pPr indent="0" marL="0">
              <a:buNone/>
            </a:pPr>
            <a:r>
              <a:rPr lang="en-US" sz="1200" dirty="0">
                <a:solidFill>
                  <a:srgbClr val="2F5D50"/>
                </a:solidFill>
                <a:latin typeface="JetBrains Mono" pitchFamily="34" charset="0"/>
                <a:ea typeface="JetBrains Mono" pitchFamily="34" charset="-122"/>
                <a:cs typeface="JetBrains Mono" pitchFamily="34" charset="-120"/>
              </a:rPr>
              <a:t>C[20]=2 → B[2]</a:t>
            </a:r>
            <a:endParaRPr lang="en-US" sz="1200" dirty="0"/>
          </a:p>
        </p:txBody>
      </p:sp>
      <p:sp>
        <p:nvSpPr>
          <p:cNvPr id="71" name="Shape 68"/>
          <p:cNvSpPr/>
          <p:nvPr/>
        </p:nvSpPr>
        <p:spPr>
          <a:xfrm>
            <a:off x="8915400" y="4434840"/>
            <a:ext cx="2724912" cy="0"/>
          </a:xfrm>
          <a:prstGeom prst="line">
            <a:avLst/>
          </a:prstGeom>
          <a:noFill/>
          <a:ln w="6350">
            <a:solidFill>
              <a:srgbClr val="B5AD9B"/>
            </a:solidFill>
            <a:prstDash val="solid"/>
          </a:ln>
        </p:spPr>
      </p:sp>
      <p:sp>
        <p:nvSpPr>
          <p:cNvPr id="72" name="Text 69"/>
          <p:cNvSpPr txBox="1"/>
          <p:nvPr/>
        </p:nvSpPr>
        <p:spPr>
          <a:xfrm>
            <a:off x="8915400" y="4489704"/>
            <a:ext cx="2724912" cy="457200"/>
          </a:xfrm>
          <a:prstGeom prst="rect">
            <a:avLst/>
          </a:prstGeom>
          <a:noFill/>
          <a:ln/>
        </p:spPr>
        <p:txBody>
          <a:bodyPr wrap="square" lIns="0" tIns="0" rIns="0" bIns="0" rtlCol="0" anchor="t"/>
          <a:lstStyle/>
          <a:p>
            <a:pPr indent="0" marL="0">
              <a:buNone/>
            </a:pPr>
            <a:r>
              <a:rPr lang="en-US" sz="1200" b="1" dirty="0">
                <a:solidFill>
                  <a:srgbClr val="1F1B16"/>
                </a:solidFill>
                <a:latin typeface="JetBrains Mono" pitchFamily="34" charset="0"/>
                <a:ea typeface="JetBrains Mono" pitchFamily="34" charset="-122"/>
                <a:cs typeface="JetBrains Mono" pitchFamily="34" charset="-120"/>
              </a:rPr>
              <a:t>A[2]=100</a:t>
            </a:r>
            <a:endParaRPr lang="en-US" sz="1200" dirty="0"/>
          </a:p>
          <a:p>
            <a:pPr indent="0" marL="0">
              <a:buNone/>
            </a:pPr>
            <a:r>
              <a:rPr lang="en-US" sz="1200" dirty="0">
                <a:solidFill>
                  <a:srgbClr val="2F5D50"/>
                </a:solidFill>
                <a:latin typeface="JetBrains Mono" pitchFamily="34" charset="0"/>
                <a:ea typeface="JetBrains Mono" pitchFamily="34" charset="-122"/>
                <a:cs typeface="JetBrains Mono" pitchFamily="34" charset="-120"/>
              </a:rPr>
              <a:t>C[100]=6 → B[6]</a:t>
            </a:r>
            <a:endParaRPr lang="en-US" sz="1200" dirty="0"/>
          </a:p>
        </p:txBody>
      </p:sp>
      <p:sp>
        <p:nvSpPr>
          <p:cNvPr id="73" name="Shape 70"/>
          <p:cNvSpPr/>
          <p:nvPr/>
        </p:nvSpPr>
        <p:spPr>
          <a:xfrm>
            <a:off x="8915400" y="4983480"/>
            <a:ext cx="2724912" cy="0"/>
          </a:xfrm>
          <a:prstGeom prst="line">
            <a:avLst/>
          </a:prstGeom>
          <a:noFill/>
          <a:ln w="6350">
            <a:solidFill>
              <a:srgbClr val="B5AD9B"/>
            </a:solidFill>
            <a:prstDash val="solid"/>
          </a:ln>
        </p:spPr>
      </p:sp>
      <p:sp>
        <p:nvSpPr>
          <p:cNvPr id="74" name="Text 71"/>
          <p:cNvSpPr txBox="1"/>
          <p:nvPr/>
        </p:nvSpPr>
        <p:spPr>
          <a:xfrm>
            <a:off x="8915400" y="5038344"/>
            <a:ext cx="2724912" cy="457200"/>
          </a:xfrm>
          <a:prstGeom prst="rect">
            <a:avLst/>
          </a:prstGeom>
          <a:noFill/>
          <a:ln/>
        </p:spPr>
        <p:txBody>
          <a:bodyPr wrap="square" lIns="0" tIns="0" rIns="0" bIns="0" rtlCol="0" anchor="t"/>
          <a:lstStyle/>
          <a:p>
            <a:pPr indent="0" marL="0">
              <a:buNone/>
            </a:pPr>
            <a:r>
              <a:rPr lang="en-US" sz="1200" b="1" dirty="0">
                <a:solidFill>
                  <a:srgbClr val="1F1B16"/>
                </a:solidFill>
                <a:latin typeface="JetBrains Mono" pitchFamily="34" charset="0"/>
                <a:ea typeface="JetBrains Mono" pitchFamily="34" charset="-122"/>
                <a:cs typeface="JetBrains Mono" pitchFamily="34" charset="-120"/>
              </a:rPr>
              <a:t>A[1]=1</a:t>
            </a:r>
            <a:endParaRPr lang="en-US" sz="1200" dirty="0"/>
          </a:p>
          <a:p>
            <a:pPr indent="0" marL="0">
              <a:buNone/>
            </a:pPr>
            <a:r>
              <a:rPr lang="en-US" sz="1200" dirty="0">
                <a:solidFill>
                  <a:srgbClr val="2F5D50"/>
                </a:solidFill>
                <a:latin typeface="JetBrains Mono" pitchFamily="34" charset="0"/>
                <a:ea typeface="JetBrains Mono" pitchFamily="34" charset="-122"/>
                <a:cs typeface="JetBrains Mono" pitchFamily="34" charset="-120"/>
              </a:rPr>
              <a:t>C[1]=0 → B[0]</a:t>
            </a:r>
            <a:endParaRPr lang="en-US" sz="1200" dirty="0"/>
          </a:p>
        </p:txBody>
      </p:sp>
      <p:sp>
        <p:nvSpPr>
          <p:cNvPr id="75" name="Shape 72"/>
          <p:cNvSpPr/>
          <p:nvPr/>
        </p:nvSpPr>
        <p:spPr>
          <a:xfrm>
            <a:off x="8915400" y="5532120"/>
            <a:ext cx="2724912" cy="0"/>
          </a:xfrm>
          <a:prstGeom prst="line">
            <a:avLst/>
          </a:prstGeom>
          <a:noFill/>
          <a:ln w="6350">
            <a:solidFill>
              <a:srgbClr val="B5AD9B"/>
            </a:solidFill>
            <a:prstDash val="solid"/>
          </a:ln>
        </p:spPr>
      </p:sp>
      <p:sp>
        <p:nvSpPr>
          <p:cNvPr id="76" name="Text 73"/>
          <p:cNvSpPr txBox="1"/>
          <p:nvPr/>
        </p:nvSpPr>
        <p:spPr>
          <a:xfrm>
            <a:off x="8915400" y="5586984"/>
            <a:ext cx="2724912" cy="457200"/>
          </a:xfrm>
          <a:prstGeom prst="rect">
            <a:avLst/>
          </a:prstGeom>
          <a:noFill/>
          <a:ln/>
        </p:spPr>
        <p:txBody>
          <a:bodyPr wrap="square" lIns="0" tIns="0" rIns="0" bIns="0" rtlCol="0" anchor="t"/>
          <a:lstStyle/>
          <a:p>
            <a:pPr indent="0" marL="0">
              <a:buNone/>
            </a:pPr>
            <a:r>
              <a:rPr lang="en-US" sz="1200" b="1" dirty="0">
                <a:solidFill>
                  <a:srgbClr val="1F1B16"/>
                </a:solidFill>
                <a:latin typeface="JetBrains Mono" pitchFamily="34" charset="0"/>
                <a:ea typeface="JetBrains Mono" pitchFamily="34" charset="-122"/>
                <a:cs typeface="JetBrains Mono" pitchFamily="34" charset="-120"/>
              </a:rPr>
              <a:t>A[0]=50</a:t>
            </a:r>
            <a:endParaRPr lang="en-US" sz="1200" dirty="0"/>
          </a:p>
          <a:p>
            <a:pPr indent="0" marL="0">
              <a:buNone/>
            </a:pPr>
            <a:r>
              <a:rPr lang="en-US" sz="1200" dirty="0">
                <a:solidFill>
                  <a:srgbClr val="2F5D50"/>
                </a:solidFill>
                <a:latin typeface="JetBrains Mono" pitchFamily="34" charset="0"/>
                <a:ea typeface="JetBrains Mono" pitchFamily="34" charset="-122"/>
                <a:cs typeface="JetBrains Mono" pitchFamily="34" charset="-120"/>
              </a:rPr>
              <a:t>C[50]=4 → B[4]</a:t>
            </a:r>
            <a:endParaRPr lang="en-US" sz="1200" dirty="0"/>
          </a:p>
        </p:txBody>
      </p:sp>
      <p:sp>
        <p:nvSpPr>
          <p:cNvPr id="25" name="Slide Number Placeholder 0"/>
          <p:cNvSpPr>
            <a:spLocks noGrp="1"/>
          </p:cNvSpPr>
          <p:nvPr>
            <p:ph type="sldNum" sz="quarter" idx="4294967295"/>
          </p:nvPr>
        </p:nvSpPr>
        <p:spPr>
          <a:xfrm>
            <a:off x="10725912" y="6473952"/>
            <a:ext cx="9144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657"/>
                </a:solidFill>
                <a:latin typeface="JetBrains Mono"/>
                <a:ea typeface="JetBrains Mono"/>
                <a:cs typeface="JetBrains Mon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100" spc="200" kern="0" dirty="0">
                <a:solidFill>
                  <a:srgbClr val="8C2F23"/>
                </a:solidFill>
                <a:latin typeface="JetBrains Mono" pitchFamily="34" charset="0"/>
                <a:ea typeface="JetBrains Mono" pitchFamily="34" charset="-122"/>
                <a:cs typeface="JetBrains Mono" pitchFamily="34" charset="-120"/>
              </a:rPr>
              <a:t>§ 03 · RADIX SORT</a:t>
            </a:r>
            <a:endParaRPr lang="en-US" sz="1100" dirty="0"/>
          </a:p>
        </p:txBody>
      </p:sp>
      <p:sp>
        <p:nvSpPr>
          <p:cNvPr id="3" name="Text 3"/>
          <p:cNvSpPr/>
          <p:nvPr>
            <p:ph idx="103" type="title" hasCustomPrompt="1"/>
          </p:nvPr>
        </p:nvSpPr>
        <p:spPr>
          <a:xfrm>
            <a:off x="548640" y="804672"/>
            <a:ext cx="11091672" cy="777240"/>
          </a:xfrm>
          <a:prstGeom prst="rect">
            <a:avLst/>
          </a:prstGeom>
          <a:noFill/>
          <a:ln/>
        </p:spPr>
        <p:txBody>
          <a:bodyPr wrap="square" lIns="0" tIns="0" rIns="0" bIns="0" rtlCol="0" anchor="t"/>
          <a:lstStyle/>
          <a:p>
            <a:pPr algn="l" indent="0" marL="0">
              <a:buNone/>
            </a:pPr>
            <a:r>
              <a:rPr lang="en-US" sz="3600" dirty="0">
                <a:solidFill>
                  <a:srgbClr val="1F1B16"/>
                </a:solidFill>
                <a:latin typeface="EB Garamond" pitchFamily="34" charset="0"/>
                <a:ea typeface="EB Garamond" pitchFamily="34" charset="-122"/>
                <a:cs typeface="EB Garamond" pitchFamily="34" charset="-120"/>
              </a:rPr>
              <a:t>Radix sort: cómo funciona</a:t>
            </a:r>
            <a:endParaRPr lang="en-US" sz="3600" dirty="0"/>
          </a:p>
        </p:txBody>
      </p:sp>
      <p:sp>
        <p:nvSpPr>
          <p:cNvPr id="5" name="Text 2"/>
          <p:cNvSpPr txBox="1"/>
          <p:nvPr/>
        </p:nvSpPr>
        <p:spPr>
          <a:xfrm>
            <a:off x="548640" y="1645920"/>
            <a:ext cx="11091672" cy="777240"/>
          </a:xfrm>
          <a:prstGeom prst="rect">
            <a:avLst/>
          </a:prstGeom>
          <a:noFill/>
          <a:ln/>
        </p:spPr>
        <p:txBody>
          <a:bodyPr wrap="square" lIns="0" tIns="0" rIns="0" bIns="0" rtlCol="0" anchor="t"/>
          <a:lstStyle/>
          <a:p>
            <a:pPr indent="0" marL="0">
              <a:buNone/>
            </a:pPr>
            <a:r>
              <a:rPr lang="en-US" sz="2200" i="1" dirty="0">
                <a:solidFill>
                  <a:srgbClr val="1F1B16"/>
                </a:solidFill>
                <a:latin typeface="EB Garamond" pitchFamily="34" charset="0"/>
                <a:ea typeface="EB Garamond" pitchFamily="34" charset="-122"/>
                <a:cs typeface="EB Garamond" pitchFamily="34" charset="-120"/>
              </a:rPr>
              <a:t>No mira la clave completa sino un dígito a la vez, y delega el trabajo pesado en Counting sort, aplicado una vez por cada dígito.</a:t>
            </a:r>
            <a:endParaRPr lang="en-US" sz="2200" dirty="0"/>
          </a:p>
        </p:txBody>
      </p:sp>
      <p:sp>
        <p:nvSpPr>
          <p:cNvPr id="6" name="Shape 3"/>
          <p:cNvSpPr/>
          <p:nvPr/>
        </p:nvSpPr>
        <p:spPr>
          <a:xfrm>
            <a:off x="548640" y="2487168"/>
            <a:ext cx="11091672" cy="0"/>
          </a:xfrm>
          <a:prstGeom prst="line">
            <a:avLst/>
          </a:prstGeom>
          <a:noFill/>
          <a:ln w="6350">
            <a:solidFill>
              <a:srgbClr val="1F1B16"/>
            </a:solidFill>
            <a:prstDash val="solid"/>
          </a:ln>
        </p:spPr>
      </p:sp>
      <p:sp>
        <p:nvSpPr>
          <p:cNvPr id="7" name="Text 4"/>
          <p:cNvSpPr txBox="1"/>
          <p:nvPr/>
        </p:nvSpPr>
        <p:spPr>
          <a:xfrm>
            <a:off x="548640" y="2670048"/>
            <a:ext cx="5349240" cy="3611880"/>
          </a:xfrm>
          <a:prstGeom prst="rect">
            <a:avLst/>
          </a:prstGeom>
          <a:noFill/>
          <a:ln/>
        </p:spPr>
        <p:txBody>
          <a:bodyPr wrap="square" lIns="0" tIns="0" rIns="0" bIns="0" rtlCol="0" anchor="t"/>
          <a:lstStyle/>
          <a:p>
            <a:pPr indent="0" marL="0">
              <a:lnSpc>
                <a:spcPct val="105000"/>
              </a:lnSpc>
              <a:buNone/>
            </a:pPr>
            <a:r>
              <a:rPr lang="en-US" sz="1400" b="1" dirty="0">
                <a:solidFill>
                  <a:srgbClr val="8C2F23"/>
                </a:solidFill>
                <a:latin typeface="IBM Plex Sans" pitchFamily="34" charset="0"/>
                <a:ea typeface="IBM Plex Sans" pitchFamily="34" charset="-122"/>
                <a:cs typeface="IBM Plex Sans" pitchFamily="34" charset="-120"/>
              </a:rPr>
              <a:t>Una pasada por dígito. </a:t>
            </a:r>
            <a:pPr indent="0" marL="0">
              <a:lnSpc>
                <a:spcPct val="105000"/>
              </a:lnSpc>
              <a:spcAft>
                <a:spcPts val="900"/>
              </a:spcAft>
              <a:buNone/>
            </a:pPr>
            <a:r>
              <a:rPr lang="en-US" sz="1400" dirty="0">
                <a:solidFill>
                  <a:srgbClr val="1F1B16"/>
                </a:solidFill>
                <a:latin typeface="IBM Plex Sans" pitchFamily="34" charset="0"/>
                <a:ea typeface="IBM Plex Sans" pitchFamily="34" charset="-122"/>
                <a:cs typeface="IBM Plex Sans" pitchFamily="34" charset="-120"/>
              </a:rPr>
              <a:t>La versión LSD empieza por el dígito menos significativo, las unidades, y avanza hacia el más significativo. Si el mayor valor tiene d dígitos hay exactamente d pasadas, ni una más. Con máximo 100 en base 10, d = 3: unidades, decenas y centenas.</a:t>
            </a:r>
            <a:endParaRPr lang="en-US" sz="1400" dirty="0"/>
          </a:p>
          <a:p>
            <a:pPr indent="0" marL="0">
              <a:lnSpc>
                <a:spcPct val="105000"/>
              </a:lnSpc>
              <a:buNone/>
            </a:pPr>
            <a:r>
              <a:rPr lang="en-US" sz="1400" b="1" dirty="0">
                <a:solidFill>
                  <a:srgbClr val="8C2F23"/>
                </a:solidFill>
                <a:latin typeface="IBM Plex Sans" pitchFamily="34" charset="0"/>
                <a:ea typeface="IBM Plex Sans" pitchFamily="34" charset="-122"/>
                <a:cs typeface="IBM Plex Sans" pitchFamily="34" charset="-120"/>
              </a:rPr>
              <a:t>Cada pasada es un Counting sort. </a:t>
            </a:r>
            <a:pPr indent="0" marL="0">
              <a:lnSpc>
                <a:spcPct val="105000"/>
              </a:lnSpc>
              <a:spcAft>
                <a:spcPts val="900"/>
              </a:spcAft>
              <a:buNone/>
            </a:pPr>
            <a:r>
              <a:rPr lang="en-US" sz="1400" dirty="0">
                <a:solidFill>
                  <a:srgbClr val="1F1B16"/>
                </a:solidFill>
                <a:latin typeface="IBM Plex Sans" pitchFamily="34" charset="0"/>
                <a:ea typeface="IBM Plex Sans" pitchFamily="34" charset="-122"/>
                <a:cs typeface="IBM Plex Sans" pitchFamily="34" charset="-120"/>
              </a:rPr>
              <a:t>Pero sobre un alfabeto diminuto: en base b solo existen b dígitos, así que k = b − 1. En base 10 el arreglo de conteo tiene diez casillas aunque los números tengan nueve cifras. Por eso Radix sí ordena enteros enormes, donde Counting sort puro pediría miles de millones de casillas.</a:t>
            </a:r>
            <a:endParaRPr lang="en-US" sz="1400" dirty="0"/>
          </a:p>
        </p:txBody>
      </p:sp>
      <p:sp>
        <p:nvSpPr>
          <p:cNvPr id="8" name="Shape 5"/>
          <p:cNvSpPr/>
          <p:nvPr/>
        </p:nvSpPr>
        <p:spPr>
          <a:xfrm>
            <a:off x="6094476" y="2670048"/>
            <a:ext cx="0" cy="3520440"/>
          </a:xfrm>
          <a:prstGeom prst="line">
            <a:avLst/>
          </a:prstGeom>
          <a:noFill/>
          <a:ln w="6350">
            <a:solidFill>
              <a:srgbClr val="B5AD9B"/>
            </a:solidFill>
            <a:prstDash val="solid"/>
          </a:ln>
        </p:spPr>
      </p:sp>
      <p:sp>
        <p:nvSpPr>
          <p:cNvPr id="9" name="Text 6"/>
          <p:cNvSpPr txBox="1"/>
          <p:nvPr/>
        </p:nvSpPr>
        <p:spPr>
          <a:xfrm>
            <a:off x="6291072" y="2670048"/>
            <a:ext cx="5349240" cy="3611880"/>
          </a:xfrm>
          <a:prstGeom prst="rect">
            <a:avLst/>
          </a:prstGeom>
          <a:noFill/>
          <a:ln/>
        </p:spPr>
        <p:txBody>
          <a:bodyPr wrap="square" lIns="0" tIns="0" rIns="0" bIns="0" rtlCol="0" anchor="t"/>
          <a:lstStyle/>
          <a:p>
            <a:pPr indent="0" marL="0">
              <a:lnSpc>
                <a:spcPct val="105000"/>
              </a:lnSpc>
              <a:buNone/>
            </a:pPr>
            <a:r>
              <a:rPr lang="en-US" sz="1400" b="1" dirty="0">
                <a:solidFill>
                  <a:srgbClr val="8C2F23"/>
                </a:solidFill>
                <a:latin typeface="IBM Plex Sans" pitchFamily="34" charset="0"/>
                <a:ea typeface="IBM Plex Sans" pitchFamily="34" charset="-122"/>
                <a:cs typeface="IBM Plex Sans" pitchFamily="34" charset="-120"/>
              </a:rPr>
              <a:t>La estabilidad es la pieza clave. </a:t>
            </a:r>
            <a:pPr indent="0" marL="0">
              <a:lnSpc>
                <a:spcPct val="105000"/>
              </a:lnSpc>
              <a:spcAft>
                <a:spcPts val="900"/>
              </a:spcAft>
              <a:buNone/>
            </a:pPr>
            <a:r>
              <a:rPr lang="en-US" sz="1400" dirty="0">
                <a:solidFill>
                  <a:srgbClr val="1F1B16"/>
                </a:solidFill>
                <a:latin typeface="IBM Plex Sans" pitchFamily="34" charset="0"/>
                <a:ea typeface="IBM Plex Sans" pitchFamily="34" charset="-122"/>
                <a:cs typeface="IBM Plex Sans" pitchFamily="34" charset="-120"/>
              </a:rPr>
              <a:t>Al ordenar por el dígito i, los elementos que empatan conservan el orden que traían, y ese orden ya era correcto respecto de los dígitos menos significativos. Cada pasada refina la anterior sin destruirla. En la pasada 2, 100 y 1 caen en la cubeta 0 y salen en ese orden; la pasada 3 los separa.</a:t>
            </a:r>
            <a:endParaRPr lang="en-US" sz="1400" dirty="0"/>
          </a:p>
          <a:p>
            <a:pPr indent="0" marL="0">
              <a:lnSpc>
                <a:spcPct val="105000"/>
              </a:lnSpc>
              <a:buNone/>
            </a:pPr>
            <a:r>
              <a:rPr lang="en-US" sz="1400" b="1" dirty="0">
                <a:solidFill>
                  <a:srgbClr val="8C2F23"/>
                </a:solidFill>
                <a:latin typeface="IBM Plex Sans" pitchFamily="34" charset="0"/>
                <a:ea typeface="IBM Plex Sans" pitchFamily="34" charset="-122"/>
                <a:cs typeface="IBM Plex Sans" pitchFamily="34" charset="-120"/>
              </a:rPr>
              <a:t>Extraer el dígito es gratis. </a:t>
            </a:r>
            <a:pPr indent="0" marL="0">
              <a:lnSpc>
                <a:spcPct val="105000"/>
              </a:lnSpc>
              <a:spcAft>
                <a:spcPts val="900"/>
              </a:spcAft>
              <a:buNone/>
            </a:pPr>
            <a:r>
              <a:rPr lang="en-US" sz="1400" dirty="0">
                <a:solidFill>
                  <a:srgbClr val="1F1B16"/>
                </a:solidFill>
                <a:latin typeface="IBM Plex Sans" pitchFamily="34" charset="0"/>
                <a:ea typeface="IBM Plex Sans" pitchFamily="34" charset="-122"/>
                <a:cs typeface="IBM Plex Sans" pitchFamily="34" charset="-120"/>
              </a:rPr>
              <a:t>El dígito i de x es ⌊x / b^(i−1)⌋ mod b: una división y un módulo, O(1). Si una sola pasada fuera inestable, el trabajo de las anteriores se perdería y el resultado final sería incorrecto.</a:t>
            </a:r>
            <a:endParaRPr lang="en-US" sz="1400" dirty="0"/>
          </a:p>
        </p:txBody>
      </p:sp>
      <p:sp>
        <p:nvSpPr>
          <p:cNvPr id="25" name="Slide Number Placeholder 0"/>
          <p:cNvSpPr>
            <a:spLocks noGrp="1"/>
          </p:cNvSpPr>
          <p:nvPr>
            <p:ph type="sldNum" sz="quarter" idx="4294967295"/>
          </p:nvPr>
        </p:nvSpPr>
        <p:spPr>
          <a:xfrm>
            <a:off x="10725912" y="6473952"/>
            <a:ext cx="9144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657"/>
                </a:solidFill>
                <a:latin typeface="JetBrains Mono"/>
                <a:ea typeface="JetBrains Mono"/>
                <a:cs typeface="JetBrains Mon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100" spc="200" kern="0" dirty="0">
                <a:solidFill>
                  <a:srgbClr val="8C2F23"/>
                </a:solidFill>
                <a:latin typeface="JetBrains Mono" pitchFamily="34" charset="0"/>
                <a:ea typeface="JetBrains Mono" pitchFamily="34" charset="-122"/>
                <a:cs typeface="JetBrains Mono" pitchFamily="34" charset="-120"/>
              </a:rPr>
              <a:t>§ 03 · RADIX SORT</a:t>
            </a:r>
            <a:endParaRPr lang="en-US" sz="1100" dirty="0"/>
          </a:p>
        </p:txBody>
      </p:sp>
      <p:sp>
        <p:nvSpPr>
          <p:cNvPr id="3" name="Text 3"/>
          <p:cNvSpPr/>
          <p:nvPr>
            <p:ph idx="103" type="title" hasCustomPrompt="1"/>
          </p:nvPr>
        </p:nvSpPr>
        <p:spPr>
          <a:xfrm>
            <a:off x="548640" y="804672"/>
            <a:ext cx="11091672" cy="777240"/>
          </a:xfrm>
          <a:prstGeom prst="rect">
            <a:avLst/>
          </a:prstGeom>
          <a:noFill/>
          <a:ln/>
        </p:spPr>
        <p:txBody>
          <a:bodyPr wrap="square" lIns="0" tIns="0" rIns="0" bIns="0" rtlCol="0" anchor="t"/>
          <a:lstStyle/>
          <a:p>
            <a:pPr algn="l" indent="0" marL="0">
              <a:buNone/>
            </a:pPr>
            <a:r>
              <a:rPr lang="en-US" sz="3600" dirty="0">
                <a:solidFill>
                  <a:srgbClr val="1F1B16"/>
                </a:solidFill>
                <a:latin typeface="EB Garamond" pitchFamily="34" charset="0"/>
                <a:ea typeface="EB Garamond" pitchFamily="34" charset="-122"/>
                <a:cs typeface="EB Garamond" pitchFamily="34" charset="-120"/>
              </a:rPr>
              <a:t>Radix sort: pseudocódigo</a:t>
            </a:r>
            <a:endParaRPr lang="en-US" sz="3600" dirty="0"/>
          </a:p>
        </p:txBody>
      </p:sp>
      <p:sp>
        <p:nvSpPr>
          <p:cNvPr id="5" name="Shape 2"/>
          <p:cNvSpPr/>
          <p:nvPr/>
        </p:nvSpPr>
        <p:spPr>
          <a:xfrm>
            <a:off x="548640" y="1691640"/>
            <a:ext cx="11091672" cy="0"/>
          </a:xfrm>
          <a:prstGeom prst="line">
            <a:avLst/>
          </a:prstGeom>
          <a:noFill/>
          <a:ln w="6350">
            <a:solidFill>
              <a:srgbClr val="B5AD9B"/>
            </a:solidFill>
            <a:prstDash val="solid"/>
          </a:ln>
        </p:spPr>
      </p:sp>
      <p:sp>
        <p:nvSpPr>
          <p:cNvPr id="6" name="Text 3"/>
          <p:cNvSpPr txBox="1"/>
          <p:nvPr/>
        </p:nvSpPr>
        <p:spPr>
          <a:xfrm>
            <a:off x="548640" y="1755648"/>
            <a:ext cx="320040" cy="254000"/>
          </a:xfrm>
          <a:prstGeom prst="rect">
            <a:avLst/>
          </a:prstGeom>
          <a:noFill/>
          <a:ln/>
        </p:spPr>
        <p:txBody>
          <a:bodyPr wrap="square" lIns="0" tIns="0" rIns="0" bIns="0" rtlCol="0" anchor="t"/>
          <a:lstStyle/>
          <a:p>
            <a:pPr algn="r" indent="0" marL="0">
              <a:lnSpc>
                <a:spcPts val="2000"/>
              </a:lnSpc>
              <a:buNone/>
            </a:pPr>
            <a:r>
              <a:rPr lang="en-US" sz="1200" dirty="0">
                <a:solidFill>
                  <a:srgbClr val="8C2F23"/>
                </a:solidFill>
                <a:latin typeface="JetBrains Mono" pitchFamily="34" charset="0"/>
                <a:ea typeface="JetBrains Mono" pitchFamily="34" charset="-122"/>
                <a:cs typeface="JetBrains Mono" pitchFamily="34" charset="-120"/>
              </a:rPr>
              <a:t>1</a:t>
            </a:r>
            <a:endParaRPr lang="en-US" sz="1200" dirty="0"/>
          </a:p>
        </p:txBody>
      </p:sp>
      <p:sp>
        <p:nvSpPr>
          <p:cNvPr id="7" name="Text 4"/>
          <p:cNvSpPr txBox="1"/>
          <p:nvPr/>
        </p:nvSpPr>
        <p:spPr>
          <a:xfrm>
            <a:off x="960120" y="1755648"/>
            <a:ext cx="3886200" cy="254000"/>
          </a:xfrm>
          <a:prstGeom prst="rect">
            <a:avLst/>
          </a:prstGeom>
          <a:noFill/>
          <a:ln/>
        </p:spPr>
        <p:txBody>
          <a:bodyPr wrap="square" lIns="0" tIns="0" rIns="0" bIns="0" rtlCol="0" anchor="t"/>
          <a:lstStyle/>
          <a:p>
            <a:pPr indent="0" marL="0">
              <a:lnSpc>
                <a:spcPts val="2000"/>
              </a:lnSpc>
              <a:buNone/>
            </a:pPr>
            <a:r>
              <a:rPr lang="en-US" sz="1300" b="1" dirty="0">
                <a:solidFill>
                  <a:srgbClr val="8C2F23"/>
                </a:solidFill>
                <a:latin typeface="JetBrains Mono" pitchFamily="34" charset="0"/>
                <a:ea typeface="JetBrains Mono" pitchFamily="34" charset="-122"/>
                <a:cs typeface="JetBrains Mono" pitchFamily="34" charset="-120"/>
              </a:rPr>
              <a:t>RADIX-SORT</a:t>
            </a:r>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(A, n, d, b)</a:t>
            </a:r>
            <a:endParaRPr lang="en-US" sz="1400" dirty="0"/>
          </a:p>
        </p:txBody>
      </p:sp>
      <p:sp>
        <p:nvSpPr>
          <p:cNvPr id="8" name="Text 5"/>
          <p:cNvSpPr txBox="1"/>
          <p:nvPr/>
        </p:nvSpPr>
        <p:spPr>
          <a:xfrm>
            <a:off x="5166360" y="1755648"/>
            <a:ext cx="6473952" cy="429768"/>
          </a:xfrm>
          <a:prstGeom prst="rect">
            <a:avLst/>
          </a:prstGeom>
          <a:noFill/>
          <a:ln/>
        </p:spPr>
        <p:txBody>
          <a:bodyPr wrap="square" lIns="0" tIns="0" rIns="0" bIns="0" rtlCol="0" anchor="t"/>
          <a:lstStyle/>
          <a:p>
            <a:pPr indent="0" marL="0">
              <a:buNone/>
            </a:pPr>
            <a:r>
              <a:rPr lang="en-US" sz="1300" b="1" dirty="0">
                <a:solidFill>
                  <a:srgbClr val="1F1B16"/>
                </a:solidFill>
                <a:latin typeface="IBM Plex Sans" pitchFamily="34" charset="0"/>
                <a:ea typeface="IBM Plex Sans" pitchFamily="34" charset="-122"/>
                <a:cs typeface="IBM Plex Sans" pitchFamily="34" charset="-120"/>
              </a:rPr>
              <a:t>Firma. </a:t>
            </a:r>
            <a:pPr indent="0" marL="0">
              <a:buNone/>
            </a:pPr>
            <a:r>
              <a:rPr lang="en-US" sz="1300" dirty="0">
                <a:solidFill>
                  <a:srgbClr val="1F1B16"/>
                </a:solidFill>
                <a:latin typeface="IBM Plex Sans" pitchFamily="34" charset="0"/>
                <a:ea typeface="IBM Plex Sans" pitchFamily="34" charset="-122"/>
                <a:cs typeface="IBM Plex Sans" pitchFamily="34" charset="-120"/>
              </a:rPr>
              <a:t>d es el número de dígitos del valor máximo, no la cantidad de elementos; b es la base.</a:t>
            </a:r>
            <a:endParaRPr lang="en-US" sz="1300" dirty="0"/>
          </a:p>
        </p:txBody>
      </p:sp>
      <p:sp>
        <p:nvSpPr>
          <p:cNvPr id="9" name="Shape 6"/>
          <p:cNvSpPr/>
          <p:nvPr/>
        </p:nvSpPr>
        <p:spPr>
          <a:xfrm>
            <a:off x="548640" y="2249424"/>
            <a:ext cx="11091672" cy="0"/>
          </a:xfrm>
          <a:prstGeom prst="line">
            <a:avLst/>
          </a:prstGeom>
          <a:noFill/>
          <a:ln w="6350">
            <a:solidFill>
              <a:srgbClr val="B5AD9B"/>
            </a:solidFill>
            <a:prstDash val="solid"/>
          </a:ln>
        </p:spPr>
      </p:sp>
      <p:sp>
        <p:nvSpPr>
          <p:cNvPr id="10" name="Text 7"/>
          <p:cNvSpPr txBox="1"/>
          <p:nvPr/>
        </p:nvSpPr>
        <p:spPr>
          <a:xfrm>
            <a:off x="548640" y="2313432"/>
            <a:ext cx="320040" cy="508000"/>
          </a:xfrm>
          <a:prstGeom prst="rect">
            <a:avLst/>
          </a:prstGeom>
          <a:noFill/>
          <a:ln/>
        </p:spPr>
        <p:txBody>
          <a:bodyPr wrap="square" lIns="0" tIns="0" rIns="0" bIns="0" rtlCol="0" anchor="t"/>
          <a:lstStyle/>
          <a:p>
            <a:pPr algn="r" indent="0" marL="0">
              <a:lnSpc>
                <a:spcPts val="2000"/>
              </a:lnSpc>
              <a:buNone/>
            </a:pPr>
            <a:r>
              <a:rPr lang="en-US" sz="1200" dirty="0">
                <a:solidFill>
                  <a:srgbClr val="8C2F23"/>
                </a:solidFill>
                <a:latin typeface="JetBrains Mono" pitchFamily="34" charset="0"/>
                <a:ea typeface="JetBrains Mono" pitchFamily="34" charset="-122"/>
                <a:cs typeface="JetBrains Mono" pitchFamily="34" charset="-120"/>
              </a:rPr>
              <a:t>2</a:t>
            </a:r>
            <a:endParaRPr lang="en-US" sz="1200" dirty="0"/>
          </a:p>
          <a:p>
            <a:pPr algn="r" indent="0" marL="0">
              <a:lnSpc>
                <a:spcPts val="2000"/>
              </a:lnSpc>
              <a:buNone/>
            </a:pPr>
            <a:r>
              <a:rPr lang="en-US" sz="1200" dirty="0">
                <a:solidFill>
                  <a:srgbClr val="8C2F23"/>
                </a:solidFill>
                <a:latin typeface="JetBrains Mono" pitchFamily="34" charset="0"/>
                <a:ea typeface="JetBrains Mono" pitchFamily="34" charset="-122"/>
                <a:cs typeface="JetBrains Mono" pitchFamily="34" charset="-120"/>
              </a:rPr>
              <a:t>3</a:t>
            </a:r>
            <a:endParaRPr lang="en-US" sz="1200" dirty="0"/>
          </a:p>
        </p:txBody>
      </p:sp>
      <p:sp>
        <p:nvSpPr>
          <p:cNvPr id="11" name="Text 8"/>
          <p:cNvSpPr txBox="1"/>
          <p:nvPr/>
        </p:nvSpPr>
        <p:spPr>
          <a:xfrm>
            <a:off x="960120" y="2313432"/>
            <a:ext cx="3886200" cy="508000"/>
          </a:xfrm>
          <a:prstGeom prst="rect">
            <a:avLst/>
          </a:prstGeom>
          <a:noFill/>
          <a:ln/>
        </p:spPr>
        <p:txBody>
          <a:bodyPr wrap="square" lIns="0" tIns="0" rIns="0" bIns="0" rtlCol="0" anchor="t"/>
          <a:lstStyle/>
          <a:p>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a:t>
            </a:r>
            <a:pPr indent="0" marL="0">
              <a:lnSpc>
                <a:spcPts val="2000"/>
              </a:lnSpc>
              <a:buNone/>
            </a:pPr>
            <a:r>
              <a:rPr lang="en-US" sz="1300" b="1" dirty="0">
                <a:solidFill>
                  <a:srgbClr val="2F5D50"/>
                </a:solidFill>
                <a:latin typeface="JetBrains Mono" pitchFamily="34" charset="0"/>
                <a:ea typeface="JetBrains Mono" pitchFamily="34" charset="-122"/>
                <a:cs typeface="JetBrains Mono" pitchFamily="34" charset="-120"/>
              </a:rPr>
              <a:t>para</a:t>
            </a:r>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i = 1 </a:t>
            </a:r>
            <a:pPr indent="0" marL="0">
              <a:lnSpc>
                <a:spcPts val="2000"/>
              </a:lnSpc>
              <a:buNone/>
            </a:pPr>
            <a:r>
              <a:rPr lang="en-US" sz="1300" b="1" dirty="0">
                <a:solidFill>
                  <a:srgbClr val="2F5D50"/>
                </a:solidFill>
                <a:latin typeface="JetBrains Mono" pitchFamily="34" charset="0"/>
                <a:ea typeface="JetBrains Mono" pitchFamily="34" charset="-122"/>
                <a:cs typeface="JetBrains Mono" pitchFamily="34" charset="-120"/>
              </a:rPr>
              <a:t>hasta</a:t>
            </a:r>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d</a:t>
            </a:r>
            <a:endParaRPr lang="en-US" sz="1400" dirty="0"/>
          </a:p>
          <a:p>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COUNTING-SORT-ESTABLE(A, n, b-1, i)</a:t>
            </a:r>
            <a:endParaRPr lang="en-US" sz="1400" dirty="0"/>
          </a:p>
        </p:txBody>
      </p:sp>
      <p:sp>
        <p:nvSpPr>
          <p:cNvPr id="12" name="Text 9"/>
          <p:cNvSpPr txBox="1"/>
          <p:nvPr/>
        </p:nvSpPr>
        <p:spPr>
          <a:xfrm>
            <a:off x="5166360" y="2313432"/>
            <a:ext cx="6473952" cy="644652"/>
          </a:xfrm>
          <a:prstGeom prst="rect">
            <a:avLst/>
          </a:prstGeom>
          <a:noFill/>
          <a:ln/>
        </p:spPr>
        <p:txBody>
          <a:bodyPr wrap="square" lIns="0" tIns="0" rIns="0" bIns="0" rtlCol="0" anchor="t"/>
          <a:lstStyle/>
          <a:p>
            <a:pPr indent="0" marL="0">
              <a:buNone/>
            </a:pPr>
            <a:r>
              <a:rPr lang="en-US" sz="1300" b="1" dirty="0">
                <a:solidFill>
                  <a:srgbClr val="1F1B16"/>
                </a:solidFill>
                <a:latin typeface="IBM Plex Sans" pitchFamily="34" charset="0"/>
                <a:ea typeface="IBM Plex Sans" pitchFamily="34" charset="-122"/>
                <a:cs typeface="IBM Plex Sans" pitchFamily="34" charset="-120"/>
              </a:rPr>
              <a:t>Líneas 2–3. </a:t>
            </a:r>
            <a:pPr indent="0" marL="0">
              <a:buNone/>
            </a:pPr>
            <a:r>
              <a:rPr lang="en-US" sz="1300" dirty="0">
                <a:solidFill>
                  <a:srgbClr val="1F1B16"/>
                </a:solidFill>
                <a:latin typeface="IBM Plex Sans" pitchFamily="34" charset="0"/>
                <a:ea typeface="IBM Plex Sans" pitchFamily="34" charset="-122"/>
                <a:cs typeface="IBM Plex Sans" pitchFamily="34" charset="-120"/>
              </a:rPr>
              <a:t>Una pasada por dígito, del menos al más significativo. Cada una es un Counting sort con k = b − 1: el conteo tiene b casillas y no crece con los valores.</a:t>
            </a:r>
            <a:endParaRPr lang="en-US" sz="1300" dirty="0"/>
          </a:p>
        </p:txBody>
      </p:sp>
      <p:sp>
        <p:nvSpPr>
          <p:cNvPr id="13" name="Shape 10"/>
          <p:cNvSpPr/>
          <p:nvPr/>
        </p:nvSpPr>
        <p:spPr>
          <a:xfrm>
            <a:off x="548640" y="3022092"/>
            <a:ext cx="11091672" cy="0"/>
          </a:xfrm>
          <a:prstGeom prst="line">
            <a:avLst/>
          </a:prstGeom>
          <a:noFill/>
          <a:ln w="6350">
            <a:solidFill>
              <a:srgbClr val="B5AD9B"/>
            </a:solidFill>
            <a:prstDash val="solid"/>
          </a:ln>
        </p:spPr>
      </p:sp>
      <p:sp>
        <p:nvSpPr>
          <p:cNvPr id="14" name="Text 11"/>
          <p:cNvSpPr txBox="1"/>
          <p:nvPr/>
        </p:nvSpPr>
        <p:spPr>
          <a:xfrm>
            <a:off x="548640" y="3086100"/>
            <a:ext cx="320040" cy="254000"/>
          </a:xfrm>
          <a:prstGeom prst="rect">
            <a:avLst/>
          </a:prstGeom>
          <a:noFill/>
          <a:ln/>
        </p:spPr>
        <p:txBody>
          <a:bodyPr wrap="square" lIns="0" tIns="0" rIns="0" bIns="0" rtlCol="0" anchor="t"/>
          <a:lstStyle/>
          <a:p>
            <a:pPr algn="r" indent="0" marL="0">
              <a:lnSpc>
                <a:spcPts val="2000"/>
              </a:lnSpc>
              <a:buNone/>
            </a:pPr>
            <a:r>
              <a:rPr lang="en-US" sz="1200" dirty="0">
                <a:solidFill>
                  <a:srgbClr val="8C2F23"/>
                </a:solidFill>
                <a:latin typeface="JetBrains Mono" pitchFamily="34" charset="0"/>
                <a:ea typeface="JetBrains Mono" pitchFamily="34" charset="-122"/>
                <a:cs typeface="JetBrains Mono" pitchFamily="34" charset="-120"/>
              </a:rPr>
              <a:t>4</a:t>
            </a:r>
            <a:endParaRPr lang="en-US" sz="1200" dirty="0"/>
          </a:p>
        </p:txBody>
      </p:sp>
      <p:sp>
        <p:nvSpPr>
          <p:cNvPr id="15" name="Text 12"/>
          <p:cNvSpPr txBox="1"/>
          <p:nvPr/>
        </p:nvSpPr>
        <p:spPr>
          <a:xfrm>
            <a:off x="960120" y="3086100"/>
            <a:ext cx="3886200" cy="254000"/>
          </a:xfrm>
          <a:prstGeom prst="rect">
            <a:avLst/>
          </a:prstGeom>
          <a:noFill/>
          <a:ln/>
        </p:spPr>
        <p:txBody>
          <a:bodyPr wrap="square" lIns="0" tIns="0" rIns="0" bIns="0" rtlCol="0" anchor="t"/>
          <a:lstStyle/>
          <a:p>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a:t>
            </a:r>
            <a:pPr indent="0" marL="0">
              <a:lnSpc>
                <a:spcPts val="2000"/>
              </a:lnSpc>
              <a:buNone/>
            </a:pPr>
            <a:r>
              <a:rPr lang="en-US" sz="1300" b="1" dirty="0">
                <a:solidFill>
                  <a:srgbClr val="2F5D50"/>
                </a:solidFill>
                <a:latin typeface="JetBrains Mono" pitchFamily="34" charset="0"/>
                <a:ea typeface="JetBrains Mono" pitchFamily="34" charset="-122"/>
                <a:cs typeface="JetBrains Mono" pitchFamily="34" charset="-120"/>
              </a:rPr>
              <a:t>devolver</a:t>
            </a:r>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A</a:t>
            </a:r>
            <a:endParaRPr lang="en-US" sz="1400" dirty="0"/>
          </a:p>
        </p:txBody>
      </p:sp>
      <p:sp>
        <p:nvSpPr>
          <p:cNvPr id="16" name="Text 13"/>
          <p:cNvSpPr txBox="1"/>
          <p:nvPr/>
        </p:nvSpPr>
        <p:spPr>
          <a:xfrm>
            <a:off x="5166360" y="3086100"/>
            <a:ext cx="6473952" cy="214884"/>
          </a:xfrm>
          <a:prstGeom prst="rect">
            <a:avLst/>
          </a:prstGeom>
          <a:noFill/>
          <a:ln/>
        </p:spPr>
        <p:txBody>
          <a:bodyPr wrap="square" lIns="0" tIns="0" rIns="0" bIns="0" rtlCol="0" anchor="t"/>
          <a:lstStyle/>
          <a:p>
            <a:pPr indent="0" marL="0">
              <a:buNone/>
            </a:pPr>
            <a:r>
              <a:rPr lang="en-US" sz="1300" b="1" dirty="0">
                <a:solidFill>
                  <a:srgbClr val="1F1B16"/>
                </a:solidFill>
                <a:latin typeface="IBM Plex Sans" pitchFamily="34" charset="0"/>
                <a:ea typeface="IBM Plex Sans" pitchFamily="34" charset="-122"/>
                <a:cs typeface="IBM Plex Sans" pitchFamily="34" charset="-120"/>
              </a:rPr>
              <a:t>Línea 4. </a:t>
            </a:r>
            <a:pPr indent="0" marL="0">
              <a:buNone/>
            </a:pPr>
            <a:r>
              <a:rPr lang="en-US" sz="1300" dirty="0">
                <a:solidFill>
                  <a:srgbClr val="1F1B16"/>
                </a:solidFill>
                <a:latin typeface="IBM Plex Sans" pitchFamily="34" charset="0"/>
                <a:ea typeface="IBM Plex Sans" pitchFamily="34" charset="-122"/>
                <a:cs typeface="IBM Plex Sans" pitchFamily="34" charset="-120"/>
              </a:rPr>
              <a:t>Tras la última pasada, A está ordenado por todos los dígitos.</a:t>
            </a:r>
            <a:endParaRPr lang="en-US" sz="1300" dirty="0"/>
          </a:p>
        </p:txBody>
      </p:sp>
      <p:sp>
        <p:nvSpPr>
          <p:cNvPr id="17" name="Shape 14"/>
          <p:cNvSpPr/>
          <p:nvPr/>
        </p:nvSpPr>
        <p:spPr>
          <a:xfrm>
            <a:off x="548640" y="3404108"/>
            <a:ext cx="11091672" cy="0"/>
          </a:xfrm>
          <a:prstGeom prst="line">
            <a:avLst/>
          </a:prstGeom>
          <a:noFill/>
          <a:ln w="6350">
            <a:solidFill>
              <a:srgbClr val="B5AD9B"/>
            </a:solidFill>
            <a:prstDash val="solid"/>
          </a:ln>
        </p:spPr>
      </p:sp>
      <p:sp>
        <p:nvSpPr>
          <p:cNvPr id="18" name="Text 15"/>
          <p:cNvSpPr txBox="1"/>
          <p:nvPr/>
        </p:nvSpPr>
        <p:spPr>
          <a:xfrm>
            <a:off x="548640" y="3468116"/>
            <a:ext cx="320040" cy="508000"/>
          </a:xfrm>
          <a:prstGeom prst="rect">
            <a:avLst/>
          </a:prstGeom>
          <a:noFill/>
          <a:ln/>
        </p:spPr>
        <p:txBody>
          <a:bodyPr wrap="square" lIns="0" tIns="0" rIns="0" bIns="0" rtlCol="0" anchor="t"/>
          <a:lstStyle/>
          <a:p>
            <a:pPr algn="r" indent="0" marL="0">
              <a:lnSpc>
                <a:spcPts val="2000"/>
              </a:lnSpc>
              <a:buNone/>
            </a:pPr>
            <a:r>
              <a:rPr lang="en-US" sz="1200" dirty="0">
                <a:solidFill>
                  <a:srgbClr val="8C2F23"/>
                </a:solidFill>
                <a:latin typeface="JetBrains Mono" pitchFamily="34" charset="0"/>
                <a:ea typeface="JetBrains Mono" pitchFamily="34" charset="-122"/>
                <a:cs typeface="JetBrains Mono" pitchFamily="34" charset="-120"/>
              </a:rPr>
              <a:t>5</a:t>
            </a:r>
            <a:endParaRPr lang="en-US" sz="1200" dirty="0"/>
          </a:p>
          <a:p>
            <a:pPr algn="r" indent="0" marL="0">
              <a:lnSpc>
                <a:spcPts val="2000"/>
              </a:lnSpc>
              <a:buNone/>
            </a:pPr>
            <a:r>
              <a:rPr lang="en-US" sz="1200" dirty="0">
                <a:solidFill>
                  <a:srgbClr val="8C2F23"/>
                </a:solidFill>
                <a:latin typeface="JetBrains Mono" pitchFamily="34" charset="0"/>
                <a:ea typeface="JetBrains Mono" pitchFamily="34" charset="-122"/>
                <a:cs typeface="JetBrains Mono" pitchFamily="34" charset="-120"/>
              </a:rPr>
              <a:t>6</a:t>
            </a:r>
            <a:endParaRPr lang="en-US" sz="1200" dirty="0"/>
          </a:p>
        </p:txBody>
      </p:sp>
      <p:sp>
        <p:nvSpPr>
          <p:cNvPr id="19" name="Text 16"/>
          <p:cNvSpPr txBox="1"/>
          <p:nvPr/>
        </p:nvSpPr>
        <p:spPr>
          <a:xfrm>
            <a:off x="960120" y="3468116"/>
            <a:ext cx="3886200" cy="508000"/>
          </a:xfrm>
          <a:prstGeom prst="rect">
            <a:avLst/>
          </a:prstGeom>
          <a:noFill/>
          <a:ln/>
        </p:spPr>
        <p:txBody>
          <a:bodyPr wrap="square" lIns="0" tIns="0" rIns="0" bIns="0" rtlCol="0" anchor="t"/>
          <a:lstStyle/>
          <a:p>
            <a:pPr indent="0" marL="0">
              <a:lnSpc>
                <a:spcPts val="2000"/>
              </a:lnSpc>
              <a:buNone/>
            </a:pPr>
            <a:r>
              <a:rPr lang="en-US" sz="1300" b="1" dirty="0">
                <a:solidFill>
                  <a:srgbClr val="8C2F23"/>
                </a:solidFill>
                <a:latin typeface="JetBrains Mono" pitchFamily="34" charset="0"/>
                <a:ea typeface="JetBrains Mono" pitchFamily="34" charset="-122"/>
                <a:cs typeface="JetBrains Mono" pitchFamily="34" charset="-120"/>
              </a:rPr>
              <a:t>digito</a:t>
            </a:r>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(x, i, b)</a:t>
            </a:r>
            <a:endParaRPr lang="en-US" sz="1400" dirty="0"/>
          </a:p>
          <a:p>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a:t>
            </a:r>
            <a:pPr indent="0" marL="0">
              <a:lnSpc>
                <a:spcPts val="2000"/>
              </a:lnSpc>
              <a:buNone/>
            </a:pPr>
            <a:r>
              <a:rPr lang="en-US" sz="1300" b="1" dirty="0">
                <a:solidFill>
                  <a:srgbClr val="2F5D50"/>
                </a:solidFill>
                <a:latin typeface="JetBrains Mono" pitchFamily="34" charset="0"/>
                <a:ea typeface="JetBrains Mono" pitchFamily="34" charset="-122"/>
                <a:cs typeface="JetBrains Mono" pitchFamily="34" charset="-120"/>
              </a:rPr>
              <a:t>devolver</a:t>
            </a:r>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piso(x / b^(i-1)) mod b</a:t>
            </a:r>
            <a:endParaRPr lang="en-US" sz="1400" dirty="0"/>
          </a:p>
        </p:txBody>
      </p:sp>
      <p:sp>
        <p:nvSpPr>
          <p:cNvPr id="20" name="Text 17"/>
          <p:cNvSpPr txBox="1"/>
          <p:nvPr/>
        </p:nvSpPr>
        <p:spPr>
          <a:xfrm>
            <a:off x="5166360" y="3468116"/>
            <a:ext cx="6473952" cy="429768"/>
          </a:xfrm>
          <a:prstGeom prst="rect">
            <a:avLst/>
          </a:prstGeom>
          <a:noFill/>
          <a:ln/>
        </p:spPr>
        <p:txBody>
          <a:bodyPr wrap="square" lIns="0" tIns="0" rIns="0" bIns="0" rtlCol="0" anchor="t"/>
          <a:lstStyle/>
          <a:p>
            <a:pPr indent="0" marL="0">
              <a:buNone/>
            </a:pPr>
            <a:r>
              <a:rPr lang="en-US" sz="1300" b="1" dirty="0">
                <a:solidFill>
                  <a:srgbClr val="1F1B16"/>
                </a:solidFill>
                <a:latin typeface="IBM Plex Sans" pitchFamily="34" charset="0"/>
                <a:ea typeface="IBM Plex Sans" pitchFamily="34" charset="-122"/>
                <a:cs typeface="IBM Plex Sans" pitchFamily="34" charset="-120"/>
              </a:rPr>
              <a:t>Líneas 5–6. </a:t>
            </a:r>
            <a:pPr indent="0" marL="0">
              <a:buNone/>
            </a:pPr>
            <a:r>
              <a:rPr lang="en-US" sz="1300" dirty="0">
                <a:solidFill>
                  <a:srgbClr val="1F1B16"/>
                </a:solidFill>
                <a:latin typeface="IBM Plex Sans" pitchFamily="34" charset="0"/>
                <a:ea typeface="IBM Plex Sans" pitchFamily="34" charset="-122"/>
                <a:cs typeface="IBM Plex Sans" pitchFamily="34" charset="-120"/>
              </a:rPr>
              <a:t>La división entera lleva el dígito i a las unidades y el módulo lo recorta: dos operaciones, O(1), sin recorrer nada.</a:t>
            </a:r>
            <a:endParaRPr lang="en-US" sz="1300" dirty="0"/>
          </a:p>
        </p:txBody>
      </p:sp>
      <p:sp>
        <p:nvSpPr>
          <p:cNvPr id="21" name="Shape 18"/>
          <p:cNvSpPr/>
          <p:nvPr/>
        </p:nvSpPr>
        <p:spPr>
          <a:xfrm>
            <a:off x="548640" y="4040124"/>
            <a:ext cx="11091672" cy="0"/>
          </a:xfrm>
          <a:prstGeom prst="line">
            <a:avLst/>
          </a:prstGeom>
          <a:noFill/>
          <a:ln w="9525">
            <a:solidFill>
              <a:srgbClr val="1F1B16"/>
            </a:solidFill>
            <a:prstDash val="solid"/>
          </a:ln>
        </p:spPr>
      </p:sp>
      <p:sp>
        <p:nvSpPr>
          <p:cNvPr id="22" name="Text 19"/>
          <p:cNvSpPr txBox="1"/>
          <p:nvPr/>
        </p:nvSpPr>
        <p:spPr>
          <a:xfrm>
            <a:off x="548640" y="4268724"/>
            <a:ext cx="6583680" cy="914400"/>
          </a:xfrm>
          <a:prstGeom prst="rect">
            <a:avLst/>
          </a:prstGeom>
          <a:noFill/>
          <a:ln/>
        </p:spPr>
        <p:txBody>
          <a:bodyPr wrap="square" lIns="0" tIns="0" rIns="0" bIns="0" rtlCol="0" anchor="t"/>
          <a:lstStyle/>
          <a:p>
            <a:pPr indent="0" marL="0">
              <a:buNone/>
            </a:pPr>
            <a:r>
              <a:rPr lang="en-US" sz="1400" b="1" dirty="0">
                <a:solidFill>
                  <a:srgbClr val="8C2F23"/>
                </a:solidFill>
                <a:latin typeface="IBM Plex Sans" pitchFamily="34" charset="0"/>
                <a:ea typeface="IBM Plex Sans" pitchFamily="34" charset="-122"/>
                <a:cs typeface="IBM Plex Sans" pitchFamily="34" charset="-120"/>
              </a:rPr>
              <a:t>Variante estable. </a:t>
            </a:r>
            <a:pPr indent="0" marL="0">
              <a:buNone/>
            </a:pPr>
            <a:r>
              <a:rPr lang="en-US" sz="1400" dirty="0">
                <a:solidFill>
                  <a:srgbClr val="1F1B16"/>
                </a:solidFill>
                <a:latin typeface="IBM Plex Sans" pitchFamily="34" charset="0"/>
                <a:ea typeface="IBM Plex Sans" pitchFamily="34" charset="-122"/>
                <a:cs typeface="IBM Plex Sans" pitchFamily="34" charset="-120"/>
              </a:rPr>
              <a:t>COUNTING-SORT-ESTABLE es el de la lámina 5, pero cuenta C[digito(A[j], i, b)] en vez de C[A[j]]. Con un Counting sort no estable, la pasada i destruye el orden que logró la i − 1.</a:t>
            </a:r>
            <a:endParaRPr lang="en-US" sz="1400" dirty="0"/>
          </a:p>
        </p:txBody>
      </p:sp>
      <p:sp>
        <p:nvSpPr>
          <p:cNvPr id="23" name="Text 20"/>
          <p:cNvSpPr txBox="1"/>
          <p:nvPr/>
        </p:nvSpPr>
        <p:spPr>
          <a:xfrm>
            <a:off x="7589520" y="4223004"/>
            <a:ext cx="4023360" cy="548640"/>
          </a:xfrm>
          <a:prstGeom prst="rect">
            <a:avLst/>
          </a:prstGeom>
          <a:noFill/>
          <a:ln/>
        </p:spPr>
        <p:txBody>
          <a:bodyPr wrap="square" lIns="0" tIns="0" rIns="0" bIns="0" rtlCol="0" anchor="t"/>
          <a:lstStyle/>
          <a:p>
            <a:pPr indent="0" marL="0">
              <a:buNone/>
            </a:pPr>
            <a:r>
              <a:rPr lang="en-US" sz="3400" dirty="0">
                <a:solidFill>
                  <a:srgbClr val="8C2F23"/>
                </a:solidFill>
                <a:latin typeface="EB Garamond" pitchFamily="34" charset="0"/>
                <a:ea typeface="EB Garamond" pitchFamily="34" charset="-122"/>
                <a:cs typeface="EB Garamond" pitchFamily="34" charset="-120"/>
              </a:rPr>
              <a:t>Θ(d · (n + b))</a:t>
            </a:r>
            <a:endParaRPr lang="en-US" sz="3400" dirty="0"/>
          </a:p>
        </p:txBody>
      </p:sp>
      <p:sp>
        <p:nvSpPr>
          <p:cNvPr id="24" name="Text 21"/>
          <p:cNvSpPr txBox="1"/>
          <p:nvPr/>
        </p:nvSpPr>
        <p:spPr>
          <a:xfrm>
            <a:off x="7589520" y="4789932"/>
            <a:ext cx="4023360" cy="731520"/>
          </a:xfrm>
          <a:prstGeom prst="rect">
            <a:avLst/>
          </a:prstGeom>
          <a:noFill/>
          <a:ln/>
        </p:spPr>
        <p:txBody>
          <a:bodyPr wrap="square" lIns="0" tIns="0" rIns="0" bIns="0" rtlCol="0" anchor="t"/>
          <a:lstStyle/>
          <a:p>
            <a:pPr indent="0" marL="0">
              <a:buNone/>
            </a:pPr>
            <a:r>
              <a:rPr lang="en-US" sz="1300" dirty="0">
                <a:solidFill>
                  <a:srgbClr val="1F1B16"/>
                </a:solidFill>
                <a:latin typeface="IBM Plex Sans" pitchFamily="34" charset="0"/>
                <a:ea typeface="IBM Plex Sans" pitchFamily="34" charset="-122"/>
                <a:cs typeface="IBM Plex Sans" pitchFamily="34" charset="-120"/>
              </a:rPr>
              <a:t>Con d = 3 y b = 10: 3 · (7 + 10) = 51. Si d es constante, como en un entero de 32 bits, es Θ(n) de verdad.</a:t>
            </a:r>
            <a:endParaRPr lang="en-US" sz="1300" dirty="0"/>
          </a:p>
        </p:txBody>
      </p:sp>
      <p:sp>
        <p:nvSpPr>
          <p:cNvPr id="25" name="Slide Number Placeholder 0"/>
          <p:cNvSpPr>
            <a:spLocks noGrp="1"/>
          </p:cNvSpPr>
          <p:nvPr>
            <p:ph type="sldNum" sz="quarter" idx="4294967295"/>
          </p:nvPr>
        </p:nvSpPr>
        <p:spPr>
          <a:xfrm>
            <a:off x="10725912" y="6473952"/>
            <a:ext cx="9144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657"/>
                </a:solidFill>
                <a:latin typeface="JetBrains Mono"/>
                <a:ea typeface="JetBrains Mono"/>
                <a:cs typeface="JetBrains Mon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100" spc="200" kern="0" dirty="0">
                <a:solidFill>
                  <a:srgbClr val="8C2F23"/>
                </a:solidFill>
                <a:latin typeface="JetBrains Mono" pitchFamily="34" charset="0"/>
                <a:ea typeface="JetBrains Mono" pitchFamily="34" charset="-122"/>
                <a:cs typeface="JetBrains Mono" pitchFamily="34" charset="-120"/>
              </a:rPr>
              <a:t>§ 03 · RADIX SORT</a:t>
            </a:r>
            <a:endParaRPr lang="en-US" sz="1100" dirty="0"/>
          </a:p>
        </p:txBody>
      </p:sp>
      <p:sp>
        <p:nvSpPr>
          <p:cNvPr id="3" name="Text 3"/>
          <p:cNvSpPr/>
          <p:nvPr>
            <p:ph idx="103" type="title" hasCustomPrompt="1"/>
          </p:nvPr>
        </p:nvSpPr>
        <p:spPr>
          <a:xfrm>
            <a:off x="548640" y="804672"/>
            <a:ext cx="11091672" cy="777240"/>
          </a:xfrm>
          <a:prstGeom prst="rect">
            <a:avLst/>
          </a:prstGeom>
          <a:noFill/>
          <a:ln/>
        </p:spPr>
        <p:txBody>
          <a:bodyPr wrap="square" lIns="0" tIns="0" rIns="0" bIns="0" rtlCol="0" anchor="t"/>
          <a:lstStyle/>
          <a:p>
            <a:pPr algn="l" indent="0" marL="0">
              <a:buNone/>
            </a:pPr>
            <a:r>
              <a:rPr lang="en-US" sz="3600" dirty="0">
                <a:solidFill>
                  <a:srgbClr val="1F1B16"/>
                </a:solidFill>
                <a:latin typeface="EB Garamond" pitchFamily="34" charset="0"/>
                <a:ea typeface="EB Garamond" pitchFamily="34" charset="-122"/>
                <a:cs typeface="EB Garamond" pitchFamily="34" charset="-120"/>
              </a:rPr>
              <a:t>Radix sort: tres pasadas en base 10</a:t>
            </a:r>
            <a:endParaRPr lang="en-US" sz="3600" dirty="0"/>
          </a:p>
        </p:txBody>
      </p:sp>
      <p:sp>
        <p:nvSpPr>
          <p:cNvPr id="5" name="Text 2"/>
          <p:cNvSpPr txBox="1"/>
          <p:nvPr/>
        </p:nvSpPr>
        <p:spPr>
          <a:xfrm>
            <a:off x="548640" y="1911096"/>
            <a:ext cx="1645920" cy="877824"/>
          </a:xfrm>
          <a:prstGeom prst="rect">
            <a:avLst/>
          </a:prstGeom>
          <a:noFill/>
          <a:ln/>
        </p:spPr>
        <p:txBody>
          <a:bodyPr wrap="square" lIns="0" tIns="0" rIns="0" bIns="0" rtlCol="0" anchor="ctr"/>
          <a:lstStyle/>
          <a:p>
            <a:pPr indent="0" marL="0">
              <a:buNone/>
            </a:pPr>
            <a:r>
              <a:rPr lang="en-US" sz="2200" b="1" dirty="0">
                <a:solidFill>
                  <a:srgbClr val="1F1B16"/>
                </a:solidFill>
                <a:latin typeface="EB Garamond" pitchFamily="34" charset="0"/>
                <a:ea typeface="EB Garamond" pitchFamily="34" charset="-122"/>
                <a:cs typeface="EB Garamond" pitchFamily="34" charset="-120"/>
              </a:rPr>
              <a:t>Pasada 1</a:t>
            </a:r>
            <a:endParaRPr lang="en-US" sz="1400" dirty="0"/>
          </a:p>
          <a:p>
            <a:pPr indent="0" marL="0">
              <a:buNone/>
            </a:pPr>
            <a:r>
              <a:rPr lang="en-US" sz="1100" dirty="0">
                <a:solidFill>
                  <a:srgbClr val="6E6657"/>
                </a:solidFill>
                <a:latin typeface="JetBrains Mono" pitchFamily="34" charset="0"/>
                <a:ea typeface="JetBrains Mono" pitchFamily="34" charset="-122"/>
                <a:cs typeface="JetBrains Mono" pitchFamily="34" charset="-120"/>
              </a:rPr>
              <a:t>unidades</a:t>
            </a:r>
            <a:endParaRPr lang="en-US" sz="1400" dirty="0"/>
          </a:p>
        </p:txBody>
      </p:sp>
      <p:sp>
        <p:nvSpPr>
          <p:cNvPr id="6" name="Text 3"/>
          <p:cNvSpPr txBox="1"/>
          <p:nvPr/>
        </p:nvSpPr>
        <p:spPr>
          <a:xfrm>
            <a:off x="2331720" y="1691640"/>
            <a:ext cx="603504"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0</a:t>
            </a:r>
            <a:endParaRPr lang="en-US" sz="1000" dirty="0"/>
          </a:p>
        </p:txBody>
      </p:sp>
      <p:sp>
        <p:nvSpPr>
          <p:cNvPr id="7" name="Text 4"/>
          <p:cNvSpPr txBox="1"/>
          <p:nvPr/>
        </p:nvSpPr>
        <p:spPr>
          <a:xfrm>
            <a:off x="2331720" y="1911096"/>
            <a:ext cx="603504" cy="877824"/>
          </a:xfrm>
          <a:prstGeom prst="rect">
            <a:avLst/>
          </a:prstGeom>
          <a:solidFill>
            <a:srgbClr val="F4F1EA"/>
          </a:solidFill>
          <a:ln w="6350">
            <a:solidFill>
              <a:srgbClr val="1F1B16"/>
            </a:solidFill>
          </a:ln>
        </p:spPr>
        <p:txBody>
          <a:bodyPr wrap="square" lIns="762" tIns="0" rIns="0" bIns="0" rtlCol="0" anchor="t"/>
          <a:lstStyle/>
          <a:p>
            <a:pPr algn="ctr" indent="0" marL="0">
              <a:lnSpc>
                <a:spcPts val="1440"/>
              </a:lnSpc>
              <a:buNone/>
            </a:pPr>
            <a:r>
              <a:rPr lang="en-US" sz="1100" dirty="0">
                <a:solidFill>
                  <a:srgbClr val="1F1B16"/>
                </a:solidFill>
                <a:latin typeface="JetBrains Mono" pitchFamily="34" charset="0"/>
                <a:ea typeface="JetBrains Mono" pitchFamily="34" charset="-122"/>
                <a:cs typeface="JetBrains Mono" pitchFamily="34" charset="-120"/>
              </a:rPr>
              <a:t>50</a:t>
            </a:r>
            <a:endParaRPr lang="en-US" sz="1100" dirty="0"/>
          </a:p>
          <a:p>
            <a:pPr algn="ctr" indent="0" marL="0">
              <a:lnSpc>
                <a:spcPts val="1440"/>
              </a:lnSpc>
              <a:buNone/>
            </a:pPr>
            <a:r>
              <a:rPr lang="en-US" sz="1100" dirty="0">
                <a:solidFill>
                  <a:srgbClr val="1F1B16"/>
                </a:solidFill>
                <a:latin typeface="JetBrains Mono" pitchFamily="34" charset="0"/>
                <a:ea typeface="JetBrains Mono" pitchFamily="34" charset="-122"/>
                <a:cs typeface="JetBrains Mono" pitchFamily="34" charset="-120"/>
              </a:rPr>
              <a:t>100</a:t>
            </a:r>
            <a:endParaRPr lang="en-US" sz="1100" dirty="0"/>
          </a:p>
          <a:p>
            <a:pPr algn="ctr" indent="0" marL="0">
              <a:lnSpc>
                <a:spcPts val="1440"/>
              </a:lnSpc>
              <a:buNone/>
            </a:pPr>
            <a:r>
              <a:rPr lang="en-US" sz="1100" dirty="0">
                <a:solidFill>
                  <a:srgbClr val="1F1B16"/>
                </a:solidFill>
                <a:latin typeface="JetBrains Mono" pitchFamily="34" charset="0"/>
                <a:ea typeface="JetBrains Mono" pitchFamily="34" charset="-122"/>
                <a:cs typeface="JetBrains Mono" pitchFamily="34" charset="-120"/>
              </a:rPr>
              <a:t>20</a:t>
            </a:r>
            <a:endParaRPr lang="en-US" sz="1100" dirty="0"/>
          </a:p>
          <a:p>
            <a:pPr algn="ctr" indent="0" marL="0">
              <a:lnSpc>
                <a:spcPts val="1440"/>
              </a:lnSpc>
              <a:buNone/>
            </a:pPr>
            <a:r>
              <a:rPr lang="en-US" sz="1100" dirty="0">
                <a:solidFill>
                  <a:srgbClr val="1F1B16"/>
                </a:solidFill>
                <a:latin typeface="JetBrains Mono" pitchFamily="34" charset="0"/>
                <a:ea typeface="JetBrains Mono" pitchFamily="34" charset="-122"/>
                <a:cs typeface="JetBrains Mono" pitchFamily="34" charset="-120"/>
              </a:rPr>
              <a:t>40</a:t>
            </a:r>
            <a:endParaRPr lang="en-US" sz="1100" dirty="0"/>
          </a:p>
        </p:txBody>
      </p:sp>
      <p:sp>
        <p:nvSpPr>
          <p:cNvPr id="8" name="Text 5"/>
          <p:cNvSpPr txBox="1"/>
          <p:nvPr/>
        </p:nvSpPr>
        <p:spPr>
          <a:xfrm>
            <a:off x="2935224" y="1691640"/>
            <a:ext cx="603504"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1</a:t>
            </a:r>
            <a:endParaRPr lang="en-US" sz="1000" dirty="0"/>
          </a:p>
        </p:txBody>
      </p:sp>
      <p:sp>
        <p:nvSpPr>
          <p:cNvPr id="9" name="Text 6"/>
          <p:cNvSpPr txBox="1"/>
          <p:nvPr/>
        </p:nvSpPr>
        <p:spPr>
          <a:xfrm>
            <a:off x="2935224" y="1911096"/>
            <a:ext cx="603504" cy="877824"/>
          </a:xfrm>
          <a:prstGeom prst="rect">
            <a:avLst/>
          </a:prstGeom>
          <a:solidFill>
            <a:srgbClr val="F4F1EA"/>
          </a:solidFill>
          <a:ln w="6350">
            <a:solidFill>
              <a:srgbClr val="1F1B16"/>
            </a:solidFill>
          </a:ln>
        </p:spPr>
        <p:txBody>
          <a:bodyPr wrap="square" lIns="762" tIns="0" rIns="0" bIns="0" rtlCol="0" anchor="t"/>
          <a:lstStyle/>
          <a:p>
            <a:pPr algn="ctr" indent="0" marL="0">
              <a:lnSpc>
                <a:spcPts val="1440"/>
              </a:lnSpc>
              <a:buNone/>
            </a:pPr>
            <a:r>
              <a:rPr lang="en-US" sz="1100" dirty="0">
                <a:solidFill>
                  <a:srgbClr val="1F1B16"/>
                </a:solidFill>
                <a:latin typeface="JetBrains Mono" pitchFamily="34" charset="0"/>
                <a:ea typeface="JetBrains Mono" pitchFamily="34" charset="-122"/>
                <a:cs typeface="JetBrains Mono" pitchFamily="34" charset="-120"/>
              </a:rPr>
              <a:t>1</a:t>
            </a:r>
            <a:endParaRPr lang="en-US" sz="1100" dirty="0"/>
          </a:p>
        </p:txBody>
      </p:sp>
      <p:sp>
        <p:nvSpPr>
          <p:cNvPr id="10" name="Text 7"/>
          <p:cNvSpPr txBox="1"/>
          <p:nvPr/>
        </p:nvSpPr>
        <p:spPr>
          <a:xfrm>
            <a:off x="3538728" y="1691640"/>
            <a:ext cx="603504"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2</a:t>
            </a:r>
            <a:endParaRPr lang="en-US" sz="1000" dirty="0"/>
          </a:p>
        </p:txBody>
      </p:sp>
      <p:sp>
        <p:nvSpPr>
          <p:cNvPr id="11" name="Text 8"/>
          <p:cNvSpPr txBox="1"/>
          <p:nvPr/>
        </p:nvSpPr>
        <p:spPr>
          <a:xfrm>
            <a:off x="3538728" y="1911096"/>
            <a:ext cx="603504" cy="877824"/>
          </a:xfrm>
          <a:prstGeom prst="rect">
            <a:avLst/>
          </a:prstGeom>
          <a:solidFill>
            <a:srgbClr val="EAE5D8"/>
          </a:solidFill>
          <a:ln w="6350">
            <a:solidFill>
              <a:srgbClr val="1F1B16"/>
            </a:solidFill>
          </a:ln>
        </p:spPr>
        <p:txBody>
          <a:bodyPr wrap="square" lIns="762" tIns="0" rIns="0" bIns="0" rtlCol="0" anchor="t"/>
          <a:lstStyle/>
          <a:p>
            <a:pPr algn="ctr" indent="0" marL="0">
              <a:lnSpc>
                <a:spcPts val="1440"/>
              </a:lnSpc>
              <a:buNone/>
            </a:pPr>
            <a:r>
              <a:rPr lang="en-US" sz="1100" dirty="0">
                <a:solidFill>
                  <a:srgbClr val="B5AD9B"/>
                </a:solidFill>
                <a:latin typeface="JetBrains Mono" pitchFamily="34" charset="0"/>
                <a:ea typeface="JetBrains Mono" pitchFamily="34" charset="-122"/>
                <a:cs typeface="JetBrains Mono" pitchFamily="34" charset="-120"/>
              </a:rPr>
              <a:t>·</a:t>
            </a:r>
            <a:endParaRPr lang="en-US" sz="1100" dirty="0"/>
          </a:p>
        </p:txBody>
      </p:sp>
      <p:sp>
        <p:nvSpPr>
          <p:cNvPr id="12" name="Text 9"/>
          <p:cNvSpPr txBox="1"/>
          <p:nvPr/>
        </p:nvSpPr>
        <p:spPr>
          <a:xfrm>
            <a:off x="4142232" y="1691640"/>
            <a:ext cx="603504"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3</a:t>
            </a:r>
            <a:endParaRPr lang="en-US" sz="1000" dirty="0"/>
          </a:p>
        </p:txBody>
      </p:sp>
      <p:sp>
        <p:nvSpPr>
          <p:cNvPr id="13" name="Text 10"/>
          <p:cNvSpPr txBox="1"/>
          <p:nvPr/>
        </p:nvSpPr>
        <p:spPr>
          <a:xfrm>
            <a:off x="4142232" y="1911096"/>
            <a:ext cx="603504" cy="877824"/>
          </a:xfrm>
          <a:prstGeom prst="rect">
            <a:avLst/>
          </a:prstGeom>
          <a:solidFill>
            <a:srgbClr val="EAE5D8"/>
          </a:solidFill>
          <a:ln w="6350">
            <a:solidFill>
              <a:srgbClr val="1F1B16"/>
            </a:solidFill>
          </a:ln>
        </p:spPr>
        <p:txBody>
          <a:bodyPr wrap="square" lIns="762" tIns="0" rIns="0" bIns="0" rtlCol="0" anchor="t"/>
          <a:lstStyle/>
          <a:p>
            <a:pPr algn="ctr" indent="0" marL="0">
              <a:lnSpc>
                <a:spcPts val="1440"/>
              </a:lnSpc>
              <a:buNone/>
            </a:pPr>
            <a:r>
              <a:rPr lang="en-US" sz="1100" dirty="0">
                <a:solidFill>
                  <a:srgbClr val="B5AD9B"/>
                </a:solidFill>
                <a:latin typeface="JetBrains Mono" pitchFamily="34" charset="0"/>
                <a:ea typeface="JetBrains Mono" pitchFamily="34" charset="-122"/>
                <a:cs typeface="JetBrains Mono" pitchFamily="34" charset="-120"/>
              </a:rPr>
              <a:t>·</a:t>
            </a:r>
            <a:endParaRPr lang="en-US" sz="1100" dirty="0"/>
          </a:p>
        </p:txBody>
      </p:sp>
      <p:sp>
        <p:nvSpPr>
          <p:cNvPr id="14" name="Text 11"/>
          <p:cNvSpPr txBox="1"/>
          <p:nvPr/>
        </p:nvSpPr>
        <p:spPr>
          <a:xfrm>
            <a:off x="4745736" y="1691640"/>
            <a:ext cx="603504"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4</a:t>
            </a:r>
            <a:endParaRPr lang="en-US" sz="1000" dirty="0"/>
          </a:p>
        </p:txBody>
      </p:sp>
      <p:sp>
        <p:nvSpPr>
          <p:cNvPr id="15" name="Text 12"/>
          <p:cNvSpPr txBox="1"/>
          <p:nvPr/>
        </p:nvSpPr>
        <p:spPr>
          <a:xfrm>
            <a:off x="4745736" y="1911096"/>
            <a:ext cx="603504" cy="877824"/>
          </a:xfrm>
          <a:prstGeom prst="rect">
            <a:avLst/>
          </a:prstGeom>
          <a:solidFill>
            <a:srgbClr val="EAE5D8"/>
          </a:solidFill>
          <a:ln w="6350">
            <a:solidFill>
              <a:srgbClr val="1F1B16"/>
            </a:solidFill>
          </a:ln>
        </p:spPr>
        <p:txBody>
          <a:bodyPr wrap="square" lIns="762" tIns="0" rIns="0" bIns="0" rtlCol="0" anchor="t"/>
          <a:lstStyle/>
          <a:p>
            <a:pPr algn="ctr" indent="0" marL="0">
              <a:lnSpc>
                <a:spcPts val="1440"/>
              </a:lnSpc>
              <a:buNone/>
            </a:pPr>
            <a:r>
              <a:rPr lang="en-US" sz="1100" dirty="0">
                <a:solidFill>
                  <a:srgbClr val="B5AD9B"/>
                </a:solidFill>
                <a:latin typeface="JetBrains Mono" pitchFamily="34" charset="0"/>
                <a:ea typeface="JetBrains Mono" pitchFamily="34" charset="-122"/>
                <a:cs typeface="JetBrains Mono" pitchFamily="34" charset="-120"/>
              </a:rPr>
              <a:t>·</a:t>
            </a:r>
            <a:endParaRPr lang="en-US" sz="1100" dirty="0"/>
          </a:p>
        </p:txBody>
      </p:sp>
      <p:sp>
        <p:nvSpPr>
          <p:cNvPr id="16" name="Text 13"/>
          <p:cNvSpPr txBox="1"/>
          <p:nvPr/>
        </p:nvSpPr>
        <p:spPr>
          <a:xfrm>
            <a:off x="5349240" y="1691640"/>
            <a:ext cx="603504"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5</a:t>
            </a:r>
            <a:endParaRPr lang="en-US" sz="1000" dirty="0"/>
          </a:p>
        </p:txBody>
      </p:sp>
      <p:sp>
        <p:nvSpPr>
          <p:cNvPr id="17" name="Text 14"/>
          <p:cNvSpPr txBox="1"/>
          <p:nvPr/>
        </p:nvSpPr>
        <p:spPr>
          <a:xfrm>
            <a:off x="5349240" y="1911096"/>
            <a:ext cx="603504" cy="877824"/>
          </a:xfrm>
          <a:prstGeom prst="rect">
            <a:avLst/>
          </a:prstGeom>
          <a:solidFill>
            <a:srgbClr val="EAE5D8"/>
          </a:solidFill>
          <a:ln w="6350">
            <a:solidFill>
              <a:srgbClr val="1F1B16"/>
            </a:solidFill>
          </a:ln>
        </p:spPr>
        <p:txBody>
          <a:bodyPr wrap="square" lIns="762" tIns="0" rIns="0" bIns="0" rtlCol="0" anchor="t"/>
          <a:lstStyle/>
          <a:p>
            <a:pPr algn="ctr" indent="0" marL="0">
              <a:lnSpc>
                <a:spcPts val="1440"/>
              </a:lnSpc>
              <a:buNone/>
            </a:pPr>
            <a:r>
              <a:rPr lang="en-US" sz="1100" dirty="0">
                <a:solidFill>
                  <a:srgbClr val="B5AD9B"/>
                </a:solidFill>
                <a:latin typeface="JetBrains Mono" pitchFamily="34" charset="0"/>
                <a:ea typeface="JetBrains Mono" pitchFamily="34" charset="-122"/>
                <a:cs typeface="JetBrains Mono" pitchFamily="34" charset="-120"/>
              </a:rPr>
              <a:t>·</a:t>
            </a:r>
            <a:endParaRPr lang="en-US" sz="1100" dirty="0"/>
          </a:p>
        </p:txBody>
      </p:sp>
      <p:sp>
        <p:nvSpPr>
          <p:cNvPr id="18" name="Text 15"/>
          <p:cNvSpPr txBox="1"/>
          <p:nvPr/>
        </p:nvSpPr>
        <p:spPr>
          <a:xfrm>
            <a:off x="5952744" y="1691640"/>
            <a:ext cx="603504"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6</a:t>
            </a:r>
            <a:endParaRPr lang="en-US" sz="1000" dirty="0"/>
          </a:p>
        </p:txBody>
      </p:sp>
      <p:sp>
        <p:nvSpPr>
          <p:cNvPr id="19" name="Text 16"/>
          <p:cNvSpPr txBox="1"/>
          <p:nvPr/>
        </p:nvSpPr>
        <p:spPr>
          <a:xfrm>
            <a:off x="5952744" y="1911096"/>
            <a:ext cx="603504" cy="877824"/>
          </a:xfrm>
          <a:prstGeom prst="rect">
            <a:avLst/>
          </a:prstGeom>
          <a:solidFill>
            <a:srgbClr val="EAE5D8"/>
          </a:solidFill>
          <a:ln w="6350">
            <a:solidFill>
              <a:srgbClr val="1F1B16"/>
            </a:solidFill>
          </a:ln>
        </p:spPr>
        <p:txBody>
          <a:bodyPr wrap="square" lIns="762" tIns="0" rIns="0" bIns="0" rtlCol="0" anchor="t"/>
          <a:lstStyle/>
          <a:p>
            <a:pPr algn="ctr" indent="0" marL="0">
              <a:lnSpc>
                <a:spcPts val="1440"/>
              </a:lnSpc>
              <a:buNone/>
            </a:pPr>
            <a:r>
              <a:rPr lang="en-US" sz="1100" dirty="0">
                <a:solidFill>
                  <a:srgbClr val="B5AD9B"/>
                </a:solidFill>
                <a:latin typeface="JetBrains Mono" pitchFamily="34" charset="0"/>
                <a:ea typeface="JetBrains Mono" pitchFamily="34" charset="-122"/>
                <a:cs typeface="JetBrains Mono" pitchFamily="34" charset="-120"/>
              </a:rPr>
              <a:t>·</a:t>
            </a:r>
            <a:endParaRPr lang="en-US" sz="1100" dirty="0"/>
          </a:p>
        </p:txBody>
      </p:sp>
      <p:sp>
        <p:nvSpPr>
          <p:cNvPr id="20" name="Text 17"/>
          <p:cNvSpPr txBox="1"/>
          <p:nvPr/>
        </p:nvSpPr>
        <p:spPr>
          <a:xfrm>
            <a:off x="6556248" y="1691640"/>
            <a:ext cx="603504"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7</a:t>
            </a:r>
            <a:endParaRPr lang="en-US" sz="1000" dirty="0"/>
          </a:p>
        </p:txBody>
      </p:sp>
      <p:sp>
        <p:nvSpPr>
          <p:cNvPr id="21" name="Text 18"/>
          <p:cNvSpPr txBox="1"/>
          <p:nvPr/>
        </p:nvSpPr>
        <p:spPr>
          <a:xfrm>
            <a:off x="6556248" y="1911096"/>
            <a:ext cx="603504" cy="877824"/>
          </a:xfrm>
          <a:prstGeom prst="rect">
            <a:avLst/>
          </a:prstGeom>
          <a:solidFill>
            <a:srgbClr val="EAE5D8"/>
          </a:solidFill>
          <a:ln w="6350">
            <a:solidFill>
              <a:srgbClr val="1F1B16"/>
            </a:solidFill>
          </a:ln>
        </p:spPr>
        <p:txBody>
          <a:bodyPr wrap="square" lIns="762" tIns="0" rIns="0" bIns="0" rtlCol="0" anchor="t"/>
          <a:lstStyle/>
          <a:p>
            <a:pPr algn="ctr" indent="0" marL="0">
              <a:lnSpc>
                <a:spcPts val="1440"/>
              </a:lnSpc>
              <a:buNone/>
            </a:pPr>
            <a:r>
              <a:rPr lang="en-US" sz="1100" dirty="0">
                <a:solidFill>
                  <a:srgbClr val="B5AD9B"/>
                </a:solidFill>
                <a:latin typeface="JetBrains Mono" pitchFamily="34" charset="0"/>
                <a:ea typeface="JetBrains Mono" pitchFamily="34" charset="-122"/>
                <a:cs typeface="JetBrains Mono" pitchFamily="34" charset="-120"/>
              </a:rPr>
              <a:t>·</a:t>
            </a:r>
            <a:endParaRPr lang="en-US" sz="1100" dirty="0"/>
          </a:p>
        </p:txBody>
      </p:sp>
      <p:sp>
        <p:nvSpPr>
          <p:cNvPr id="22" name="Text 19"/>
          <p:cNvSpPr txBox="1"/>
          <p:nvPr/>
        </p:nvSpPr>
        <p:spPr>
          <a:xfrm>
            <a:off x="7159752" y="1691640"/>
            <a:ext cx="603504"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8</a:t>
            </a:r>
            <a:endParaRPr lang="en-US" sz="1000" dirty="0"/>
          </a:p>
        </p:txBody>
      </p:sp>
      <p:sp>
        <p:nvSpPr>
          <p:cNvPr id="23" name="Text 20"/>
          <p:cNvSpPr txBox="1"/>
          <p:nvPr/>
        </p:nvSpPr>
        <p:spPr>
          <a:xfrm>
            <a:off x="7159752" y="1911096"/>
            <a:ext cx="603504" cy="877824"/>
          </a:xfrm>
          <a:prstGeom prst="rect">
            <a:avLst/>
          </a:prstGeom>
          <a:solidFill>
            <a:srgbClr val="EAE5D8"/>
          </a:solidFill>
          <a:ln w="6350">
            <a:solidFill>
              <a:srgbClr val="1F1B16"/>
            </a:solidFill>
          </a:ln>
        </p:spPr>
        <p:txBody>
          <a:bodyPr wrap="square" lIns="762" tIns="0" rIns="0" bIns="0" rtlCol="0" anchor="t"/>
          <a:lstStyle/>
          <a:p>
            <a:pPr algn="ctr" indent="0" marL="0">
              <a:lnSpc>
                <a:spcPts val="1440"/>
              </a:lnSpc>
              <a:buNone/>
            </a:pPr>
            <a:r>
              <a:rPr lang="en-US" sz="1100" dirty="0">
                <a:solidFill>
                  <a:srgbClr val="B5AD9B"/>
                </a:solidFill>
                <a:latin typeface="JetBrains Mono" pitchFamily="34" charset="0"/>
                <a:ea typeface="JetBrains Mono" pitchFamily="34" charset="-122"/>
                <a:cs typeface="JetBrains Mono" pitchFamily="34" charset="-120"/>
              </a:rPr>
              <a:t>·</a:t>
            </a:r>
            <a:endParaRPr lang="en-US" sz="1100" dirty="0"/>
          </a:p>
        </p:txBody>
      </p:sp>
      <p:sp>
        <p:nvSpPr>
          <p:cNvPr id="24" name="Text 21"/>
          <p:cNvSpPr txBox="1"/>
          <p:nvPr/>
        </p:nvSpPr>
        <p:spPr>
          <a:xfrm>
            <a:off x="7763256" y="1691640"/>
            <a:ext cx="603504"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9</a:t>
            </a:r>
            <a:endParaRPr lang="en-US" sz="1000" dirty="0"/>
          </a:p>
        </p:txBody>
      </p:sp>
      <p:sp>
        <p:nvSpPr>
          <p:cNvPr id="25" name="Text 22"/>
          <p:cNvSpPr txBox="1"/>
          <p:nvPr/>
        </p:nvSpPr>
        <p:spPr>
          <a:xfrm>
            <a:off x="7763256" y="1911096"/>
            <a:ext cx="603504" cy="877824"/>
          </a:xfrm>
          <a:prstGeom prst="rect">
            <a:avLst/>
          </a:prstGeom>
          <a:solidFill>
            <a:srgbClr val="F4F1EA"/>
          </a:solidFill>
          <a:ln w="6350">
            <a:solidFill>
              <a:srgbClr val="1F1B16"/>
            </a:solidFill>
          </a:ln>
        </p:spPr>
        <p:txBody>
          <a:bodyPr wrap="square" lIns="762" tIns="0" rIns="0" bIns="0" rtlCol="0" anchor="t"/>
          <a:lstStyle/>
          <a:p>
            <a:pPr algn="ctr" indent="0" marL="0">
              <a:lnSpc>
                <a:spcPts val="1440"/>
              </a:lnSpc>
              <a:buNone/>
            </a:pPr>
            <a:r>
              <a:rPr lang="en-US" sz="1100" dirty="0">
                <a:solidFill>
                  <a:srgbClr val="1F1B16"/>
                </a:solidFill>
                <a:latin typeface="JetBrains Mono" pitchFamily="34" charset="0"/>
                <a:ea typeface="JetBrains Mono" pitchFamily="34" charset="-122"/>
                <a:cs typeface="JetBrains Mono" pitchFamily="34" charset="-120"/>
              </a:rPr>
              <a:t>19</a:t>
            </a:r>
            <a:endParaRPr lang="en-US" sz="1100" dirty="0"/>
          </a:p>
          <a:p>
            <a:pPr algn="ctr" indent="0" marL="0">
              <a:lnSpc>
                <a:spcPts val="1440"/>
              </a:lnSpc>
              <a:buNone/>
            </a:pPr>
            <a:r>
              <a:rPr lang="en-US" sz="1100" dirty="0">
                <a:solidFill>
                  <a:srgbClr val="1F1B16"/>
                </a:solidFill>
                <a:latin typeface="JetBrains Mono" pitchFamily="34" charset="0"/>
                <a:ea typeface="JetBrains Mono" pitchFamily="34" charset="-122"/>
                <a:cs typeface="JetBrains Mono" pitchFamily="34" charset="-120"/>
              </a:rPr>
              <a:t>99</a:t>
            </a:r>
            <a:endParaRPr lang="en-US" sz="1100" dirty="0"/>
          </a:p>
        </p:txBody>
      </p:sp>
      <p:sp>
        <p:nvSpPr>
          <p:cNvPr id="26" name="Shape 23"/>
          <p:cNvSpPr/>
          <p:nvPr/>
        </p:nvSpPr>
        <p:spPr>
          <a:xfrm>
            <a:off x="8503920" y="2350008"/>
            <a:ext cx="320040" cy="0"/>
          </a:xfrm>
          <a:prstGeom prst="line">
            <a:avLst/>
          </a:prstGeom>
          <a:noFill/>
          <a:ln w="12700">
            <a:solidFill>
              <a:srgbClr val="1F1B16"/>
            </a:solidFill>
            <a:prstDash val="solid"/>
            <a:tailEnd type="triangle"/>
          </a:ln>
        </p:spPr>
      </p:sp>
      <p:sp>
        <p:nvSpPr>
          <p:cNvPr id="27" name="Text 24"/>
          <p:cNvSpPr txBox="1"/>
          <p:nvPr/>
        </p:nvSpPr>
        <p:spPr>
          <a:xfrm>
            <a:off x="8961120" y="1691640"/>
            <a:ext cx="2651760" cy="201168"/>
          </a:xfrm>
          <a:prstGeom prst="rect">
            <a:avLst/>
          </a:prstGeom>
          <a:noFill/>
          <a:ln/>
        </p:spPr>
        <p:txBody>
          <a:bodyPr wrap="square" lIns="0" tIns="0" rIns="0" bIns="0" rtlCol="0" anchor="t"/>
          <a:lstStyle/>
          <a:p>
            <a:pPr indent="0" marL="0">
              <a:buNone/>
            </a:pPr>
            <a:r>
              <a:rPr lang="en-US" sz="1000" dirty="0">
                <a:solidFill>
                  <a:srgbClr val="6E6657"/>
                </a:solidFill>
                <a:latin typeface="JetBrains Mono" pitchFamily="34" charset="0"/>
                <a:ea typeface="JetBrains Mono" pitchFamily="34" charset="-122"/>
                <a:cs typeface="JetBrains Mono" pitchFamily="34" charset="-120"/>
              </a:rPr>
              <a:t>QUEDA</a:t>
            </a:r>
            <a:endParaRPr lang="en-US" sz="1000" dirty="0"/>
          </a:p>
        </p:txBody>
      </p:sp>
      <p:sp>
        <p:nvSpPr>
          <p:cNvPr id="28" name="Text 25"/>
          <p:cNvSpPr txBox="1"/>
          <p:nvPr/>
        </p:nvSpPr>
        <p:spPr>
          <a:xfrm>
            <a:off x="8961120" y="2130552"/>
            <a:ext cx="384048" cy="438912"/>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100" dirty="0">
                <a:solidFill>
                  <a:srgbClr val="1F1B16"/>
                </a:solidFill>
                <a:latin typeface="JetBrains Mono" pitchFamily="34" charset="0"/>
                <a:ea typeface="JetBrains Mono" pitchFamily="34" charset="-122"/>
                <a:cs typeface="JetBrains Mono" pitchFamily="34" charset="-120"/>
              </a:rPr>
              <a:t>50</a:t>
            </a:r>
            <a:endParaRPr lang="en-US" sz="1100" dirty="0"/>
          </a:p>
        </p:txBody>
      </p:sp>
      <p:sp>
        <p:nvSpPr>
          <p:cNvPr id="29" name="Text 26"/>
          <p:cNvSpPr txBox="1"/>
          <p:nvPr/>
        </p:nvSpPr>
        <p:spPr>
          <a:xfrm>
            <a:off x="9345168" y="2130552"/>
            <a:ext cx="384048" cy="438912"/>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100" dirty="0">
                <a:solidFill>
                  <a:srgbClr val="1F1B16"/>
                </a:solidFill>
                <a:latin typeface="JetBrains Mono" pitchFamily="34" charset="0"/>
                <a:ea typeface="JetBrains Mono" pitchFamily="34" charset="-122"/>
                <a:cs typeface="JetBrains Mono" pitchFamily="34" charset="-120"/>
              </a:rPr>
              <a:t>100</a:t>
            </a:r>
            <a:endParaRPr lang="en-US" sz="1100" dirty="0"/>
          </a:p>
        </p:txBody>
      </p:sp>
      <p:sp>
        <p:nvSpPr>
          <p:cNvPr id="30" name="Text 27"/>
          <p:cNvSpPr txBox="1"/>
          <p:nvPr/>
        </p:nvSpPr>
        <p:spPr>
          <a:xfrm>
            <a:off x="9729216" y="2130552"/>
            <a:ext cx="384048" cy="438912"/>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100" dirty="0">
                <a:solidFill>
                  <a:srgbClr val="1F1B16"/>
                </a:solidFill>
                <a:latin typeface="JetBrains Mono" pitchFamily="34" charset="0"/>
                <a:ea typeface="JetBrains Mono" pitchFamily="34" charset="-122"/>
                <a:cs typeface="JetBrains Mono" pitchFamily="34" charset="-120"/>
              </a:rPr>
              <a:t>20</a:t>
            </a:r>
            <a:endParaRPr lang="en-US" sz="1100" dirty="0"/>
          </a:p>
        </p:txBody>
      </p:sp>
      <p:sp>
        <p:nvSpPr>
          <p:cNvPr id="31" name="Text 28"/>
          <p:cNvSpPr txBox="1"/>
          <p:nvPr/>
        </p:nvSpPr>
        <p:spPr>
          <a:xfrm>
            <a:off x="10113264" y="2130552"/>
            <a:ext cx="384048" cy="438912"/>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100" dirty="0">
                <a:solidFill>
                  <a:srgbClr val="1F1B16"/>
                </a:solidFill>
                <a:latin typeface="JetBrains Mono" pitchFamily="34" charset="0"/>
                <a:ea typeface="JetBrains Mono" pitchFamily="34" charset="-122"/>
                <a:cs typeface="JetBrains Mono" pitchFamily="34" charset="-120"/>
              </a:rPr>
              <a:t>40</a:t>
            </a:r>
            <a:endParaRPr lang="en-US" sz="1100" dirty="0"/>
          </a:p>
        </p:txBody>
      </p:sp>
      <p:sp>
        <p:nvSpPr>
          <p:cNvPr id="32" name="Text 29"/>
          <p:cNvSpPr txBox="1"/>
          <p:nvPr/>
        </p:nvSpPr>
        <p:spPr>
          <a:xfrm>
            <a:off x="10497312" y="2130552"/>
            <a:ext cx="384048" cy="438912"/>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100" dirty="0">
                <a:solidFill>
                  <a:srgbClr val="1F1B16"/>
                </a:solidFill>
                <a:latin typeface="JetBrains Mono" pitchFamily="34" charset="0"/>
                <a:ea typeface="JetBrains Mono" pitchFamily="34" charset="-122"/>
                <a:cs typeface="JetBrains Mono" pitchFamily="34" charset="-120"/>
              </a:rPr>
              <a:t>1</a:t>
            </a:r>
            <a:endParaRPr lang="en-US" sz="1100" dirty="0"/>
          </a:p>
        </p:txBody>
      </p:sp>
      <p:sp>
        <p:nvSpPr>
          <p:cNvPr id="33" name="Text 30"/>
          <p:cNvSpPr txBox="1"/>
          <p:nvPr/>
        </p:nvSpPr>
        <p:spPr>
          <a:xfrm>
            <a:off x="10881360" y="2130552"/>
            <a:ext cx="384048" cy="438912"/>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100" dirty="0">
                <a:solidFill>
                  <a:srgbClr val="1F1B16"/>
                </a:solidFill>
                <a:latin typeface="JetBrains Mono" pitchFamily="34" charset="0"/>
                <a:ea typeface="JetBrains Mono" pitchFamily="34" charset="-122"/>
                <a:cs typeface="JetBrains Mono" pitchFamily="34" charset="-120"/>
              </a:rPr>
              <a:t>19</a:t>
            </a:r>
            <a:endParaRPr lang="en-US" sz="1100" dirty="0"/>
          </a:p>
        </p:txBody>
      </p:sp>
      <p:sp>
        <p:nvSpPr>
          <p:cNvPr id="34" name="Text 31"/>
          <p:cNvSpPr txBox="1"/>
          <p:nvPr/>
        </p:nvSpPr>
        <p:spPr>
          <a:xfrm>
            <a:off x="11265408" y="2130552"/>
            <a:ext cx="384048" cy="438912"/>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100" dirty="0">
                <a:solidFill>
                  <a:srgbClr val="1F1B16"/>
                </a:solidFill>
                <a:latin typeface="JetBrains Mono" pitchFamily="34" charset="0"/>
                <a:ea typeface="JetBrains Mono" pitchFamily="34" charset="-122"/>
                <a:cs typeface="JetBrains Mono" pitchFamily="34" charset="-120"/>
              </a:rPr>
              <a:t>99</a:t>
            </a:r>
            <a:endParaRPr lang="en-US" sz="1100" dirty="0"/>
          </a:p>
        </p:txBody>
      </p:sp>
      <p:sp>
        <p:nvSpPr>
          <p:cNvPr id="35" name="Text 32"/>
          <p:cNvSpPr txBox="1"/>
          <p:nvPr/>
        </p:nvSpPr>
        <p:spPr>
          <a:xfrm>
            <a:off x="548640" y="3282696"/>
            <a:ext cx="1645920" cy="512064"/>
          </a:xfrm>
          <a:prstGeom prst="rect">
            <a:avLst/>
          </a:prstGeom>
          <a:noFill/>
          <a:ln/>
        </p:spPr>
        <p:txBody>
          <a:bodyPr wrap="square" lIns="0" tIns="0" rIns="0" bIns="0" rtlCol="0" anchor="ctr"/>
          <a:lstStyle/>
          <a:p>
            <a:pPr indent="0" marL="0">
              <a:buNone/>
            </a:pPr>
            <a:r>
              <a:rPr lang="en-US" sz="2200" b="1" dirty="0">
                <a:solidFill>
                  <a:srgbClr val="1F1B16"/>
                </a:solidFill>
                <a:latin typeface="EB Garamond" pitchFamily="34" charset="0"/>
                <a:ea typeface="EB Garamond" pitchFamily="34" charset="-122"/>
                <a:cs typeface="EB Garamond" pitchFamily="34" charset="-120"/>
              </a:rPr>
              <a:t>Pasada 2</a:t>
            </a:r>
            <a:endParaRPr lang="en-US" sz="1400" dirty="0"/>
          </a:p>
          <a:p>
            <a:pPr indent="0" marL="0">
              <a:buNone/>
            </a:pPr>
            <a:r>
              <a:rPr lang="en-US" sz="1100" dirty="0">
                <a:solidFill>
                  <a:srgbClr val="6E6657"/>
                </a:solidFill>
                <a:latin typeface="JetBrains Mono" pitchFamily="34" charset="0"/>
                <a:ea typeface="JetBrains Mono" pitchFamily="34" charset="-122"/>
                <a:cs typeface="JetBrains Mono" pitchFamily="34" charset="-120"/>
              </a:rPr>
              <a:t>decenas</a:t>
            </a:r>
            <a:endParaRPr lang="en-US" sz="1400" dirty="0"/>
          </a:p>
        </p:txBody>
      </p:sp>
      <p:sp>
        <p:nvSpPr>
          <p:cNvPr id="36" name="Text 33"/>
          <p:cNvSpPr txBox="1"/>
          <p:nvPr/>
        </p:nvSpPr>
        <p:spPr>
          <a:xfrm>
            <a:off x="2331720" y="3063240"/>
            <a:ext cx="603504"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0</a:t>
            </a:r>
            <a:endParaRPr lang="en-US" sz="1000" dirty="0"/>
          </a:p>
        </p:txBody>
      </p:sp>
      <p:sp>
        <p:nvSpPr>
          <p:cNvPr id="37" name="Text 34"/>
          <p:cNvSpPr txBox="1"/>
          <p:nvPr/>
        </p:nvSpPr>
        <p:spPr>
          <a:xfrm>
            <a:off x="2331720" y="3282696"/>
            <a:ext cx="603504" cy="512064"/>
          </a:xfrm>
          <a:prstGeom prst="rect">
            <a:avLst/>
          </a:prstGeom>
          <a:solidFill>
            <a:srgbClr val="F4F1EA"/>
          </a:solidFill>
          <a:ln w="6350">
            <a:solidFill>
              <a:srgbClr val="1F1B16"/>
            </a:solidFill>
          </a:ln>
        </p:spPr>
        <p:txBody>
          <a:bodyPr wrap="square" lIns="762" tIns="0" rIns="0" bIns="0" rtlCol="0" anchor="t"/>
          <a:lstStyle/>
          <a:p>
            <a:pPr algn="ctr" indent="0" marL="0">
              <a:lnSpc>
                <a:spcPts val="1440"/>
              </a:lnSpc>
              <a:buNone/>
            </a:pPr>
            <a:r>
              <a:rPr lang="en-US" sz="1100" b="1" dirty="0">
                <a:solidFill>
                  <a:srgbClr val="8C2F23"/>
                </a:solidFill>
                <a:latin typeface="JetBrains Mono" pitchFamily="34" charset="0"/>
                <a:ea typeface="JetBrains Mono" pitchFamily="34" charset="-122"/>
                <a:cs typeface="JetBrains Mono" pitchFamily="34" charset="-120"/>
              </a:rPr>
              <a:t>100</a:t>
            </a:r>
            <a:endParaRPr lang="en-US" sz="1100" dirty="0"/>
          </a:p>
          <a:p>
            <a:pPr algn="ctr" indent="0" marL="0">
              <a:lnSpc>
                <a:spcPts val="1440"/>
              </a:lnSpc>
              <a:buNone/>
            </a:pPr>
            <a:r>
              <a:rPr lang="en-US" sz="1100" b="1" dirty="0">
                <a:solidFill>
                  <a:srgbClr val="8C2F23"/>
                </a:solidFill>
                <a:latin typeface="JetBrains Mono" pitchFamily="34" charset="0"/>
                <a:ea typeface="JetBrains Mono" pitchFamily="34" charset="-122"/>
                <a:cs typeface="JetBrains Mono" pitchFamily="34" charset="-120"/>
              </a:rPr>
              <a:t>1</a:t>
            </a:r>
            <a:endParaRPr lang="en-US" sz="1100" dirty="0"/>
          </a:p>
        </p:txBody>
      </p:sp>
      <p:sp>
        <p:nvSpPr>
          <p:cNvPr id="38" name="Text 35"/>
          <p:cNvSpPr txBox="1"/>
          <p:nvPr/>
        </p:nvSpPr>
        <p:spPr>
          <a:xfrm>
            <a:off x="2935224" y="3063240"/>
            <a:ext cx="603504"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1</a:t>
            </a:r>
            <a:endParaRPr lang="en-US" sz="1000" dirty="0"/>
          </a:p>
        </p:txBody>
      </p:sp>
      <p:sp>
        <p:nvSpPr>
          <p:cNvPr id="39" name="Text 36"/>
          <p:cNvSpPr txBox="1"/>
          <p:nvPr/>
        </p:nvSpPr>
        <p:spPr>
          <a:xfrm>
            <a:off x="2935224" y="3282696"/>
            <a:ext cx="603504" cy="512064"/>
          </a:xfrm>
          <a:prstGeom prst="rect">
            <a:avLst/>
          </a:prstGeom>
          <a:solidFill>
            <a:srgbClr val="F4F1EA"/>
          </a:solidFill>
          <a:ln w="6350">
            <a:solidFill>
              <a:srgbClr val="1F1B16"/>
            </a:solidFill>
          </a:ln>
        </p:spPr>
        <p:txBody>
          <a:bodyPr wrap="square" lIns="762" tIns="0" rIns="0" bIns="0" rtlCol="0" anchor="t"/>
          <a:lstStyle/>
          <a:p>
            <a:pPr algn="ctr" indent="0" marL="0">
              <a:lnSpc>
                <a:spcPts val="1440"/>
              </a:lnSpc>
              <a:buNone/>
            </a:pPr>
            <a:r>
              <a:rPr lang="en-US" sz="1100" dirty="0">
                <a:solidFill>
                  <a:srgbClr val="1F1B16"/>
                </a:solidFill>
                <a:latin typeface="JetBrains Mono" pitchFamily="34" charset="0"/>
                <a:ea typeface="JetBrains Mono" pitchFamily="34" charset="-122"/>
                <a:cs typeface="JetBrains Mono" pitchFamily="34" charset="-120"/>
              </a:rPr>
              <a:t>19</a:t>
            </a:r>
            <a:endParaRPr lang="en-US" sz="1100" dirty="0"/>
          </a:p>
        </p:txBody>
      </p:sp>
      <p:sp>
        <p:nvSpPr>
          <p:cNvPr id="40" name="Text 37"/>
          <p:cNvSpPr txBox="1"/>
          <p:nvPr/>
        </p:nvSpPr>
        <p:spPr>
          <a:xfrm>
            <a:off x="3538728" y="3063240"/>
            <a:ext cx="603504"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2</a:t>
            </a:r>
            <a:endParaRPr lang="en-US" sz="1000" dirty="0"/>
          </a:p>
        </p:txBody>
      </p:sp>
      <p:sp>
        <p:nvSpPr>
          <p:cNvPr id="41" name="Text 38"/>
          <p:cNvSpPr txBox="1"/>
          <p:nvPr/>
        </p:nvSpPr>
        <p:spPr>
          <a:xfrm>
            <a:off x="3538728" y="3282696"/>
            <a:ext cx="603504" cy="512064"/>
          </a:xfrm>
          <a:prstGeom prst="rect">
            <a:avLst/>
          </a:prstGeom>
          <a:solidFill>
            <a:srgbClr val="F4F1EA"/>
          </a:solidFill>
          <a:ln w="6350">
            <a:solidFill>
              <a:srgbClr val="1F1B16"/>
            </a:solidFill>
          </a:ln>
        </p:spPr>
        <p:txBody>
          <a:bodyPr wrap="square" lIns="762" tIns="0" rIns="0" bIns="0" rtlCol="0" anchor="t"/>
          <a:lstStyle/>
          <a:p>
            <a:pPr algn="ctr" indent="0" marL="0">
              <a:lnSpc>
                <a:spcPts val="1440"/>
              </a:lnSpc>
              <a:buNone/>
            </a:pPr>
            <a:r>
              <a:rPr lang="en-US" sz="1100" dirty="0">
                <a:solidFill>
                  <a:srgbClr val="1F1B16"/>
                </a:solidFill>
                <a:latin typeface="JetBrains Mono" pitchFamily="34" charset="0"/>
                <a:ea typeface="JetBrains Mono" pitchFamily="34" charset="-122"/>
                <a:cs typeface="JetBrains Mono" pitchFamily="34" charset="-120"/>
              </a:rPr>
              <a:t>20</a:t>
            </a:r>
            <a:endParaRPr lang="en-US" sz="1100" dirty="0"/>
          </a:p>
        </p:txBody>
      </p:sp>
      <p:sp>
        <p:nvSpPr>
          <p:cNvPr id="42" name="Text 39"/>
          <p:cNvSpPr txBox="1"/>
          <p:nvPr/>
        </p:nvSpPr>
        <p:spPr>
          <a:xfrm>
            <a:off x="4142232" y="3063240"/>
            <a:ext cx="603504"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3</a:t>
            </a:r>
            <a:endParaRPr lang="en-US" sz="1000" dirty="0"/>
          </a:p>
        </p:txBody>
      </p:sp>
      <p:sp>
        <p:nvSpPr>
          <p:cNvPr id="43" name="Text 40"/>
          <p:cNvSpPr txBox="1"/>
          <p:nvPr/>
        </p:nvSpPr>
        <p:spPr>
          <a:xfrm>
            <a:off x="4142232" y="3282696"/>
            <a:ext cx="603504" cy="512064"/>
          </a:xfrm>
          <a:prstGeom prst="rect">
            <a:avLst/>
          </a:prstGeom>
          <a:solidFill>
            <a:srgbClr val="EAE5D8"/>
          </a:solidFill>
          <a:ln w="6350">
            <a:solidFill>
              <a:srgbClr val="1F1B16"/>
            </a:solidFill>
          </a:ln>
        </p:spPr>
        <p:txBody>
          <a:bodyPr wrap="square" lIns="762" tIns="0" rIns="0" bIns="0" rtlCol="0" anchor="t"/>
          <a:lstStyle/>
          <a:p>
            <a:pPr algn="ctr" indent="0" marL="0">
              <a:lnSpc>
                <a:spcPts val="1440"/>
              </a:lnSpc>
              <a:buNone/>
            </a:pPr>
            <a:r>
              <a:rPr lang="en-US" sz="1100" dirty="0">
                <a:solidFill>
                  <a:srgbClr val="B5AD9B"/>
                </a:solidFill>
                <a:latin typeface="JetBrains Mono" pitchFamily="34" charset="0"/>
                <a:ea typeface="JetBrains Mono" pitchFamily="34" charset="-122"/>
                <a:cs typeface="JetBrains Mono" pitchFamily="34" charset="-120"/>
              </a:rPr>
              <a:t>·</a:t>
            </a:r>
            <a:endParaRPr lang="en-US" sz="1100" dirty="0"/>
          </a:p>
        </p:txBody>
      </p:sp>
      <p:sp>
        <p:nvSpPr>
          <p:cNvPr id="44" name="Text 41"/>
          <p:cNvSpPr txBox="1"/>
          <p:nvPr/>
        </p:nvSpPr>
        <p:spPr>
          <a:xfrm>
            <a:off x="4745736" y="3063240"/>
            <a:ext cx="603504"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4</a:t>
            </a:r>
            <a:endParaRPr lang="en-US" sz="1000" dirty="0"/>
          </a:p>
        </p:txBody>
      </p:sp>
      <p:sp>
        <p:nvSpPr>
          <p:cNvPr id="45" name="Text 42"/>
          <p:cNvSpPr txBox="1"/>
          <p:nvPr/>
        </p:nvSpPr>
        <p:spPr>
          <a:xfrm>
            <a:off x="4745736" y="3282696"/>
            <a:ext cx="603504" cy="512064"/>
          </a:xfrm>
          <a:prstGeom prst="rect">
            <a:avLst/>
          </a:prstGeom>
          <a:solidFill>
            <a:srgbClr val="F4F1EA"/>
          </a:solidFill>
          <a:ln w="6350">
            <a:solidFill>
              <a:srgbClr val="1F1B16"/>
            </a:solidFill>
          </a:ln>
        </p:spPr>
        <p:txBody>
          <a:bodyPr wrap="square" lIns="762" tIns="0" rIns="0" bIns="0" rtlCol="0" anchor="t"/>
          <a:lstStyle/>
          <a:p>
            <a:pPr algn="ctr" indent="0" marL="0">
              <a:lnSpc>
                <a:spcPts val="1440"/>
              </a:lnSpc>
              <a:buNone/>
            </a:pPr>
            <a:r>
              <a:rPr lang="en-US" sz="1100" dirty="0">
                <a:solidFill>
                  <a:srgbClr val="1F1B16"/>
                </a:solidFill>
                <a:latin typeface="JetBrains Mono" pitchFamily="34" charset="0"/>
                <a:ea typeface="JetBrains Mono" pitchFamily="34" charset="-122"/>
                <a:cs typeface="JetBrains Mono" pitchFamily="34" charset="-120"/>
              </a:rPr>
              <a:t>40</a:t>
            </a:r>
            <a:endParaRPr lang="en-US" sz="1100" dirty="0"/>
          </a:p>
        </p:txBody>
      </p:sp>
      <p:sp>
        <p:nvSpPr>
          <p:cNvPr id="46" name="Text 43"/>
          <p:cNvSpPr txBox="1"/>
          <p:nvPr/>
        </p:nvSpPr>
        <p:spPr>
          <a:xfrm>
            <a:off x="5349240" y="3063240"/>
            <a:ext cx="603504"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5</a:t>
            </a:r>
            <a:endParaRPr lang="en-US" sz="1000" dirty="0"/>
          </a:p>
        </p:txBody>
      </p:sp>
      <p:sp>
        <p:nvSpPr>
          <p:cNvPr id="47" name="Text 44"/>
          <p:cNvSpPr txBox="1"/>
          <p:nvPr/>
        </p:nvSpPr>
        <p:spPr>
          <a:xfrm>
            <a:off x="5349240" y="3282696"/>
            <a:ext cx="603504" cy="512064"/>
          </a:xfrm>
          <a:prstGeom prst="rect">
            <a:avLst/>
          </a:prstGeom>
          <a:solidFill>
            <a:srgbClr val="F4F1EA"/>
          </a:solidFill>
          <a:ln w="6350">
            <a:solidFill>
              <a:srgbClr val="1F1B16"/>
            </a:solidFill>
          </a:ln>
        </p:spPr>
        <p:txBody>
          <a:bodyPr wrap="square" lIns="762" tIns="0" rIns="0" bIns="0" rtlCol="0" anchor="t"/>
          <a:lstStyle/>
          <a:p>
            <a:pPr algn="ctr" indent="0" marL="0">
              <a:lnSpc>
                <a:spcPts val="1440"/>
              </a:lnSpc>
              <a:buNone/>
            </a:pPr>
            <a:r>
              <a:rPr lang="en-US" sz="1100" dirty="0">
                <a:solidFill>
                  <a:srgbClr val="1F1B16"/>
                </a:solidFill>
                <a:latin typeface="JetBrains Mono" pitchFamily="34" charset="0"/>
                <a:ea typeface="JetBrains Mono" pitchFamily="34" charset="-122"/>
                <a:cs typeface="JetBrains Mono" pitchFamily="34" charset="-120"/>
              </a:rPr>
              <a:t>50</a:t>
            </a:r>
            <a:endParaRPr lang="en-US" sz="1100" dirty="0"/>
          </a:p>
        </p:txBody>
      </p:sp>
      <p:sp>
        <p:nvSpPr>
          <p:cNvPr id="48" name="Text 45"/>
          <p:cNvSpPr txBox="1"/>
          <p:nvPr/>
        </p:nvSpPr>
        <p:spPr>
          <a:xfrm>
            <a:off x="5952744" y="3063240"/>
            <a:ext cx="603504"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6</a:t>
            </a:r>
            <a:endParaRPr lang="en-US" sz="1000" dirty="0"/>
          </a:p>
        </p:txBody>
      </p:sp>
      <p:sp>
        <p:nvSpPr>
          <p:cNvPr id="49" name="Text 46"/>
          <p:cNvSpPr txBox="1"/>
          <p:nvPr/>
        </p:nvSpPr>
        <p:spPr>
          <a:xfrm>
            <a:off x="5952744" y="3282696"/>
            <a:ext cx="603504" cy="512064"/>
          </a:xfrm>
          <a:prstGeom prst="rect">
            <a:avLst/>
          </a:prstGeom>
          <a:solidFill>
            <a:srgbClr val="EAE5D8"/>
          </a:solidFill>
          <a:ln w="6350">
            <a:solidFill>
              <a:srgbClr val="1F1B16"/>
            </a:solidFill>
          </a:ln>
        </p:spPr>
        <p:txBody>
          <a:bodyPr wrap="square" lIns="762" tIns="0" rIns="0" bIns="0" rtlCol="0" anchor="t"/>
          <a:lstStyle/>
          <a:p>
            <a:pPr algn="ctr" indent="0" marL="0">
              <a:lnSpc>
                <a:spcPts val="1440"/>
              </a:lnSpc>
              <a:buNone/>
            </a:pPr>
            <a:r>
              <a:rPr lang="en-US" sz="1100" dirty="0">
                <a:solidFill>
                  <a:srgbClr val="B5AD9B"/>
                </a:solidFill>
                <a:latin typeface="JetBrains Mono" pitchFamily="34" charset="0"/>
                <a:ea typeface="JetBrains Mono" pitchFamily="34" charset="-122"/>
                <a:cs typeface="JetBrains Mono" pitchFamily="34" charset="-120"/>
              </a:rPr>
              <a:t>·</a:t>
            </a:r>
            <a:endParaRPr lang="en-US" sz="1100" dirty="0"/>
          </a:p>
        </p:txBody>
      </p:sp>
      <p:sp>
        <p:nvSpPr>
          <p:cNvPr id="50" name="Text 47"/>
          <p:cNvSpPr txBox="1"/>
          <p:nvPr/>
        </p:nvSpPr>
        <p:spPr>
          <a:xfrm>
            <a:off x="6556248" y="3063240"/>
            <a:ext cx="603504"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7</a:t>
            </a:r>
            <a:endParaRPr lang="en-US" sz="1000" dirty="0"/>
          </a:p>
        </p:txBody>
      </p:sp>
      <p:sp>
        <p:nvSpPr>
          <p:cNvPr id="51" name="Text 48"/>
          <p:cNvSpPr txBox="1"/>
          <p:nvPr/>
        </p:nvSpPr>
        <p:spPr>
          <a:xfrm>
            <a:off x="6556248" y="3282696"/>
            <a:ext cx="603504" cy="512064"/>
          </a:xfrm>
          <a:prstGeom prst="rect">
            <a:avLst/>
          </a:prstGeom>
          <a:solidFill>
            <a:srgbClr val="EAE5D8"/>
          </a:solidFill>
          <a:ln w="6350">
            <a:solidFill>
              <a:srgbClr val="1F1B16"/>
            </a:solidFill>
          </a:ln>
        </p:spPr>
        <p:txBody>
          <a:bodyPr wrap="square" lIns="762" tIns="0" rIns="0" bIns="0" rtlCol="0" anchor="t"/>
          <a:lstStyle/>
          <a:p>
            <a:pPr algn="ctr" indent="0" marL="0">
              <a:lnSpc>
                <a:spcPts val="1440"/>
              </a:lnSpc>
              <a:buNone/>
            </a:pPr>
            <a:r>
              <a:rPr lang="en-US" sz="1100" dirty="0">
                <a:solidFill>
                  <a:srgbClr val="B5AD9B"/>
                </a:solidFill>
                <a:latin typeface="JetBrains Mono" pitchFamily="34" charset="0"/>
                <a:ea typeface="JetBrains Mono" pitchFamily="34" charset="-122"/>
                <a:cs typeface="JetBrains Mono" pitchFamily="34" charset="-120"/>
              </a:rPr>
              <a:t>·</a:t>
            </a:r>
            <a:endParaRPr lang="en-US" sz="1100" dirty="0"/>
          </a:p>
        </p:txBody>
      </p:sp>
      <p:sp>
        <p:nvSpPr>
          <p:cNvPr id="52" name="Text 49"/>
          <p:cNvSpPr txBox="1"/>
          <p:nvPr/>
        </p:nvSpPr>
        <p:spPr>
          <a:xfrm>
            <a:off x="7159752" y="3063240"/>
            <a:ext cx="603504"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8</a:t>
            </a:r>
            <a:endParaRPr lang="en-US" sz="1000" dirty="0"/>
          </a:p>
        </p:txBody>
      </p:sp>
      <p:sp>
        <p:nvSpPr>
          <p:cNvPr id="53" name="Text 50"/>
          <p:cNvSpPr txBox="1"/>
          <p:nvPr/>
        </p:nvSpPr>
        <p:spPr>
          <a:xfrm>
            <a:off x="7159752" y="3282696"/>
            <a:ext cx="603504" cy="512064"/>
          </a:xfrm>
          <a:prstGeom prst="rect">
            <a:avLst/>
          </a:prstGeom>
          <a:solidFill>
            <a:srgbClr val="EAE5D8"/>
          </a:solidFill>
          <a:ln w="6350">
            <a:solidFill>
              <a:srgbClr val="1F1B16"/>
            </a:solidFill>
          </a:ln>
        </p:spPr>
        <p:txBody>
          <a:bodyPr wrap="square" lIns="762" tIns="0" rIns="0" bIns="0" rtlCol="0" anchor="t"/>
          <a:lstStyle/>
          <a:p>
            <a:pPr algn="ctr" indent="0" marL="0">
              <a:lnSpc>
                <a:spcPts val="1440"/>
              </a:lnSpc>
              <a:buNone/>
            </a:pPr>
            <a:r>
              <a:rPr lang="en-US" sz="1100" dirty="0">
                <a:solidFill>
                  <a:srgbClr val="B5AD9B"/>
                </a:solidFill>
                <a:latin typeface="JetBrains Mono" pitchFamily="34" charset="0"/>
                <a:ea typeface="JetBrains Mono" pitchFamily="34" charset="-122"/>
                <a:cs typeface="JetBrains Mono" pitchFamily="34" charset="-120"/>
              </a:rPr>
              <a:t>·</a:t>
            </a:r>
            <a:endParaRPr lang="en-US" sz="1100" dirty="0"/>
          </a:p>
        </p:txBody>
      </p:sp>
      <p:sp>
        <p:nvSpPr>
          <p:cNvPr id="54" name="Text 51"/>
          <p:cNvSpPr txBox="1"/>
          <p:nvPr/>
        </p:nvSpPr>
        <p:spPr>
          <a:xfrm>
            <a:off x="7763256" y="3063240"/>
            <a:ext cx="603504"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9</a:t>
            </a:r>
            <a:endParaRPr lang="en-US" sz="1000" dirty="0"/>
          </a:p>
        </p:txBody>
      </p:sp>
      <p:sp>
        <p:nvSpPr>
          <p:cNvPr id="55" name="Text 52"/>
          <p:cNvSpPr txBox="1"/>
          <p:nvPr/>
        </p:nvSpPr>
        <p:spPr>
          <a:xfrm>
            <a:off x="7763256" y="3282696"/>
            <a:ext cx="603504" cy="512064"/>
          </a:xfrm>
          <a:prstGeom prst="rect">
            <a:avLst/>
          </a:prstGeom>
          <a:solidFill>
            <a:srgbClr val="F4F1EA"/>
          </a:solidFill>
          <a:ln w="6350">
            <a:solidFill>
              <a:srgbClr val="1F1B16"/>
            </a:solidFill>
          </a:ln>
        </p:spPr>
        <p:txBody>
          <a:bodyPr wrap="square" lIns="762" tIns="0" rIns="0" bIns="0" rtlCol="0" anchor="t"/>
          <a:lstStyle/>
          <a:p>
            <a:pPr algn="ctr" indent="0" marL="0">
              <a:lnSpc>
                <a:spcPts val="1440"/>
              </a:lnSpc>
              <a:buNone/>
            </a:pPr>
            <a:r>
              <a:rPr lang="en-US" sz="1100" dirty="0">
                <a:solidFill>
                  <a:srgbClr val="1F1B16"/>
                </a:solidFill>
                <a:latin typeface="JetBrains Mono" pitchFamily="34" charset="0"/>
                <a:ea typeface="JetBrains Mono" pitchFamily="34" charset="-122"/>
                <a:cs typeface="JetBrains Mono" pitchFamily="34" charset="-120"/>
              </a:rPr>
              <a:t>99</a:t>
            </a:r>
            <a:endParaRPr lang="en-US" sz="1100" dirty="0"/>
          </a:p>
        </p:txBody>
      </p:sp>
      <p:sp>
        <p:nvSpPr>
          <p:cNvPr id="56" name="Shape 53"/>
          <p:cNvSpPr/>
          <p:nvPr/>
        </p:nvSpPr>
        <p:spPr>
          <a:xfrm>
            <a:off x="8503920" y="3538728"/>
            <a:ext cx="320040" cy="0"/>
          </a:xfrm>
          <a:prstGeom prst="line">
            <a:avLst/>
          </a:prstGeom>
          <a:noFill/>
          <a:ln w="12700">
            <a:solidFill>
              <a:srgbClr val="1F1B16"/>
            </a:solidFill>
            <a:prstDash val="solid"/>
            <a:tailEnd type="triangle"/>
          </a:ln>
        </p:spPr>
      </p:sp>
      <p:sp>
        <p:nvSpPr>
          <p:cNvPr id="57" name="Text 54"/>
          <p:cNvSpPr txBox="1"/>
          <p:nvPr/>
        </p:nvSpPr>
        <p:spPr>
          <a:xfrm>
            <a:off x="8961120" y="3063240"/>
            <a:ext cx="2651760" cy="201168"/>
          </a:xfrm>
          <a:prstGeom prst="rect">
            <a:avLst/>
          </a:prstGeom>
          <a:noFill/>
          <a:ln/>
        </p:spPr>
        <p:txBody>
          <a:bodyPr wrap="square" lIns="0" tIns="0" rIns="0" bIns="0" rtlCol="0" anchor="t"/>
          <a:lstStyle/>
          <a:p>
            <a:pPr indent="0" marL="0">
              <a:buNone/>
            </a:pPr>
            <a:r>
              <a:rPr lang="en-US" sz="1000" dirty="0">
                <a:solidFill>
                  <a:srgbClr val="6E6657"/>
                </a:solidFill>
                <a:latin typeface="JetBrains Mono" pitchFamily="34" charset="0"/>
                <a:ea typeface="JetBrains Mono" pitchFamily="34" charset="-122"/>
                <a:cs typeface="JetBrains Mono" pitchFamily="34" charset="-120"/>
              </a:rPr>
              <a:t>QUEDA</a:t>
            </a:r>
            <a:endParaRPr lang="en-US" sz="1000" dirty="0"/>
          </a:p>
        </p:txBody>
      </p:sp>
      <p:sp>
        <p:nvSpPr>
          <p:cNvPr id="58" name="Text 55"/>
          <p:cNvSpPr txBox="1"/>
          <p:nvPr/>
        </p:nvSpPr>
        <p:spPr>
          <a:xfrm>
            <a:off x="8961120" y="3319272"/>
            <a:ext cx="384048" cy="438912"/>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100" dirty="0">
                <a:solidFill>
                  <a:srgbClr val="1F1B16"/>
                </a:solidFill>
                <a:latin typeface="JetBrains Mono" pitchFamily="34" charset="0"/>
                <a:ea typeface="JetBrains Mono" pitchFamily="34" charset="-122"/>
                <a:cs typeface="JetBrains Mono" pitchFamily="34" charset="-120"/>
              </a:rPr>
              <a:t>100</a:t>
            </a:r>
            <a:endParaRPr lang="en-US" sz="1100" dirty="0"/>
          </a:p>
        </p:txBody>
      </p:sp>
      <p:sp>
        <p:nvSpPr>
          <p:cNvPr id="59" name="Text 56"/>
          <p:cNvSpPr txBox="1"/>
          <p:nvPr/>
        </p:nvSpPr>
        <p:spPr>
          <a:xfrm>
            <a:off x="9345168" y="3319272"/>
            <a:ext cx="384048" cy="438912"/>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100" dirty="0">
                <a:solidFill>
                  <a:srgbClr val="1F1B16"/>
                </a:solidFill>
                <a:latin typeface="JetBrains Mono" pitchFamily="34" charset="0"/>
                <a:ea typeface="JetBrains Mono" pitchFamily="34" charset="-122"/>
                <a:cs typeface="JetBrains Mono" pitchFamily="34" charset="-120"/>
              </a:rPr>
              <a:t>1</a:t>
            </a:r>
            <a:endParaRPr lang="en-US" sz="1100" dirty="0"/>
          </a:p>
        </p:txBody>
      </p:sp>
      <p:sp>
        <p:nvSpPr>
          <p:cNvPr id="60" name="Text 57"/>
          <p:cNvSpPr txBox="1"/>
          <p:nvPr/>
        </p:nvSpPr>
        <p:spPr>
          <a:xfrm>
            <a:off x="9729216" y="3319272"/>
            <a:ext cx="384048" cy="438912"/>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100" dirty="0">
                <a:solidFill>
                  <a:srgbClr val="1F1B16"/>
                </a:solidFill>
                <a:latin typeface="JetBrains Mono" pitchFamily="34" charset="0"/>
                <a:ea typeface="JetBrains Mono" pitchFamily="34" charset="-122"/>
                <a:cs typeface="JetBrains Mono" pitchFamily="34" charset="-120"/>
              </a:rPr>
              <a:t>19</a:t>
            </a:r>
            <a:endParaRPr lang="en-US" sz="1100" dirty="0"/>
          </a:p>
        </p:txBody>
      </p:sp>
      <p:sp>
        <p:nvSpPr>
          <p:cNvPr id="61" name="Text 58"/>
          <p:cNvSpPr txBox="1"/>
          <p:nvPr/>
        </p:nvSpPr>
        <p:spPr>
          <a:xfrm>
            <a:off x="10113264" y="3319272"/>
            <a:ext cx="384048" cy="438912"/>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100" dirty="0">
                <a:solidFill>
                  <a:srgbClr val="1F1B16"/>
                </a:solidFill>
                <a:latin typeface="JetBrains Mono" pitchFamily="34" charset="0"/>
                <a:ea typeface="JetBrains Mono" pitchFamily="34" charset="-122"/>
                <a:cs typeface="JetBrains Mono" pitchFamily="34" charset="-120"/>
              </a:rPr>
              <a:t>20</a:t>
            </a:r>
            <a:endParaRPr lang="en-US" sz="1100" dirty="0"/>
          </a:p>
        </p:txBody>
      </p:sp>
      <p:sp>
        <p:nvSpPr>
          <p:cNvPr id="62" name="Text 59"/>
          <p:cNvSpPr txBox="1"/>
          <p:nvPr/>
        </p:nvSpPr>
        <p:spPr>
          <a:xfrm>
            <a:off x="10497312" y="3319272"/>
            <a:ext cx="384048" cy="438912"/>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100" dirty="0">
                <a:solidFill>
                  <a:srgbClr val="1F1B16"/>
                </a:solidFill>
                <a:latin typeface="JetBrains Mono" pitchFamily="34" charset="0"/>
                <a:ea typeface="JetBrains Mono" pitchFamily="34" charset="-122"/>
                <a:cs typeface="JetBrains Mono" pitchFamily="34" charset="-120"/>
              </a:rPr>
              <a:t>40</a:t>
            </a:r>
            <a:endParaRPr lang="en-US" sz="1100" dirty="0"/>
          </a:p>
        </p:txBody>
      </p:sp>
      <p:sp>
        <p:nvSpPr>
          <p:cNvPr id="63" name="Text 60"/>
          <p:cNvSpPr txBox="1"/>
          <p:nvPr/>
        </p:nvSpPr>
        <p:spPr>
          <a:xfrm>
            <a:off x="10881360" y="3319272"/>
            <a:ext cx="384048" cy="438912"/>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100" dirty="0">
                <a:solidFill>
                  <a:srgbClr val="1F1B16"/>
                </a:solidFill>
                <a:latin typeface="JetBrains Mono" pitchFamily="34" charset="0"/>
                <a:ea typeface="JetBrains Mono" pitchFamily="34" charset="-122"/>
                <a:cs typeface="JetBrains Mono" pitchFamily="34" charset="-120"/>
              </a:rPr>
              <a:t>50</a:t>
            </a:r>
            <a:endParaRPr lang="en-US" sz="1100" dirty="0"/>
          </a:p>
        </p:txBody>
      </p:sp>
      <p:sp>
        <p:nvSpPr>
          <p:cNvPr id="64" name="Text 61"/>
          <p:cNvSpPr txBox="1"/>
          <p:nvPr/>
        </p:nvSpPr>
        <p:spPr>
          <a:xfrm>
            <a:off x="11265408" y="3319272"/>
            <a:ext cx="384048" cy="438912"/>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100" dirty="0">
                <a:solidFill>
                  <a:srgbClr val="1F1B16"/>
                </a:solidFill>
                <a:latin typeface="JetBrains Mono" pitchFamily="34" charset="0"/>
                <a:ea typeface="JetBrains Mono" pitchFamily="34" charset="-122"/>
                <a:cs typeface="JetBrains Mono" pitchFamily="34" charset="-120"/>
              </a:rPr>
              <a:t>99</a:t>
            </a:r>
            <a:endParaRPr lang="en-US" sz="1100" dirty="0"/>
          </a:p>
        </p:txBody>
      </p:sp>
      <p:sp>
        <p:nvSpPr>
          <p:cNvPr id="65" name="Text 62"/>
          <p:cNvSpPr txBox="1"/>
          <p:nvPr/>
        </p:nvSpPr>
        <p:spPr>
          <a:xfrm>
            <a:off x="548640" y="4288536"/>
            <a:ext cx="1645920" cy="1243584"/>
          </a:xfrm>
          <a:prstGeom prst="rect">
            <a:avLst/>
          </a:prstGeom>
          <a:noFill/>
          <a:ln/>
        </p:spPr>
        <p:txBody>
          <a:bodyPr wrap="square" lIns="0" tIns="0" rIns="0" bIns="0" rtlCol="0" anchor="ctr"/>
          <a:lstStyle/>
          <a:p>
            <a:pPr indent="0" marL="0">
              <a:buNone/>
            </a:pPr>
            <a:r>
              <a:rPr lang="en-US" sz="2200" b="1" dirty="0">
                <a:solidFill>
                  <a:srgbClr val="1F1B16"/>
                </a:solidFill>
                <a:latin typeface="EB Garamond" pitchFamily="34" charset="0"/>
                <a:ea typeface="EB Garamond" pitchFamily="34" charset="-122"/>
                <a:cs typeface="EB Garamond" pitchFamily="34" charset="-120"/>
              </a:rPr>
              <a:t>Pasada 3</a:t>
            </a:r>
            <a:endParaRPr lang="en-US" sz="1400" dirty="0"/>
          </a:p>
          <a:p>
            <a:pPr indent="0" marL="0">
              <a:buNone/>
            </a:pPr>
            <a:r>
              <a:rPr lang="en-US" sz="1100" dirty="0">
                <a:solidFill>
                  <a:srgbClr val="6E6657"/>
                </a:solidFill>
                <a:latin typeface="JetBrains Mono" pitchFamily="34" charset="0"/>
                <a:ea typeface="JetBrains Mono" pitchFamily="34" charset="-122"/>
                <a:cs typeface="JetBrains Mono" pitchFamily="34" charset="-120"/>
              </a:rPr>
              <a:t>centenas</a:t>
            </a:r>
            <a:endParaRPr lang="en-US" sz="1400" dirty="0"/>
          </a:p>
        </p:txBody>
      </p:sp>
      <p:sp>
        <p:nvSpPr>
          <p:cNvPr id="66" name="Text 63"/>
          <p:cNvSpPr txBox="1"/>
          <p:nvPr/>
        </p:nvSpPr>
        <p:spPr>
          <a:xfrm>
            <a:off x="2331720" y="4069080"/>
            <a:ext cx="603504"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0</a:t>
            </a:r>
            <a:endParaRPr lang="en-US" sz="1000" dirty="0"/>
          </a:p>
        </p:txBody>
      </p:sp>
      <p:sp>
        <p:nvSpPr>
          <p:cNvPr id="67" name="Text 64"/>
          <p:cNvSpPr txBox="1"/>
          <p:nvPr/>
        </p:nvSpPr>
        <p:spPr>
          <a:xfrm>
            <a:off x="2331720" y="4288536"/>
            <a:ext cx="603504" cy="1243584"/>
          </a:xfrm>
          <a:prstGeom prst="rect">
            <a:avLst/>
          </a:prstGeom>
          <a:solidFill>
            <a:srgbClr val="F4F1EA"/>
          </a:solidFill>
          <a:ln w="6350">
            <a:solidFill>
              <a:srgbClr val="1F1B16"/>
            </a:solidFill>
          </a:ln>
        </p:spPr>
        <p:txBody>
          <a:bodyPr wrap="square" lIns="762" tIns="0" rIns="0" bIns="0" rtlCol="0" anchor="t"/>
          <a:lstStyle/>
          <a:p>
            <a:pPr algn="ctr" indent="0" marL="0">
              <a:lnSpc>
                <a:spcPts val="1440"/>
              </a:lnSpc>
              <a:buNone/>
            </a:pPr>
            <a:r>
              <a:rPr lang="en-US" sz="1100" dirty="0">
                <a:solidFill>
                  <a:srgbClr val="1F1B16"/>
                </a:solidFill>
                <a:latin typeface="JetBrains Mono" pitchFamily="34" charset="0"/>
                <a:ea typeface="JetBrains Mono" pitchFamily="34" charset="-122"/>
                <a:cs typeface="JetBrains Mono" pitchFamily="34" charset="-120"/>
              </a:rPr>
              <a:t>1</a:t>
            </a:r>
            <a:endParaRPr lang="en-US" sz="1100" dirty="0"/>
          </a:p>
          <a:p>
            <a:pPr algn="ctr" indent="0" marL="0">
              <a:lnSpc>
                <a:spcPts val="1440"/>
              </a:lnSpc>
              <a:buNone/>
            </a:pPr>
            <a:r>
              <a:rPr lang="en-US" sz="1100" dirty="0">
                <a:solidFill>
                  <a:srgbClr val="1F1B16"/>
                </a:solidFill>
                <a:latin typeface="JetBrains Mono" pitchFamily="34" charset="0"/>
                <a:ea typeface="JetBrains Mono" pitchFamily="34" charset="-122"/>
                <a:cs typeface="JetBrains Mono" pitchFamily="34" charset="-120"/>
              </a:rPr>
              <a:t>19</a:t>
            </a:r>
            <a:endParaRPr lang="en-US" sz="1100" dirty="0"/>
          </a:p>
          <a:p>
            <a:pPr algn="ctr" indent="0" marL="0">
              <a:lnSpc>
                <a:spcPts val="1440"/>
              </a:lnSpc>
              <a:buNone/>
            </a:pPr>
            <a:r>
              <a:rPr lang="en-US" sz="1100" dirty="0">
                <a:solidFill>
                  <a:srgbClr val="1F1B16"/>
                </a:solidFill>
                <a:latin typeface="JetBrains Mono" pitchFamily="34" charset="0"/>
                <a:ea typeface="JetBrains Mono" pitchFamily="34" charset="-122"/>
                <a:cs typeface="JetBrains Mono" pitchFamily="34" charset="-120"/>
              </a:rPr>
              <a:t>20</a:t>
            </a:r>
            <a:endParaRPr lang="en-US" sz="1100" dirty="0"/>
          </a:p>
          <a:p>
            <a:pPr algn="ctr" indent="0" marL="0">
              <a:lnSpc>
                <a:spcPts val="1440"/>
              </a:lnSpc>
              <a:buNone/>
            </a:pPr>
            <a:r>
              <a:rPr lang="en-US" sz="1100" dirty="0">
                <a:solidFill>
                  <a:srgbClr val="1F1B16"/>
                </a:solidFill>
                <a:latin typeface="JetBrains Mono" pitchFamily="34" charset="0"/>
                <a:ea typeface="JetBrains Mono" pitchFamily="34" charset="-122"/>
                <a:cs typeface="JetBrains Mono" pitchFamily="34" charset="-120"/>
              </a:rPr>
              <a:t>40</a:t>
            </a:r>
            <a:endParaRPr lang="en-US" sz="1100" dirty="0"/>
          </a:p>
          <a:p>
            <a:pPr algn="ctr" indent="0" marL="0">
              <a:lnSpc>
                <a:spcPts val="1440"/>
              </a:lnSpc>
              <a:buNone/>
            </a:pPr>
            <a:r>
              <a:rPr lang="en-US" sz="1100" dirty="0">
                <a:solidFill>
                  <a:srgbClr val="1F1B16"/>
                </a:solidFill>
                <a:latin typeface="JetBrains Mono" pitchFamily="34" charset="0"/>
                <a:ea typeface="JetBrains Mono" pitchFamily="34" charset="-122"/>
                <a:cs typeface="JetBrains Mono" pitchFamily="34" charset="-120"/>
              </a:rPr>
              <a:t>50</a:t>
            </a:r>
            <a:endParaRPr lang="en-US" sz="1100" dirty="0"/>
          </a:p>
          <a:p>
            <a:pPr algn="ctr" indent="0" marL="0">
              <a:lnSpc>
                <a:spcPts val="1440"/>
              </a:lnSpc>
              <a:buNone/>
            </a:pPr>
            <a:r>
              <a:rPr lang="en-US" sz="1100" dirty="0">
                <a:solidFill>
                  <a:srgbClr val="1F1B16"/>
                </a:solidFill>
                <a:latin typeface="JetBrains Mono" pitchFamily="34" charset="0"/>
                <a:ea typeface="JetBrains Mono" pitchFamily="34" charset="-122"/>
                <a:cs typeface="JetBrains Mono" pitchFamily="34" charset="-120"/>
              </a:rPr>
              <a:t>99</a:t>
            </a:r>
            <a:endParaRPr lang="en-US" sz="1100" dirty="0"/>
          </a:p>
        </p:txBody>
      </p:sp>
      <p:sp>
        <p:nvSpPr>
          <p:cNvPr id="68" name="Text 65"/>
          <p:cNvSpPr txBox="1"/>
          <p:nvPr/>
        </p:nvSpPr>
        <p:spPr>
          <a:xfrm>
            <a:off x="2935224" y="4069080"/>
            <a:ext cx="603504"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1</a:t>
            </a:r>
            <a:endParaRPr lang="en-US" sz="1000" dirty="0"/>
          </a:p>
        </p:txBody>
      </p:sp>
      <p:sp>
        <p:nvSpPr>
          <p:cNvPr id="69" name="Text 66"/>
          <p:cNvSpPr txBox="1"/>
          <p:nvPr/>
        </p:nvSpPr>
        <p:spPr>
          <a:xfrm>
            <a:off x="2935224" y="4288536"/>
            <a:ext cx="603504" cy="1243584"/>
          </a:xfrm>
          <a:prstGeom prst="rect">
            <a:avLst/>
          </a:prstGeom>
          <a:solidFill>
            <a:srgbClr val="F4F1EA"/>
          </a:solidFill>
          <a:ln w="6350">
            <a:solidFill>
              <a:srgbClr val="1F1B16"/>
            </a:solidFill>
          </a:ln>
        </p:spPr>
        <p:txBody>
          <a:bodyPr wrap="square" lIns="762" tIns="0" rIns="0" bIns="0" rtlCol="0" anchor="t"/>
          <a:lstStyle/>
          <a:p>
            <a:pPr algn="ctr" indent="0" marL="0">
              <a:lnSpc>
                <a:spcPts val="1440"/>
              </a:lnSpc>
              <a:buNone/>
            </a:pPr>
            <a:r>
              <a:rPr lang="en-US" sz="1100" dirty="0">
                <a:solidFill>
                  <a:srgbClr val="1F1B16"/>
                </a:solidFill>
                <a:latin typeface="JetBrains Mono" pitchFamily="34" charset="0"/>
                <a:ea typeface="JetBrains Mono" pitchFamily="34" charset="-122"/>
                <a:cs typeface="JetBrains Mono" pitchFamily="34" charset="-120"/>
              </a:rPr>
              <a:t>100</a:t>
            </a:r>
            <a:endParaRPr lang="en-US" sz="1100" dirty="0"/>
          </a:p>
        </p:txBody>
      </p:sp>
      <p:sp>
        <p:nvSpPr>
          <p:cNvPr id="70" name="Text 67"/>
          <p:cNvSpPr txBox="1"/>
          <p:nvPr/>
        </p:nvSpPr>
        <p:spPr>
          <a:xfrm>
            <a:off x="3538728" y="4069080"/>
            <a:ext cx="603504"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2</a:t>
            </a:r>
            <a:endParaRPr lang="en-US" sz="1000" dirty="0"/>
          </a:p>
        </p:txBody>
      </p:sp>
      <p:sp>
        <p:nvSpPr>
          <p:cNvPr id="71" name="Text 68"/>
          <p:cNvSpPr txBox="1"/>
          <p:nvPr/>
        </p:nvSpPr>
        <p:spPr>
          <a:xfrm>
            <a:off x="3538728" y="4288536"/>
            <a:ext cx="603504" cy="1243584"/>
          </a:xfrm>
          <a:prstGeom prst="rect">
            <a:avLst/>
          </a:prstGeom>
          <a:solidFill>
            <a:srgbClr val="EAE5D8"/>
          </a:solidFill>
          <a:ln w="6350">
            <a:solidFill>
              <a:srgbClr val="1F1B16"/>
            </a:solidFill>
          </a:ln>
        </p:spPr>
        <p:txBody>
          <a:bodyPr wrap="square" lIns="762" tIns="0" rIns="0" bIns="0" rtlCol="0" anchor="t"/>
          <a:lstStyle/>
          <a:p>
            <a:pPr algn="ctr" indent="0" marL="0">
              <a:lnSpc>
                <a:spcPts val="1440"/>
              </a:lnSpc>
              <a:buNone/>
            </a:pPr>
            <a:r>
              <a:rPr lang="en-US" sz="1100" dirty="0">
                <a:solidFill>
                  <a:srgbClr val="B5AD9B"/>
                </a:solidFill>
                <a:latin typeface="JetBrains Mono" pitchFamily="34" charset="0"/>
                <a:ea typeface="JetBrains Mono" pitchFamily="34" charset="-122"/>
                <a:cs typeface="JetBrains Mono" pitchFamily="34" charset="-120"/>
              </a:rPr>
              <a:t>·</a:t>
            </a:r>
            <a:endParaRPr lang="en-US" sz="1100" dirty="0"/>
          </a:p>
        </p:txBody>
      </p:sp>
      <p:sp>
        <p:nvSpPr>
          <p:cNvPr id="72" name="Text 69"/>
          <p:cNvSpPr txBox="1"/>
          <p:nvPr/>
        </p:nvSpPr>
        <p:spPr>
          <a:xfrm>
            <a:off x="4142232" y="4069080"/>
            <a:ext cx="603504"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3</a:t>
            </a:r>
            <a:endParaRPr lang="en-US" sz="1000" dirty="0"/>
          </a:p>
        </p:txBody>
      </p:sp>
      <p:sp>
        <p:nvSpPr>
          <p:cNvPr id="73" name="Text 70"/>
          <p:cNvSpPr txBox="1"/>
          <p:nvPr/>
        </p:nvSpPr>
        <p:spPr>
          <a:xfrm>
            <a:off x="4142232" y="4288536"/>
            <a:ext cx="603504" cy="1243584"/>
          </a:xfrm>
          <a:prstGeom prst="rect">
            <a:avLst/>
          </a:prstGeom>
          <a:solidFill>
            <a:srgbClr val="EAE5D8"/>
          </a:solidFill>
          <a:ln w="6350">
            <a:solidFill>
              <a:srgbClr val="1F1B16"/>
            </a:solidFill>
          </a:ln>
        </p:spPr>
        <p:txBody>
          <a:bodyPr wrap="square" lIns="762" tIns="0" rIns="0" bIns="0" rtlCol="0" anchor="t"/>
          <a:lstStyle/>
          <a:p>
            <a:pPr algn="ctr" indent="0" marL="0">
              <a:lnSpc>
                <a:spcPts val="1440"/>
              </a:lnSpc>
              <a:buNone/>
            </a:pPr>
            <a:r>
              <a:rPr lang="en-US" sz="1100" dirty="0">
                <a:solidFill>
                  <a:srgbClr val="B5AD9B"/>
                </a:solidFill>
                <a:latin typeface="JetBrains Mono" pitchFamily="34" charset="0"/>
                <a:ea typeface="JetBrains Mono" pitchFamily="34" charset="-122"/>
                <a:cs typeface="JetBrains Mono" pitchFamily="34" charset="-120"/>
              </a:rPr>
              <a:t>·</a:t>
            </a:r>
            <a:endParaRPr lang="en-US" sz="1100" dirty="0"/>
          </a:p>
        </p:txBody>
      </p:sp>
      <p:sp>
        <p:nvSpPr>
          <p:cNvPr id="74" name="Text 71"/>
          <p:cNvSpPr txBox="1"/>
          <p:nvPr/>
        </p:nvSpPr>
        <p:spPr>
          <a:xfrm>
            <a:off x="4745736" y="4069080"/>
            <a:ext cx="603504"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4</a:t>
            </a:r>
            <a:endParaRPr lang="en-US" sz="1000" dirty="0"/>
          </a:p>
        </p:txBody>
      </p:sp>
      <p:sp>
        <p:nvSpPr>
          <p:cNvPr id="75" name="Text 72"/>
          <p:cNvSpPr txBox="1"/>
          <p:nvPr/>
        </p:nvSpPr>
        <p:spPr>
          <a:xfrm>
            <a:off x="4745736" y="4288536"/>
            <a:ext cx="603504" cy="1243584"/>
          </a:xfrm>
          <a:prstGeom prst="rect">
            <a:avLst/>
          </a:prstGeom>
          <a:solidFill>
            <a:srgbClr val="EAE5D8"/>
          </a:solidFill>
          <a:ln w="6350">
            <a:solidFill>
              <a:srgbClr val="1F1B16"/>
            </a:solidFill>
          </a:ln>
        </p:spPr>
        <p:txBody>
          <a:bodyPr wrap="square" lIns="762" tIns="0" rIns="0" bIns="0" rtlCol="0" anchor="t"/>
          <a:lstStyle/>
          <a:p>
            <a:pPr algn="ctr" indent="0" marL="0">
              <a:lnSpc>
                <a:spcPts val="1440"/>
              </a:lnSpc>
              <a:buNone/>
            </a:pPr>
            <a:r>
              <a:rPr lang="en-US" sz="1100" dirty="0">
                <a:solidFill>
                  <a:srgbClr val="B5AD9B"/>
                </a:solidFill>
                <a:latin typeface="JetBrains Mono" pitchFamily="34" charset="0"/>
                <a:ea typeface="JetBrains Mono" pitchFamily="34" charset="-122"/>
                <a:cs typeface="JetBrains Mono" pitchFamily="34" charset="-120"/>
              </a:rPr>
              <a:t>·</a:t>
            </a:r>
            <a:endParaRPr lang="en-US" sz="1100" dirty="0"/>
          </a:p>
        </p:txBody>
      </p:sp>
      <p:sp>
        <p:nvSpPr>
          <p:cNvPr id="76" name="Text 73"/>
          <p:cNvSpPr txBox="1"/>
          <p:nvPr/>
        </p:nvSpPr>
        <p:spPr>
          <a:xfrm>
            <a:off x="5349240" y="4069080"/>
            <a:ext cx="603504"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5</a:t>
            </a:r>
            <a:endParaRPr lang="en-US" sz="1000" dirty="0"/>
          </a:p>
        </p:txBody>
      </p:sp>
      <p:sp>
        <p:nvSpPr>
          <p:cNvPr id="77" name="Text 74"/>
          <p:cNvSpPr txBox="1"/>
          <p:nvPr/>
        </p:nvSpPr>
        <p:spPr>
          <a:xfrm>
            <a:off x="5349240" y="4288536"/>
            <a:ext cx="603504" cy="1243584"/>
          </a:xfrm>
          <a:prstGeom prst="rect">
            <a:avLst/>
          </a:prstGeom>
          <a:solidFill>
            <a:srgbClr val="EAE5D8"/>
          </a:solidFill>
          <a:ln w="6350">
            <a:solidFill>
              <a:srgbClr val="1F1B16"/>
            </a:solidFill>
          </a:ln>
        </p:spPr>
        <p:txBody>
          <a:bodyPr wrap="square" lIns="762" tIns="0" rIns="0" bIns="0" rtlCol="0" anchor="t"/>
          <a:lstStyle/>
          <a:p>
            <a:pPr algn="ctr" indent="0" marL="0">
              <a:lnSpc>
                <a:spcPts val="1440"/>
              </a:lnSpc>
              <a:buNone/>
            </a:pPr>
            <a:r>
              <a:rPr lang="en-US" sz="1100" dirty="0">
                <a:solidFill>
                  <a:srgbClr val="B5AD9B"/>
                </a:solidFill>
                <a:latin typeface="JetBrains Mono" pitchFamily="34" charset="0"/>
                <a:ea typeface="JetBrains Mono" pitchFamily="34" charset="-122"/>
                <a:cs typeface="JetBrains Mono" pitchFamily="34" charset="-120"/>
              </a:rPr>
              <a:t>·</a:t>
            </a:r>
            <a:endParaRPr lang="en-US" sz="1100" dirty="0"/>
          </a:p>
        </p:txBody>
      </p:sp>
      <p:sp>
        <p:nvSpPr>
          <p:cNvPr id="78" name="Text 75"/>
          <p:cNvSpPr txBox="1"/>
          <p:nvPr/>
        </p:nvSpPr>
        <p:spPr>
          <a:xfrm>
            <a:off x="5952744" y="4069080"/>
            <a:ext cx="603504"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6</a:t>
            </a:r>
            <a:endParaRPr lang="en-US" sz="1000" dirty="0"/>
          </a:p>
        </p:txBody>
      </p:sp>
      <p:sp>
        <p:nvSpPr>
          <p:cNvPr id="79" name="Text 76"/>
          <p:cNvSpPr txBox="1"/>
          <p:nvPr/>
        </p:nvSpPr>
        <p:spPr>
          <a:xfrm>
            <a:off x="5952744" y="4288536"/>
            <a:ext cx="603504" cy="1243584"/>
          </a:xfrm>
          <a:prstGeom prst="rect">
            <a:avLst/>
          </a:prstGeom>
          <a:solidFill>
            <a:srgbClr val="EAE5D8"/>
          </a:solidFill>
          <a:ln w="6350">
            <a:solidFill>
              <a:srgbClr val="1F1B16"/>
            </a:solidFill>
          </a:ln>
        </p:spPr>
        <p:txBody>
          <a:bodyPr wrap="square" lIns="762" tIns="0" rIns="0" bIns="0" rtlCol="0" anchor="t"/>
          <a:lstStyle/>
          <a:p>
            <a:pPr algn="ctr" indent="0" marL="0">
              <a:lnSpc>
                <a:spcPts val="1440"/>
              </a:lnSpc>
              <a:buNone/>
            </a:pPr>
            <a:r>
              <a:rPr lang="en-US" sz="1100" dirty="0">
                <a:solidFill>
                  <a:srgbClr val="B5AD9B"/>
                </a:solidFill>
                <a:latin typeface="JetBrains Mono" pitchFamily="34" charset="0"/>
                <a:ea typeface="JetBrains Mono" pitchFamily="34" charset="-122"/>
                <a:cs typeface="JetBrains Mono" pitchFamily="34" charset="-120"/>
              </a:rPr>
              <a:t>·</a:t>
            </a:r>
            <a:endParaRPr lang="en-US" sz="1100" dirty="0"/>
          </a:p>
        </p:txBody>
      </p:sp>
      <p:sp>
        <p:nvSpPr>
          <p:cNvPr id="80" name="Text 77"/>
          <p:cNvSpPr txBox="1"/>
          <p:nvPr/>
        </p:nvSpPr>
        <p:spPr>
          <a:xfrm>
            <a:off x="6556248" y="4069080"/>
            <a:ext cx="603504"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7</a:t>
            </a:r>
            <a:endParaRPr lang="en-US" sz="1000" dirty="0"/>
          </a:p>
        </p:txBody>
      </p:sp>
      <p:sp>
        <p:nvSpPr>
          <p:cNvPr id="81" name="Text 78"/>
          <p:cNvSpPr txBox="1"/>
          <p:nvPr/>
        </p:nvSpPr>
        <p:spPr>
          <a:xfrm>
            <a:off x="6556248" y="4288536"/>
            <a:ext cx="603504" cy="1243584"/>
          </a:xfrm>
          <a:prstGeom prst="rect">
            <a:avLst/>
          </a:prstGeom>
          <a:solidFill>
            <a:srgbClr val="EAE5D8"/>
          </a:solidFill>
          <a:ln w="6350">
            <a:solidFill>
              <a:srgbClr val="1F1B16"/>
            </a:solidFill>
          </a:ln>
        </p:spPr>
        <p:txBody>
          <a:bodyPr wrap="square" lIns="762" tIns="0" rIns="0" bIns="0" rtlCol="0" anchor="t"/>
          <a:lstStyle/>
          <a:p>
            <a:pPr algn="ctr" indent="0" marL="0">
              <a:lnSpc>
                <a:spcPts val="1440"/>
              </a:lnSpc>
              <a:buNone/>
            </a:pPr>
            <a:r>
              <a:rPr lang="en-US" sz="1100" dirty="0">
                <a:solidFill>
                  <a:srgbClr val="B5AD9B"/>
                </a:solidFill>
                <a:latin typeface="JetBrains Mono" pitchFamily="34" charset="0"/>
                <a:ea typeface="JetBrains Mono" pitchFamily="34" charset="-122"/>
                <a:cs typeface="JetBrains Mono" pitchFamily="34" charset="-120"/>
              </a:rPr>
              <a:t>·</a:t>
            </a:r>
            <a:endParaRPr lang="en-US" sz="1100" dirty="0"/>
          </a:p>
        </p:txBody>
      </p:sp>
      <p:sp>
        <p:nvSpPr>
          <p:cNvPr id="82" name="Text 79"/>
          <p:cNvSpPr txBox="1"/>
          <p:nvPr/>
        </p:nvSpPr>
        <p:spPr>
          <a:xfrm>
            <a:off x="7159752" y="4069080"/>
            <a:ext cx="603504"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8</a:t>
            </a:r>
            <a:endParaRPr lang="en-US" sz="1000" dirty="0"/>
          </a:p>
        </p:txBody>
      </p:sp>
      <p:sp>
        <p:nvSpPr>
          <p:cNvPr id="83" name="Text 80"/>
          <p:cNvSpPr txBox="1"/>
          <p:nvPr/>
        </p:nvSpPr>
        <p:spPr>
          <a:xfrm>
            <a:off x="7159752" y="4288536"/>
            <a:ext cx="603504" cy="1243584"/>
          </a:xfrm>
          <a:prstGeom prst="rect">
            <a:avLst/>
          </a:prstGeom>
          <a:solidFill>
            <a:srgbClr val="EAE5D8"/>
          </a:solidFill>
          <a:ln w="6350">
            <a:solidFill>
              <a:srgbClr val="1F1B16"/>
            </a:solidFill>
          </a:ln>
        </p:spPr>
        <p:txBody>
          <a:bodyPr wrap="square" lIns="762" tIns="0" rIns="0" bIns="0" rtlCol="0" anchor="t"/>
          <a:lstStyle/>
          <a:p>
            <a:pPr algn="ctr" indent="0" marL="0">
              <a:lnSpc>
                <a:spcPts val="1440"/>
              </a:lnSpc>
              <a:buNone/>
            </a:pPr>
            <a:r>
              <a:rPr lang="en-US" sz="1100" dirty="0">
                <a:solidFill>
                  <a:srgbClr val="B5AD9B"/>
                </a:solidFill>
                <a:latin typeface="JetBrains Mono" pitchFamily="34" charset="0"/>
                <a:ea typeface="JetBrains Mono" pitchFamily="34" charset="-122"/>
                <a:cs typeface="JetBrains Mono" pitchFamily="34" charset="-120"/>
              </a:rPr>
              <a:t>·</a:t>
            </a:r>
            <a:endParaRPr lang="en-US" sz="1100" dirty="0"/>
          </a:p>
        </p:txBody>
      </p:sp>
      <p:sp>
        <p:nvSpPr>
          <p:cNvPr id="84" name="Text 81"/>
          <p:cNvSpPr txBox="1"/>
          <p:nvPr/>
        </p:nvSpPr>
        <p:spPr>
          <a:xfrm>
            <a:off x="7763256" y="4069080"/>
            <a:ext cx="603504" cy="201168"/>
          </a:xfrm>
          <a:prstGeom prst="rect">
            <a:avLst/>
          </a:prstGeom>
          <a:noFill/>
          <a:ln/>
        </p:spPr>
        <p:txBody>
          <a:bodyPr wrap="square" lIns="0" tIns="0" rIns="0" bIns="0" rtlCol="0" anchor="t"/>
          <a:lstStyle/>
          <a:p>
            <a:pPr algn="ctr" indent="0" marL="0">
              <a:buNone/>
            </a:pPr>
            <a:r>
              <a:rPr lang="en-US" sz="1000" dirty="0">
                <a:solidFill>
                  <a:srgbClr val="6E6657"/>
                </a:solidFill>
                <a:latin typeface="JetBrains Mono" pitchFamily="34" charset="0"/>
                <a:ea typeface="JetBrains Mono" pitchFamily="34" charset="-122"/>
                <a:cs typeface="JetBrains Mono" pitchFamily="34" charset="-120"/>
              </a:rPr>
              <a:t>9</a:t>
            </a:r>
            <a:endParaRPr lang="en-US" sz="1000" dirty="0"/>
          </a:p>
        </p:txBody>
      </p:sp>
      <p:sp>
        <p:nvSpPr>
          <p:cNvPr id="85" name="Text 82"/>
          <p:cNvSpPr txBox="1"/>
          <p:nvPr/>
        </p:nvSpPr>
        <p:spPr>
          <a:xfrm>
            <a:off x="7763256" y="4288536"/>
            <a:ext cx="603504" cy="1243584"/>
          </a:xfrm>
          <a:prstGeom prst="rect">
            <a:avLst/>
          </a:prstGeom>
          <a:solidFill>
            <a:srgbClr val="EAE5D8"/>
          </a:solidFill>
          <a:ln w="6350">
            <a:solidFill>
              <a:srgbClr val="1F1B16"/>
            </a:solidFill>
          </a:ln>
        </p:spPr>
        <p:txBody>
          <a:bodyPr wrap="square" lIns="762" tIns="0" rIns="0" bIns="0" rtlCol="0" anchor="t"/>
          <a:lstStyle/>
          <a:p>
            <a:pPr algn="ctr" indent="0" marL="0">
              <a:lnSpc>
                <a:spcPts val="1440"/>
              </a:lnSpc>
              <a:buNone/>
            </a:pPr>
            <a:r>
              <a:rPr lang="en-US" sz="1100" dirty="0">
                <a:solidFill>
                  <a:srgbClr val="B5AD9B"/>
                </a:solidFill>
                <a:latin typeface="JetBrains Mono" pitchFamily="34" charset="0"/>
                <a:ea typeface="JetBrains Mono" pitchFamily="34" charset="-122"/>
                <a:cs typeface="JetBrains Mono" pitchFamily="34" charset="-120"/>
              </a:rPr>
              <a:t>·</a:t>
            </a:r>
            <a:endParaRPr lang="en-US" sz="1100" dirty="0"/>
          </a:p>
        </p:txBody>
      </p:sp>
      <p:sp>
        <p:nvSpPr>
          <p:cNvPr id="86" name="Shape 83"/>
          <p:cNvSpPr/>
          <p:nvPr/>
        </p:nvSpPr>
        <p:spPr>
          <a:xfrm>
            <a:off x="8503920" y="4910328"/>
            <a:ext cx="320040" cy="0"/>
          </a:xfrm>
          <a:prstGeom prst="line">
            <a:avLst/>
          </a:prstGeom>
          <a:noFill/>
          <a:ln w="12700">
            <a:solidFill>
              <a:srgbClr val="1F1B16"/>
            </a:solidFill>
            <a:prstDash val="solid"/>
            <a:tailEnd type="triangle"/>
          </a:ln>
        </p:spPr>
      </p:sp>
      <p:sp>
        <p:nvSpPr>
          <p:cNvPr id="87" name="Text 84"/>
          <p:cNvSpPr txBox="1"/>
          <p:nvPr/>
        </p:nvSpPr>
        <p:spPr>
          <a:xfrm>
            <a:off x="8961120" y="4069080"/>
            <a:ext cx="2651760" cy="201168"/>
          </a:xfrm>
          <a:prstGeom prst="rect">
            <a:avLst/>
          </a:prstGeom>
          <a:noFill/>
          <a:ln/>
        </p:spPr>
        <p:txBody>
          <a:bodyPr wrap="square" lIns="0" tIns="0" rIns="0" bIns="0" rtlCol="0" anchor="t"/>
          <a:lstStyle/>
          <a:p>
            <a:pPr indent="0" marL="0">
              <a:buNone/>
            </a:pPr>
            <a:r>
              <a:rPr lang="en-US" sz="1000" dirty="0">
                <a:solidFill>
                  <a:srgbClr val="2F5D50"/>
                </a:solidFill>
                <a:latin typeface="JetBrains Mono" pitchFamily="34" charset="0"/>
                <a:ea typeface="JetBrains Mono" pitchFamily="34" charset="-122"/>
                <a:cs typeface="JetBrains Mono" pitchFamily="34" charset="-120"/>
              </a:rPr>
              <a:t>ORDENADO</a:t>
            </a:r>
            <a:endParaRPr lang="en-US" sz="1000" dirty="0"/>
          </a:p>
        </p:txBody>
      </p:sp>
      <p:sp>
        <p:nvSpPr>
          <p:cNvPr id="88" name="Text 85"/>
          <p:cNvSpPr txBox="1"/>
          <p:nvPr/>
        </p:nvSpPr>
        <p:spPr>
          <a:xfrm>
            <a:off x="8961120" y="4690872"/>
            <a:ext cx="384048" cy="438912"/>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100" b="1" dirty="0">
                <a:solidFill>
                  <a:srgbClr val="2F5D50"/>
                </a:solidFill>
                <a:latin typeface="JetBrains Mono" pitchFamily="34" charset="0"/>
                <a:ea typeface="JetBrains Mono" pitchFamily="34" charset="-122"/>
                <a:cs typeface="JetBrains Mono" pitchFamily="34" charset="-120"/>
              </a:rPr>
              <a:t>1</a:t>
            </a:r>
            <a:endParaRPr lang="en-US" sz="1100" dirty="0"/>
          </a:p>
        </p:txBody>
      </p:sp>
      <p:sp>
        <p:nvSpPr>
          <p:cNvPr id="89" name="Text 86"/>
          <p:cNvSpPr txBox="1"/>
          <p:nvPr/>
        </p:nvSpPr>
        <p:spPr>
          <a:xfrm>
            <a:off x="9345168" y="4690872"/>
            <a:ext cx="384048" cy="438912"/>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100" b="1" dirty="0">
                <a:solidFill>
                  <a:srgbClr val="2F5D50"/>
                </a:solidFill>
                <a:latin typeface="JetBrains Mono" pitchFamily="34" charset="0"/>
                <a:ea typeface="JetBrains Mono" pitchFamily="34" charset="-122"/>
                <a:cs typeface="JetBrains Mono" pitchFamily="34" charset="-120"/>
              </a:rPr>
              <a:t>19</a:t>
            </a:r>
            <a:endParaRPr lang="en-US" sz="1100" dirty="0"/>
          </a:p>
        </p:txBody>
      </p:sp>
      <p:sp>
        <p:nvSpPr>
          <p:cNvPr id="90" name="Text 87"/>
          <p:cNvSpPr txBox="1"/>
          <p:nvPr/>
        </p:nvSpPr>
        <p:spPr>
          <a:xfrm>
            <a:off x="9729216" y="4690872"/>
            <a:ext cx="384048" cy="438912"/>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100" b="1" dirty="0">
                <a:solidFill>
                  <a:srgbClr val="2F5D50"/>
                </a:solidFill>
                <a:latin typeface="JetBrains Mono" pitchFamily="34" charset="0"/>
                <a:ea typeface="JetBrains Mono" pitchFamily="34" charset="-122"/>
                <a:cs typeface="JetBrains Mono" pitchFamily="34" charset="-120"/>
              </a:rPr>
              <a:t>20</a:t>
            </a:r>
            <a:endParaRPr lang="en-US" sz="1100" dirty="0"/>
          </a:p>
        </p:txBody>
      </p:sp>
      <p:sp>
        <p:nvSpPr>
          <p:cNvPr id="91" name="Text 88"/>
          <p:cNvSpPr txBox="1"/>
          <p:nvPr/>
        </p:nvSpPr>
        <p:spPr>
          <a:xfrm>
            <a:off x="10113264" y="4690872"/>
            <a:ext cx="384048" cy="438912"/>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100" b="1" dirty="0">
                <a:solidFill>
                  <a:srgbClr val="2F5D50"/>
                </a:solidFill>
                <a:latin typeface="JetBrains Mono" pitchFamily="34" charset="0"/>
                <a:ea typeface="JetBrains Mono" pitchFamily="34" charset="-122"/>
                <a:cs typeface="JetBrains Mono" pitchFamily="34" charset="-120"/>
              </a:rPr>
              <a:t>40</a:t>
            </a:r>
            <a:endParaRPr lang="en-US" sz="1100" dirty="0"/>
          </a:p>
        </p:txBody>
      </p:sp>
      <p:sp>
        <p:nvSpPr>
          <p:cNvPr id="92" name="Text 89"/>
          <p:cNvSpPr txBox="1"/>
          <p:nvPr/>
        </p:nvSpPr>
        <p:spPr>
          <a:xfrm>
            <a:off x="10497312" y="4690872"/>
            <a:ext cx="384048" cy="438912"/>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100" b="1" dirty="0">
                <a:solidFill>
                  <a:srgbClr val="2F5D50"/>
                </a:solidFill>
                <a:latin typeface="JetBrains Mono" pitchFamily="34" charset="0"/>
                <a:ea typeface="JetBrains Mono" pitchFamily="34" charset="-122"/>
                <a:cs typeface="JetBrains Mono" pitchFamily="34" charset="-120"/>
              </a:rPr>
              <a:t>50</a:t>
            </a:r>
            <a:endParaRPr lang="en-US" sz="1100" dirty="0"/>
          </a:p>
        </p:txBody>
      </p:sp>
      <p:sp>
        <p:nvSpPr>
          <p:cNvPr id="93" name="Text 90"/>
          <p:cNvSpPr txBox="1"/>
          <p:nvPr/>
        </p:nvSpPr>
        <p:spPr>
          <a:xfrm>
            <a:off x="10881360" y="4690872"/>
            <a:ext cx="384048" cy="438912"/>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100" b="1" dirty="0">
                <a:solidFill>
                  <a:srgbClr val="2F5D50"/>
                </a:solidFill>
                <a:latin typeface="JetBrains Mono" pitchFamily="34" charset="0"/>
                <a:ea typeface="JetBrains Mono" pitchFamily="34" charset="-122"/>
                <a:cs typeface="JetBrains Mono" pitchFamily="34" charset="-120"/>
              </a:rPr>
              <a:t>99</a:t>
            </a:r>
            <a:endParaRPr lang="en-US" sz="1100" dirty="0"/>
          </a:p>
        </p:txBody>
      </p:sp>
      <p:sp>
        <p:nvSpPr>
          <p:cNvPr id="94" name="Text 91"/>
          <p:cNvSpPr txBox="1"/>
          <p:nvPr/>
        </p:nvSpPr>
        <p:spPr>
          <a:xfrm>
            <a:off x="11265408" y="4690872"/>
            <a:ext cx="384048" cy="438912"/>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100" b="1" dirty="0">
                <a:solidFill>
                  <a:srgbClr val="2F5D50"/>
                </a:solidFill>
                <a:latin typeface="JetBrains Mono" pitchFamily="34" charset="0"/>
                <a:ea typeface="JetBrains Mono" pitchFamily="34" charset="-122"/>
                <a:cs typeface="JetBrains Mono" pitchFamily="34" charset="-120"/>
              </a:rPr>
              <a:t>100</a:t>
            </a:r>
            <a:endParaRPr lang="en-US" sz="1100" dirty="0"/>
          </a:p>
        </p:txBody>
      </p:sp>
      <p:sp>
        <p:nvSpPr>
          <p:cNvPr id="95" name="Shape 92"/>
          <p:cNvSpPr/>
          <p:nvPr/>
        </p:nvSpPr>
        <p:spPr>
          <a:xfrm>
            <a:off x="548640" y="5715000"/>
            <a:ext cx="11091672" cy="0"/>
          </a:xfrm>
          <a:prstGeom prst="line">
            <a:avLst/>
          </a:prstGeom>
          <a:noFill/>
          <a:ln w="6350">
            <a:solidFill>
              <a:srgbClr val="B5AD9B"/>
            </a:solidFill>
            <a:prstDash val="solid"/>
          </a:ln>
        </p:spPr>
      </p:sp>
      <p:sp>
        <p:nvSpPr>
          <p:cNvPr id="96" name="Text 93"/>
          <p:cNvSpPr txBox="1"/>
          <p:nvPr/>
        </p:nvSpPr>
        <p:spPr>
          <a:xfrm>
            <a:off x="548640" y="5824728"/>
            <a:ext cx="11091672" cy="457200"/>
          </a:xfrm>
          <a:prstGeom prst="rect">
            <a:avLst/>
          </a:prstGeom>
          <a:noFill/>
          <a:ln/>
        </p:spPr>
        <p:txBody>
          <a:bodyPr wrap="square" lIns="0" tIns="0" rIns="0" bIns="0" rtlCol="0" anchor="t"/>
          <a:lstStyle/>
          <a:p>
            <a:pPr indent="0" marL="0">
              <a:buNone/>
            </a:pPr>
            <a:r>
              <a:rPr lang="en-US" sz="1300" b="1" dirty="0">
                <a:solidFill>
                  <a:srgbClr val="8C2F23"/>
                </a:solidFill>
                <a:latin typeface="IBM Plex Sans" pitchFamily="34" charset="0"/>
                <a:ea typeface="IBM Plex Sans" pitchFamily="34" charset="-122"/>
                <a:cs typeface="IBM Plex Sans" pitchFamily="34" charset="-120"/>
              </a:rPr>
              <a:t>Fíjense en la pasada 2: </a:t>
            </a:r>
            <a:pPr indent="0" marL="0">
              <a:buNone/>
            </a:pPr>
            <a:r>
              <a:rPr lang="en-US" sz="1300" dirty="0">
                <a:solidFill>
                  <a:srgbClr val="1F1B16"/>
                </a:solidFill>
                <a:latin typeface="IBM Plex Sans" pitchFamily="34" charset="0"/>
                <a:ea typeface="IBM Plex Sans" pitchFamily="34" charset="-122"/>
                <a:cs typeface="IBM Plex Sans" pitchFamily="34" charset="-120"/>
              </a:rPr>
              <a:t>100 y 1 caen juntos en la cubeta 0 y salen en ese orden porque así estaban. La pasada 3 los separa. Esa es la estabilidad trabajando.</a:t>
            </a:r>
            <a:endParaRPr lang="en-US" sz="1300" dirty="0"/>
          </a:p>
        </p:txBody>
      </p:sp>
      <p:sp>
        <p:nvSpPr>
          <p:cNvPr id="25" name="Slide Number Placeholder 0"/>
          <p:cNvSpPr>
            <a:spLocks noGrp="1"/>
          </p:cNvSpPr>
          <p:nvPr>
            <p:ph type="sldNum" sz="quarter" idx="4294967295"/>
          </p:nvPr>
        </p:nvSpPr>
        <p:spPr>
          <a:xfrm>
            <a:off x="10725912" y="6473952"/>
            <a:ext cx="9144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657"/>
                </a:solidFill>
                <a:latin typeface="JetBrains Mono"/>
                <a:ea typeface="JetBrains Mono"/>
                <a:cs typeface="JetBrains Mon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100" spc="200" kern="0" dirty="0">
                <a:solidFill>
                  <a:srgbClr val="8C2F23"/>
                </a:solidFill>
                <a:latin typeface="JetBrains Mono" pitchFamily="34" charset="0"/>
                <a:ea typeface="JetBrains Mono" pitchFamily="34" charset="-122"/>
                <a:cs typeface="JetBrains Mono" pitchFamily="34" charset="-120"/>
              </a:rPr>
              <a:t>§ 04 · BUCKET SORT</a:t>
            </a:r>
            <a:endParaRPr lang="en-US" sz="1100" dirty="0"/>
          </a:p>
        </p:txBody>
      </p:sp>
      <p:sp>
        <p:nvSpPr>
          <p:cNvPr id="3" name="Text 3"/>
          <p:cNvSpPr/>
          <p:nvPr>
            <p:ph idx="103" type="title" hasCustomPrompt="1"/>
          </p:nvPr>
        </p:nvSpPr>
        <p:spPr>
          <a:xfrm>
            <a:off x="548640" y="804672"/>
            <a:ext cx="11091672" cy="777240"/>
          </a:xfrm>
          <a:prstGeom prst="rect">
            <a:avLst/>
          </a:prstGeom>
          <a:noFill/>
          <a:ln/>
        </p:spPr>
        <p:txBody>
          <a:bodyPr wrap="square" lIns="0" tIns="0" rIns="0" bIns="0" rtlCol="0" anchor="t"/>
          <a:lstStyle/>
          <a:p>
            <a:pPr algn="l" indent="0" marL="0">
              <a:buNone/>
            </a:pPr>
            <a:r>
              <a:rPr lang="en-US" sz="3600" dirty="0">
                <a:solidFill>
                  <a:srgbClr val="1F1B16"/>
                </a:solidFill>
                <a:latin typeface="EB Garamond" pitchFamily="34" charset="0"/>
                <a:ea typeface="EB Garamond" pitchFamily="34" charset="-122"/>
                <a:cs typeface="EB Garamond" pitchFamily="34" charset="-120"/>
              </a:rPr>
              <a:t>Bucket sort: cómo funciona</a:t>
            </a:r>
            <a:endParaRPr lang="en-US" sz="3600" dirty="0"/>
          </a:p>
        </p:txBody>
      </p:sp>
      <p:sp>
        <p:nvSpPr>
          <p:cNvPr id="5" name="Text 2"/>
          <p:cNvSpPr txBox="1"/>
          <p:nvPr/>
        </p:nvSpPr>
        <p:spPr>
          <a:xfrm>
            <a:off x="548640" y="1645920"/>
            <a:ext cx="11091672" cy="777240"/>
          </a:xfrm>
          <a:prstGeom prst="rect">
            <a:avLst/>
          </a:prstGeom>
          <a:noFill/>
          <a:ln/>
        </p:spPr>
        <p:txBody>
          <a:bodyPr wrap="square" lIns="0" tIns="0" rIns="0" bIns="0" rtlCol="0" anchor="t"/>
          <a:lstStyle/>
          <a:p>
            <a:pPr indent="0" marL="0">
              <a:buNone/>
            </a:pPr>
            <a:r>
              <a:rPr lang="en-US" sz="2200" i="1" dirty="0">
                <a:solidFill>
                  <a:srgbClr val="1F1B16"/>
                </a:solidFill>
                <a:latin typeface="EB Garamond" pitchFamily="34" charset="0"/>
                <a:ea typeface="EB Garamond" pitchFamily="34" charset="-122"/>
                <a:cs typeface="EB Garamond" pitchFamily="34" charset="-120"/>
              </a:rPr>
              <a:t>Es el híbrido del grupo: reparte sin comparar y después ordena comparando, pero solo dentro de grupos que espera encontrar diminutos.</a:t>
            </a:r>
            <a:endParaRPr lang="en-US" sz="2200" dirty="0"/>
          </a:p>
        </p:txBody>
      </p:sp>
      <p:sp>
        <p:nvSpPr>
          <p:cNvPr id="6" name="Shape 3"/>
          <p:cNvSpPr/>
          <p:nvPr/>
        </p:nvSpPr>
        <p:spPr>
          <a:xfrm>
            <a:off x="548640" y="2487168"/>
            <a:ext cx="11091672" cy="0"/>
          </a:xfrm>
          <a:prstGeom prst="line">
            <a:avLst/>
          </a:prstGeom>
          <a:noFill/>
          <a:ln w="6350">
            <a:solidFill>
              <a:srgbClr val="1F1B16"/>
            </a:solidFill>
            <a:prstDash val="solid"/>
          </a:ln>
        </p:spPr>
      </p:sp>
      <p:sp>
        <p:nvSpPr>
          <p:cNvPr id="7" name="Text 4"/>
          <p:cNvSpPr txBox="1"/>
          <p:nvPr/>
        </p:nvSpPr>
        <p:spPr>
          <a:xfrm>
            <a:off x="548640" y="2670048"/>
            <a:ext cx="5349240" cy="3611880"/>
          </a:xfrm>
          <a:prstGeom prst="rect">
            <a:avLst/>
          </a:prstGeom>
          <a:noFill/>
          <a:ln/>
        </p:spPr>
        <p:txBody>
          <a:bodyPr wrap="square" lIns="0" tIns="0" rIns="0" bIns="0" rtlCol="0" anchor="t"/>
          <a:lstStyle/>
          <a:p>
            <a:pPr indent="0" marL="0">
              <a:lnSpc>
                <a:spcPct val="105000"/>
              </a:lnSpc>
              <a:buNone/>
            </a:pPr>
            <a:r>
              <a:rPr lang="en-US" sz="1400" b="1" dirty="0">
                <a:solidFill>
                  <a:srgbClr val="8C2F23"/>
                </a:solidFill>
                <a:latin typeface="IBM Plex Sans" pitchFamily="34" charset="0"/>
                <a:ea typeface="IBM Plex Sans" pitchFamily="34" charset="-122"/>
                <a:cs typeface="IBM Plex Sans" pitchFamily="34" charset="-120"/>
              </a:rPr>
              <a:t>Repartir. </a:t>
            </a:r>
            <a:pPr indent="0" marL="0">
              <a:lnSpc>
                <a:spcPct val="105000"/>
              </a:lnSpc>
              <a:spcAft>
                <a:spcPts val="900"/>
              </a:spcAft>
              <a:buNone/>
            </a:pPr>
            <a:r>
              <a:rPr lang="en-US" sz="1400" dirty="0">
                <a:solidFill>
                  <a:srgbClr val="1F1B16"/>
                </a:solidFill>
                <a:latin typeface="IBM Plex Sans" pitchFamily="34" charset="0"/>
                <a:ea typeface="IBM Plex Sans" pitchFamily="34" charset="-122"/>
                <a:cs typeface="IBM Plex Sans" pitchFamily="34" charset="-120"/>
              </a:rPr>
              <a:t>Se eligen m cubetas (lo habitual es m = n) y cada elemento va a la que le corresponde según su valor, mediante una cuenta: j = ⌊m · (x − min) / (max − min + 1)⌋. Ninguna comparación; Θ(n). Con nuestra entrada m = 7, min = 1 y max = 100: el 50 va a B[3] y el 100 a B[6].</a:t>
            </a:r>
            <a:endParaRPr lang="en-US" sz="1400" dirty="0"/>
          </a:p>
          <a:p>
            <a:pPr indent="0" marL="0">
              <a:lnSpc>
                <a:spcPct val="105000"/>
              </a:lnSpc>
              <a:buNone/>
            </a:pPr>
            <a:r>
              <a:rPr lang="en-US" sz="1400" b="1" dirty="0">
                <a:solidFill>
                  <a:srgbClr val="8C2F23"/>
                </a:solidFill>
                <a:latin typeface="IBM Plex Sans" pitchFamily="34" charset="0"/>
                <a:ea typeface="IBM Plex Sans" pitchFamily="34" charset="-122"/>
                <a:cs typeface="IBM Plex Sans" pitchFamily="34" charset="-120"/>
              </a:rPr>
              <a:t>Ordenar cada cubeta. </a:t>
            </a:r>
            <a:pPr indent="0" marL="0">
              <a:lnSpc>
                <a:spcPct val="105000"/>
              </a:lnSpc>
              <a:spcAft>
                <a:spcPts val="900"/>
              </a:spcAft>
              <a:buNone/>
            </a:pPr>
            <a:r>
              <a:rPr lang="en-US" sz="1400" dirty="0">
                <a:solidFill>
                  <a:srgbClr val="1F1B16"/>
                </a:solidFill>
                <a:latin typeface="IBM Plex Sans" pitchFamily="34" charset="0"/>
                <a:ea typeface="IBM Plex Sans" pitchFamily="34" charset="-122"/>
                <a:cs typeface="IBM Plex Sans" pitchFamily="34" charset="-120"/>
              </a:rPr>
              <a:t>Con inserción, que es lentísima en general pero inmejorable en listas de uno o dos elementos. Si el reparto salió parejo, cada cubeta tiene en promedio un elemento y ordenarla casi no cuesta. Aquí solo B[1] = [20, 19] y B[6] = [100, 99] necesitaron un intercambio.</a:t>
            </a:r>
            <a:endParaRPr lang="en-US" sz="1400" dirty="0"/>
          </a:p>
        </p:txBody>
      </p:sp>
      <p:sp>
        <p:nvSpPr>
          <p:cNvPr id="8" name="Shape 5"/>
          <p:cNvSpPr/>
          <p:nvPr/>
        </p:nvSpPr>
        <p:spPr>
          <a:xfrm>
            <a:off x="6094476" y="2670048"/>
            <a:ext cx="0" cy="3520440"/>
          </a:xfrm>
          <a:prstGeom prst="line">
            <a:avLst/>
          </a:prstGeom>
          <a:noFill/>
          <a:ln w="6350">
            <a:solidFill>
              <a:srgbClr val="B5AD9B"/>
            </a:solidFill>
            <a:prstDash val="solid"/>
          </a:ln>
        </p:spPr>
      </p:sp>
      <p:sp>
        <p:nvSpPr>
          <p:cNvPr id="9" name="Text 6"/>
          <p:cNvSpPr txBox="1"/>
          <p:nvPr/>
        </p:nvSpPr>
        <p:spPr>
          <a:xfrm>
            <a:off x="6291072" y="2670048"/>
            <a:ext cx="5349240" cy="3611880"/>
          </a:xfrm>
          <a:prstGeom prst="rect">
            <a:avLst/>
          </a:prstGeom>
          <a:noFill/>
          <a:ln/>
        </p:spPr>
        <p:txBody>
          <a:bodyPr wrap="square" lIns="0" tIns="0" rIns="0" bIns="0" rtlCol="0" anchor="t"/>
          <a:lstStyle/>
          <a:p>
            <a:pPr indent="0" marL="0">
              <a:lnSpc>
                <a:spcPct val="105000"/>
              </a:lnSpc>
              <a:buNone/>
            </a:pPr>
            <a:r>
              <a:rPr lang="en-US" sz="1400" b="1" dirty="0">
                <a:solidFill>
                  <a:srgbClr val="8C2F23"/>
                </a:solidFill>
                <a:latin typeface="IBM Plex Sans" pitchFamily="34" charset="0"/>
                <a:ea typeface="IBM Plex Sans" pitchFamily="34" charset="-122"/>
                <a:cs typeface="IBM Plex Sans" pitchFamily="34" charset="-120"/>
              </a:rPr>
              <a:t>Concatenar. </a:t>
            </a:r>
            <a:pPr indent="0" marL="0">
              <a:lnSpc>
                <a:spcPct val="105000"/>
              </a:lnSpc>
              <a:spcAft>
                <a:spcPts val="900"/>
              </a:spcAft>
              <a:buNone/>
            </a:pPr>
            <a:r>
              <a:rPr lang="en-US" sz="1400" dirty="0">
                <a:solidFill>
                  <a:srgbClr val="1F1B16"/>
                </a:solidFill>
                <a:latin typeface="IBM Plex Sans" pitchFamily="34" charset="0"/>
                <a:ea typeface="IBM Plex Sans" pitchFamily="34" charset="-122"/>
                <a:cs typeface="IBM Plex Sans" pitchFamily="34" charset="-120"/>
              </a:rPr>
              <a:t>De la cubeta 0 a la m − 1. Cada cubeta ya está ordenada y todas las claves de la cubeta j son menores que las de la j + 1, así que el resultado sale ordenado: Θ(n + m).</a:t>
            </a:r>
            <a:endParaRPr lang="en-US" sz="1400" dirty="0"/>
          </a:p>
          <a:p>
            <a:pPr indent="0" marL="0">
              <a:lnSpc>
                <a:spcPct val="105000"/>
              </a:lnSpc>
              <a:buNone/>
            </a:pPr>
            <a:r>
              <a:rPr lang="en-US" sz="1400" b="1" dirty="0">
                <a:solidFill>
                  <a:srgbClr val="8C2F23"/>
                </a:solidFill>
                <a:latin typeface="IBM Plex Sans" pitchFamily="34" charset="0"/>
                <a:ea typeface="IBM Plex Sans" pitchFamily="34" charset="-122"/>
                <a:cs typeface="IBM Plex Sans" pitchFamily="34" charset="-120"/>
              </a:rPr>
              <a:t>El supuesto que lo sostiene. </a:t>
            </a:r>
            <a:pPr indent="0" marL="0">
              <a:lnSpc>
                <a:spcPct val="105000"/>
              </a:lnSpc>
              <a:spcAft>
                <a:spcPts val="900"/>
              </a:spcAft>
              <a:buNone/>
            </a:pPr>
            <a:r>
              <a:rPr lang="en-US" sz="1400" dirty="0">
                <a:solidFill>
                  <a:srgbClr val="1F1B16"/>
                </a:solidFill>
                <a:latin typeface="IBM Plex Sans" pitchFamily="34" charset="0"/>
                <a:ea typeface="IBM Plex Sans" pitchFamily="34" charset="-122"/>
                <a:cs typeface="IBM Plex Sans" pitchFamily="34" charset="-120"/>
              </a:rPr>
              <a:t>Todo depende de que los datos se repartan parejo. Si la distribución está sesgada y casi todo cae en una cubeta, la inserción interna recibe un arreglo de tamaño n y el costo es Θ(n²). Es el único de los tres cuyo peor caso es peor que n log n: sin garantía de uniformidad, mergesort es la apuesta segura.</a:t>
            </a:r>
            <a:endParaRPr lang="en-US" sz="1400" dirty="0"/>
          </a:p>
        </p:txBody>
      </p:sp>
      <p:sp>
        <p:nvSpPr>
          <p:cNvPr id="25" name="Slide Number Placeholder 0"/>
          <p:cNvSpPr>
            <a:spLocks noGrp="1"/>
          </p:cNvSpPr>
          <p:nvPr>
            <p:ph type="sldNum" sz="quarter" idx="4294967295"/>
          </p:nvPr>
        </p:nvSpPr>
        <p:spPr>
          <a:xfrm>
            <a:off x="10725912" y="6473952"/>
            <a:ext cx="9144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657"/>
                </a:solidFill>
                <a:latin typeface="JetBrains Mono"/>
                <a:ea typeface="JetBrains Mono"/>
                <a:cs typeface="JetBrains Mon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100" spc="200" kern="0" dirty="0">
                <a:solidFill>
                  <a:srgbClr val="8C2F23"/>
                </a:solidFill>
                <a:latin typeface="JetBrains Mono" pitchFamily="34" charset="0"/>
                <a:ea typeface="JetBrains Mono" pitchFamily="34" charset="-122"/>
                <a:cs typeface="JetBrains Mono" pitchFamily="34" charset="-120"/>
              </a:rPr>
              <a:t>§ 04 · BUCKET SORT</a:t>
            </a:r>
            <a:endParaRPr lang="en-US" sz="1100" dirty="0"/>
          </a:p>
        </p:txBody>
      </p:sp>
      <p:sp>
        <p:nvSpPr>
          <p:cNvPr id="3" name="Text 3"/>
          <p:cNvSpPr/>
          <p:nvPr>
            <p:ph idx="103" type="title" hasCustomPrompt="1"/>
          </p:nvPr>
        </p:nvSpPr>
        <p:spPr>
          <a:xfrm>
            <a:off x="548640" y="804672"/>
            <a:ext cx="11091672" cy="777240"/>
          </a:xfrm>
          <a:prstGeom prst="rect">
            <a:avLst/>
          </a:prstGeom>
          <a:noFill/>
          <a:ln/>
        </p:spPr>
        <p:txBody>
          <a:bodyPr wrap="square" lIns="0" tIns="0" rIns="0" bIns="0" rtlCol="0" anchor="t"/>
          <a:lstStyle/>
          <a:p>
            <a:pPr algn="l" indent="0" marL="0">
              <a:buNone/>
            </a:pPr>
            <a:r>
              <a:rPr lang="en-US" sz="3600" dirty="0">
                <a:solidFill>
                  <a:srgbClr val="1F1B16"/>
                </a:solidFill>
                <a:latin typeface="EB Garamond" pitchFamily="34" charset="0"/>
                <a:ea typeface="EB Garamond" pitchFamily="34" charset="-122"/>
                <a:cs typeface="EB Garamond" pitchFamily="34" charset="-120"/>
              </a:rPr>
              <a:t>Bucket sort: pseudocódigo</a:t>
            </a:r>
            <a:endParaRPr lang="en-US" sz="3600" dirty="0"/>
          </a:p>
        </p:txBody>
      </p:sp>
      <p:sp>
        <p:nvSpPr>
          <p:cNvPr id="5" name="Shape 2"/>
          <p:cNvSpPr/>
          <p:nvPr/>
        </p:nvSpPr>
        <p:spPr>
          <a:xfrm>
            <a:off x="548640" y="1691640"/>
            <a:ext cx="11091672" cy="0"/>
          </a:xfrm>
          <a:prstGeom prst="line">
            <a:avLst/>
          </a:prstGeom>
          <a:noFill/>
          <a:ln w="6350">
            <a:solidFill>
              <a:srgbClr val="B5AD9B"/>
            </a:solidFill>
            <a:prstDash val="solid"/>
          </a:ln>
        </p:spPr>
      </p:sp>
      <p:sp>
        <p:nvSpPr>
          <p:cNvPr id="6" name="Text 3"/>
          <p:cNvSpPr txBox="1"/>
          <p:nvPr/>
        </p:nvSpPr>
        <p:spPr>
          <a:xfrm>
            <a:off x="548640" y="1755648"/>
            <a:ext cx="320040" cy="508000"/>
          </a:xfrm>
          <a:prstGeom prst="rect">
            <a:avLst/>
          </a:prstGeom>
          <a:noFill/>
          <a:ln/>
        </p:spPr>
        <p:txBody>
          <a:bodyPr wrap="square" lIns="0" tIns="0" rIns="0" bIns="0" rtlCol="0" anchor="t"/>
          <a:lstStyle/>
          <a:p>
            <a:pPr algn="r" indent="0" marL="0">
              <a:lnSpc>
                <a:spcPts val="2000"/>
              </a:lnSpc>
              <a:buNone/>
            </a:pPr>
            <a:r>
              <a:rPr lang="en-US" sz="1200" dirty="0">
                <a:solidFill>
                  <a:srgbClr val="8C2F23"/>
                </a:solidFill>
                <a:latin typeface="JetBrains Mono" pitchFamily="34" charset="0"/>
                <a:ea typeface="JetBrains Mono" pitchFamily="34" charset="-122"/>
                <a:cs typeface="JetBrains Mono" pitchFamily="34" charset="-120"/>
              </a:rPr>
              <a:t>1</a:t>
            </a:r>
            <a:endParaRPr lang="en-US" sz="1200" dirty="0"/>
          </a:p>
          <a:p>
            <a:pPr algn="r" indent="0" marL="0">
              <a:lnSpc>
                <a:spcPts val="2000"/>
              </a:lnSpc>
              <a:buNone/>
            </a:pPr>
            <a:r>
              <a:rPr lang="en-US" sz="1200" dirty="0">
                <a:solidFill>
                  <a:srgbClr val="8C2F23"/>
                </a:solidFill>
                <a:latin typeface="JetBrains Mono" pitchFamily="34" charset="0"/>
                <a:ea typeface="JetBrains Mono" pitchFamily="34" charset="-122"/>
                <a:cs typeface="JetBrains Mono" pitchFamily="34" charset="-120"/>
              </a:rPr>
              <a:t>2</a:t>
            </a:r>
            <a:endParaRPr lang="en-US" sz="1200" dirty="0"/>
          </a:p>
        </p:txBody>
      </p:sp>
      <p:sp>
        <p:nvSpPr>
          <p:cNvPr id="7" name="Text 4"/>
          <p:cNvSpPr txBox="1"/>
          <p:nvPr/>
        </p:nvSpPr>
        <p:spPr>
          <a:xfrm>
            <a:off x="960120" y="1755648"/>
            <a:ext cx="3886200" cy="508000"/>
          </a:xfrm>
          <a:prstGeom prst="rect">
            <a:avLst/>
          </a:prstGeom>
          <a:noFill/>
          <a:ln/>
        </p:spPr>
        <p:txBody>
          <a:bodyPr wrap="square" lIns="0" tIns="0" rIns="0" bIns="0" rtlCol="0" anchor="t"/>
          <a:lstStyle/>
          <a:p>
            <a:pPr indent="0" marL="0">
              <a:lnSpc>
                <a:spcPts val="2000"/>
              </a:lnSpc>
              <a:buNone/>
            </a:pPr>
            <a:r>
              <a:rPr lang="en-US" sz="1300" b="1" dirty="0">
                <a:solidFill>
                  <a:srgbClr val="8C2F23"/>
                </a:solidFill>
                <a:latin typeface="JetBrains Mono" pitchFamily="34" charset="0"/>
                <a:ea typeface="JetBrains Mono" pitchFamily="34" charset="-122"/>
                <a:cs typeface="JetBrains Mono" pitchFamily="34" charset="-120"/>
              </a:rPr>
              <a:t>BUCKET-SORT</a:t>
            </a:r>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(A, n)</a:t>
            </a:r>
            <a:endParaRPr lang="en-US" sz="1400" dirty="0"/>
          </a:p>
          <a:p>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min = minimo(A); max = maximo(A)</a:t>
            </a:r>
            <a:endParaRPr lang="en-US" sz="1400" dirty="0"/>
          </a:p>
        </p:txBody>
      </p:sp>
      <p:sp>
        <p:nvSpPr>
          <p:cNvPr id="8" name="Text 5"/>
          <p:cNvSpPr txBox="1"/>
          <p:nvPr/>
        </p:nvSpPr>
        <p:spPr>
          <a:xfrm>
            <a:off x="5166360" y="1755648"/>
            <a:ext cx="6473952" cy="429768"/>
          </a:xfrm>
          <a:prstGeom prst="rect">
            <a:avLst/>
          </a:prstGeom>
          <a:noFill/>
          <a:ln/>
        </p:spPr>
        <p:txBody>
          <a:bodyPr wrap="square" lIns="0" tIns="0" rIns="0" bIns="0" rtlCol="0" anchor="t"/>
          <a:lstStyle/>
          <a:p>
            <a:pPr indent="0" marL="0">
              <a:buNone/>
            </a:pPr>
            <a:r>
              <a:rPr lang="en-US" sz="1300" b="1" dirty="0">
                <a:solidFill>
                  <a:srgbClr val="1F1B16"/>
                </a:solidFill>
                <a:latin typeface="IBM Plex Sans" pitchFamily="34" charset="0"/>
                <a:ea typeface="IBM Plex Sans" pitchFamily="34" charset="-122"/>
                <a:cs typeface="IBM Plex Sans" pitchFamily="34" charset="-120"/>
              </a:rPr>
              <a:t>Línea 2. </a:t>
            </a:r>
            <a:pPr indent="0" marL="0">
              <a:buNone/>
            </a:pPr>
            <a:r>
              <a:rPr lang="en-US" sz="1300" dirty="0">
                <a:solidFill>
                  <a:srgbClr val="1F1B16"/>
                </a:solidFill>
                <a:latin typeface="IBM Plex Sans" pitchFamily="34" charset="0"/>
                <a:ea typeface="IBM Plex Sans" pitchFamily="34" charset="-122"/>
                <a:cs typeface="IBM Plex Sans" pitchFamily="34" charset="-120"/>
              </a:rPr>
              <a:t>Hace falta el rango real. Con claves reales en [0, 1), como en Cormen, este paso se omite y el índice se reduce a ⌊n · A[i]⌋.</a:t>
            </a:r>
            <a:endParaRPr lang="en-US" sz="1300" dirty="0"/>
          </a:p>
        </p:txBody>
      </p:sp>
      <p:sp>
        <p:nvSpPr>
          <p:cNvPr id="9" name="Shape 6"/>
          <p:cNvSpPr/>
          <p:nvPr/>
        </p:nvSpPr>
        <p:spPr>
          <a:xfrm>
            <a:off x="548640" y="2327656"/>
            <a:ext cx="11091672" cy="0"/>
          </a:xfrm>
          <a:prstGeom prst="line">
            <a:avLst/>
          </a:prstGeom>
          <a:noFill/>
          <a:ln w="6350">
            <a:solidFill>
              <a:srgbClr val="B5AD9B"/>
            </a:solidFill>
            <a:prstDash val="solid"/>
          </a:ln>
        </p:spPr>
      </p:sp>
      <p:sp>
        <p:nvSpPr>
          <p:cNvPr id="10" name="Text 7"/>
          <p:cNvSpPr txBox="1"/>
          <p:nvPr/>
        </p:nvSpPr>
        <p:spPr>
          <a:xfrm>
            <a:off x="548640" y="2391664"/>
            <a:ext cx="320040" cy="254000"/>
          </a:xfrm>
          <a:prstGeom prst="rect">
            <a:avLst/>
          </a:prstGeom>
          <a:noFill/>
          <a:ln/>
        </p:spPr>
        <p:txBody>
          <a:bodyPr wrap="square" lIns="0" tIns="0" rIns="0" bIns="0" rtlCol="0" anchor="t"/>
          <a:lstStyle/>
          <a:p>
            <a:pPr algn="r" indent="0" marL="0">
              <a:lnSpc>
                <a:spcPts val="2000"/>
              </a:lnSpc>
              <a:buNone/>
            </a:pPr>
            <a:r>
              <a:rPr lang="en-US" sz="1200" dirty="0">
                <a:solidFill>
                  <a:srgbClr val="8C2F23"/>
                </a:solidFill>
                <a:latin typeface="JetBrains Mono" pitchFamily="34" charset="0"/>
                <a:ea typeface="JetBrains Mono" pitchFamily="34" charset="-122"/>
                <a:cs typeface="JetBrains Mono" pitchFamily="34" charset="-120"/>
              </a:rPr>
              <a:t>3</a:t>
            </a:r>
            <a:endParaRPr lang="en-US" sz="1200" dirty="0"/>
          </a:p>
        </p:txBody>
      </p:sp>
      <p:sp>
        <p:nvSpPr>
          <p:cNvPr id="11" name="Text 8"/>
          <p:cNvSpPr txBox="1"/>
          <p:nvPr/>
        </p:nvSpPr>
        <p:spPr>
          <a:xfrm>
            <a:off x="960120" y="2391664"/>
            <a:ext cx="3886200" cy="254000"/>
          </a:xfrm>
          <a:prstGeom prst="rect">
            <a:avLst/>
          </a:prstGeom>
          <a:noFill/>
          <a:ln/>
        </p:spPr>
        <p:txBody>
          <a:bodyPr wrap="square" lIns="0" tIns="0" rIns="0" bIns="0" rtlCol="0" anchor="t"/>
          <a:lstStyle/>
          <a:p>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a:t>
            </a:r>
            <a:pPr indent="0" marL="0">
              <a:lnSpc>
                <a:spcPts val="2000"/>
              </a:lnSpc>
              <a:buNone/>
            </a:pPr>
            <a:r>
              <a:rPr lang="en-US" sz="1300" b="1" dirty="0">
                <a:solidFill>
                  <a:srgbClr val="2F5D50"/>
                </a:solidFill>
                <a:latin typeface="JetBrains Mono" pitchFamily="34" charset="0"/>
                <a:ea typeface="JetBrains Mono" pitchFamily="34" charset="-122"/>
                <a:cs typeface="JetBrains Mono" pitchFamily="34" charset="-120"/>
              </a:rPr>
              <a:t>sea</a:t>
            </a:r>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B[0..n-1] listas vacías</a:t>
            </a:r>
            <a:endParaRPr lang="en-US" sz="1400" dirty="0"/>
          </a:p>
        </p:txBody>
      </p:sp>
      <p:sp>
        <p:nvSpPr>
          <p:cNvPr id="12" name="Text 9"/>
          <p:cNvSpPr txBox="1"/>
          <p:nvPr/>
        </p:nvSpPr>
        <p:spPr>
          <a:xfrm>
            <a:off x="5166360" y="2391664"/>
            <a:ext cx="6473952" cy="429768"/>
          </a:xfrm>
          <a:prstGeom prst="rect">
            <a:avLst/>
          </a:prstGeom>
          <a:noFill/>
          <a:ln/>
        </p:spPr>
        <p:txBody>
          <a:bodyPr wrap="square" lIns="0" tIns="0" rIns="0" bIns="0" rtlCol="0" anchor="t"/>
          <a:lstStyle/>
          <a:p>
            <a:pPr indent="0" marL="0">
              <a:buNone/>
            </a:pPr>
            <a:r>
              <a:rPr lang="en-US" sz="1300" b="1" dirty="0">
                <a:solidFill>
                  <a:srgbClr val="1F1B16"/>
                </a:solidFill>
                <a:latin typeface="IBM Plex Sans" pitchFamily="34" charset="0"/>
                <a:ea typeface="IBM Plex Sans" pitchFamily="34" charset="-122"/>
                <a:cs typeface="IBM Plex Sans" pitchFamily="34" charset="-120"/>
              </a:rPr>
              <a:t>Línea 3. </a:t>
            </a:r>
            <a:pPr indent="0" marL="0">
              <a:buNone/>
            </a:pPr>
            <a:r>
              <a:rPr lang="en-US" sz="1300" dirty="0">
                <a:solidFill>
                  <a:srgbClr val="1F1B16"/>
                </a:solidFill>
                <a:latin typeface="IBM Plex Sans" pitchFamily="34" charset="0"/>
                <a:ea typeface="IBM Plex Sans" pitchFamily="34" charset="-122"/>
                <a:cs typeface="IBM Plex Sans" pitchFamily="34" charset="-120"/>
              </a:rPr>
              <a:t>m = n cubetas: así se espera un elemento por cubeta y el trabajo interno es casi nulo.</a:t>
            </a:r>
            <a:endParaRPr lang="en-US" sz="1300" dirty="0"/>
          </a:p>
        </p:txBody>
      </p:sp>
      <p:sp>
        <p:nvSpPr>
          <p:cNvPr id="13" name="Shape 10"/>
          <p:cNvSpPr/>
          <p:nvPr/>
        </p:nvSpPr>
        <p:spPr>
          <a:xfrm>
            <a:off x="548640" y="2885440"/>
            <a:ext cx="11091672" cy="0"/>
          </a:xfrm>
          <a:prstGeom prst="line">
            <a:avLst/>
          </a:prstGeom>
          <a:noFill/>
          <a:ln w="6350">
            <a:solidFill>
              <a:srgbClr val="B5AD9B"/>
            </a:solidFill>
            <a:prstDash val="solid"/>
          </a:ln>
        </p:spPr>
      </p:sp>
      <p:sp>
        <p:nvSpPr>
          <p:cNvPr id="14" name="Text 11"/>
          <p:cNvSpPr txBox="1"/>
          <p:nvPr/>
        </p:nvSpPr>
        <p:spPr>
          <a:xfrm>
            <a:off x="548640" y="2949448"/>
            <a:ext cx="320040" cy="762000"/>
          </a:xfrm>
          <a:prstGeom prst="rect">
            <a:avLst/>
          </a:prstGeom>
          <a:noFill/>
          <a:ln/>
        </p:spPr>
        <p:txBody>
          <a:bodyPr wrap="square" lIns="0" tIns="0" rIns="0" bIns="0" rtlCol="0" anchor="t"/>
          <a:lstStyle/>
          <a:p>
            <a:pPr algn="r" indent="0" marL="0">
              <a:lnSpc>
                <a:spcPts val="2000"/>
              </a:lnSpc>
              <a:buNone/>
            </a:pPr>
            <a:r>
              <a:rPr lang="en-US" sz="1200" dirty="0">
                <a:solidFill>
                  <a:srgbClr val="8C2F23"/>
                </a:solidFill>
                <a:latin typeface="JetBrains Mono" pitchFamily="34" charset="0"/>
                <a:ea typeface="JetBrains Mono" pitchFamily="34" charset="-122"/>
                <a:cs typeface="JetBrains Mono" pitchFamily="34" charset="-120"/>
              </a:rPr>
              <a:t>4</a:t>
            </a:r>
            <a:endParaRPr lang="en-US" sz="1200" dirty="0"/>
          </a:p>
          <a:p>
            <a:pPr algn="r" indent="0" marL="0">
              <a:lnSpc>
                <a:spcPts val="2000"/>
              </a:lnSpc>
              <a:buNone/>
            </a:pPr>
            <a:r>
              <a:rPr lang="en-US" sz="1200" dirty="0">
                <a:solidFill>
                  <a:srgbClr val="8C2F23"/>
                </a:solidFill>
                <a:latin typeface="JetBrains Mono" pitchFamily="34" charset="0"/>
                <a:ea typeface="JetBrains Mono" pitchFamily="34" charset="-122"/>
                <a:cs typeface="JetBrains Mono" pitchFamily="34" charset="-120"/>
              </a:rPr>
              <a:t>5</a:t>
            </a:r>
            <a:endParaRPr lang="en-US" sz="1200" dirty="0"/>
          </a:p>
          <a:p>
            <a:pPr algn="r" indent="0" marL="0">
              <a:lnSpc>
                <a:spcPts val="2000"/>
              </a:lnSpc>
              <a:buNone/>
            </a:pPr>
            <a:r>
              <a:rPr lang="en-US" sz="1200" dirty="0">
                <a:solidFill>
                  <a:srgbClr val="8C2F23"/>
                </a:solidFill>
                <a:latin typeface="JetBrains Mono" pitchFamily="34" charset="0"/>
                <a:ea typeface="JetBrains Mono" pitchFamily="34" charset="-122"/>
                <a:cs typeface="JetBrains Mono" pitchFamily="34" charset="-120"/>
              </a:rPr>
              <a:t>6</a:t>
            </a:r>
            <a:endParaRPr lang="en-US" sz="1200" dirty="0"/>
          </a:p>
        </p:txBody>
      </p:sp>
      <p:sp>
        <p:nvSpPr>
          <p:cNvPr id="15" name="Text 12"/>
          <p:cNvSpPr txBox="1"/>
          <p:nvPr/>
        </p:nvSpPr>
        <p:spPr>
          <a:xfrm>
            <a:off x="960120" y="2949448"/>
            <a:ext cx="3886200" cy="762000"/>
          </a:xfrm>
          <a:prstGeom prst="rect">
            <a:avLst/>
          </a:prstGeom>
          <a:noFill/>
          <a:ln/>
        </p:spPr>
        <p:txBody>
          <a:bodyPr wrap="square" lIns="0" tIns="0" rIns="0" bIns="0" rtlCol="0" anchor="t"/>
          <a:lstStyle/>
          <a:p>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a:t>
            </a:r>
            <a:pPr indent="0" marL="0">
              <a:lnSpc>
                <a:spcPts val="2000"/>
              </a:lnSpc>
              <a:buNone/>
            </a:pPr>
            <a:r>
              <a:rPr lang="en-US" sz="1300" b="1" dirty="0">
                <a:solidFill>
                  <a:srgbClr val="2F5D50"/>
                </a:solidFill>
                <a:latin typeface="JetBrains Mono" pitchFamily="34" charset="0"/>
                <a:ea typeface="JetBrains Mono" pitchFamily="34" charset="-122"/>
                <a:cs typeface="JetBrains Mono" pitchFamily="34" charset="-120"/>
              </a:rPr>
              <a:t>para</a:t>
            </a:r>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i = 0 </a:t>
            </a:r>
            <a:pPr indent="0" marL="0">
              <a:lnSpc>
                <a:spcPts val="2000"/>
              </a:lnSpc>
              <a:buNone/>
            </a:pPr>
            <a:r>
              <a:rPr lang="en-US" sz="1300" b="1" dirty="0">
                <a:solidFill>
                  <a:srgbClr val="2F5D50"/>
                </a:solidFill>
                <a:latin typeface="JetBrains Mono" pitchFamily="34" charset="0"/>
                <a:ea typeface="JetBrains Mono" pitchFamily="34" charset="-122"/>
                <a:cs typeface="JetBrains Mono" pitchFamily="34" charset="-120"/>
              </a:rPr>
              <a:t>hasta</a:t>
            </a:r>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n-1</a:t>
            </a:r>
            <a:endParaRPr lang="en-US" sz="1400" dirty="0"/>
          </a:p>
          <a:p>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j = piso(n·(A[i]-min) / (max-min+1))</a:t>
            </a:r>
            <a:endParaRPr lang="en-US" sz="1400" dirty="0"/>
          </a:p>
          <a:p>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a:t>
            </a:r>
            <a:pPr indent="0" marL="0">
              <a:lnSpc>
                <a:spcPts val="2000"/>
              </a:lnSpc>
              <a:buNone/>
            </a:pPr>
            <a:r>
              <a:rPr lang="en-US" sz="1300" b="1" dirty="0">
                <a:solidFill>
                  <a:srgbClr val="2F5D50"/>
                </a:solidFill>
                <a:latin typeface="JetBrains Mono" pitchFamily="34" charset="0"/>
                <a:ea typeface="JetBrains Mono" pitchFamily="34" charset="-122"/>
                <a:cs typeface="JetBrains Mono" pitchFamily="34" charset="-120"/>
              </a:rPr>
              <a:t>añadir</a:t>
            </a:r>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A[i] </a:t>
            </a:r>
            <a:pPr indent="0" marL="0">
              <a:lnSpc>
                <a:spcPts val="2000"/>
              </a:lnSpc>
              <a:buNone/>
            </a:pPr>
            <a:r>
              <a:rPr lang="en-US" sz="1300" b="1" dirty="0">
                <a:solidFill>
                  <a:srgbClr val="2F5D50"/>
                </a:solidFill>
                <a:latin typeface="JetBrains Mono" pitchFamily="34" charset="0"/>
                <a:ea typeface="JetBrains Mono" pitchFamily="34" charset="-122"/>
                <a:cs typeface="JetBrains Mono" pitchFamily="34" charset="-120"/>
              </a:rPr>
              <a:t>al final de</a:t>
            </a:r>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B[j]</a:t>
            </a:r>
            <a:endParaRPr lang="en-US" sz="1400" dirty="0"/>
          </a:p>
        </p:txBody>
      </p:sp>
      <p:sp>
        <p:nvSpPr>
          <p:cNvPr id="16" name="Text 13"/>
          <p:cNvSpPr txBox="1"/>
          <p:nvPr/>
        </p:nvSpPr>
        <p:spPr>
          <a:xfrm>
            <a:off x="5166360" y="2949448"/>
            <a:ext cx="6473952" cy="644652"/>
          </a:xfrm>
          <a:prstGeom prst="rect">
            <a:avLst/>
          </a:prstGeom>
          <a:noFill/>
          <a:ln/>
        </p:spPr>
        <p:txBody>
          <a:bodyPr wrap="square" lIns="0" tIns="0" rIns="0" bIns="0" rtlCol="0" anchor="t"/>
          <a:lstStyle/>
          <a:p>
            <a:pPr indent="0" marL="0">
              <a:buNone/>
            </a:pPr>
            <a:r>
              <a:rPr lang="en-US" sz="1300" b="1" dirty="0">
                <a:solidFill>
                  <a:srgbClr val="1F1B16"/>
                </a:solidFill>
                <a:latin typeface="IBM Plex Sans" pitchFamily="34" charset="0"/>
                <a:ea typeface="IBM Plex Sans" pitchFamily="34" charset="-122"/>
                <a:cs typeface="IBM Plex Sans" pitchFamily="34" charset="-120"/>
              </a:rPr>
              <a:t>Líneas 4–6. </a:t>
            </a:r>
            <a:pPr indent="0" marL="0">
              <a:buNone/>
            </a:pPr>
            <a:r>
              <a:rPr lang="en-US" sz="1300" dirty="0">
                <a:solidFill>
                  <a:srgbClr val="1F1B16"/>
                </a:solidFill>
                <a:latin typeface="IBM Plex Sans" pitchFamily="34" charset="0"/>
                <a:ea typeface="IBM Plex Sans" pitchFamily="34" charset="-122"/>
                <a:cs typeface="IBM Plex Sans" pitchFamily="34" charset="-120"/>
              </a:rPr>
              <a:t>El reparto, sin comparar: Θ(n). El +1 del denominador evita que el máximo dé j = n, fuera de B (con el 100: 7·99/100 = 6, no 7). Añadir al final conserva el orden de llegada.</a:t>
            </a:r>
            <a:endParaRPr lang="en-US" sz="1300" dirty="0"/>
          </a:p>
        </p:txBody>
      </p:sp>
      <p:sp>
        <p:nvSpPr>
          <p:cNvPr id="17" name="Shape 14"/>
          <p:cNvSpPr/>
          <p:nvPr/>
        </p:nvSpPr>
        <p:spPr>
          <a:xfrm>
            <a:off x="548640" y="3775456"/>
            <a:ext cx="11091672" cy="0"/>
          </a:xfrm>
          <a:prstGeom prst="line">
            <a:avLst/>
          </a:prstGeom>
          <a:noFill/>
          <a:ln w="6350">
            <a:solidFill>
              <a:srgbClr val="B5AD9B"/>
            </a:solidFill>
            <a:prstDash val="solid"/>
          </a:ln>
        </p:spPr>
      </p:sp>
      <p:sp>
        <p:nvSpPr>
          <p:cNvPr id="18" name="Text 15"/>
          <p:cNvSpPr txBox="1"/>
          <p:nvPr/>
        </p:nvSpPr>
        <p:spPr>
          <a:xfrm>
            <a:off x="548640" y="3839464"/>
            <a:ext cx="320040" cy="508000"/>
          </a:xfrm>
          <a:prstGeom prst="rect">
            <a:avLst/>
          </a:prstGeom>
          <a:noFill/>
          <a:ln/>
        </p:spPr>
        <p:txBody>
          <a:bodyPr wrap="square" lIns="0" tIns="0" rIns="0" bIns="0" rtlCol="0" anchor="t"/>
          <a:lstStyle/>
          <a:p>
            <a:pPr algn="r" indent="0" marL="0">
              <a:lnSpc>
                <a:spcPts val="2000"/>
              </a:lnSpc>
              <a:buNone/>
            </a:pPr>
            <a:r>
              <a:rPr lang="en-US" sz="1200" dirty="0">
                <a:solidFill>
                  <a:srgbClr val="8C2F23"/>
                </a:solidFill>
                <a:latin typeface="JetBrains Mono" pitchFamily="34" charset="0"/>
                <a:ea typeface="JetBrains Mono" pitchFamily="34" charset="-122"/>
                <a:cs typeface="JetBrains Mono" pitchFamily="34" charset="-120"/>
              </a:rPr>
              <a:t>7</a:t>
            </a:r>
            <a:endParaRPr lang="en-US" sz="1200" dirty="0"/>
          </a:p>
          <a:p>
            <a:pPr algn="r" indent="0" marL="0">
              <a:lnSpc>
                <a:spcPts val="2000"/>
              </a:lnSpc>
              <a:buNone/>
            </a:pPr>
            <a:r>
              <a:rPr lang="en-US" sz="1200" dirty="0">
                <a:solidFill>
                  <a:srgbClr val="8C2F23"/>
                </a:solidFill>
                <a:latin typeface="JetBrains Mono" pitchFamily="34" charset="0"/>
                <a:ea typeface="JetBrains Mono" pitchFamily="34" charset="-122"/>
                <a:cs typeface="JetBrains Mono" pitchFamily="34" charset="-120"/>
              </a:rPr>
              <a:t>8</a:t>
            </a:r>
            <a:endParaRPr lang="en-US" sz="1200" dirty="0"/>
          </a:p>
        </p:txBody>
      </p:sp>
      <p:sp>
        <p:nvSpPr>
          <p:cNvPr id="19" name="Text 16"/>
          <p:cNvSpPr txBox="1"/>
          <p:nvPr/>
        </p:nvSpPr>
        <p:spPr>
          <a:xfrm>
            <a:off x="960120" y="3839464"/>
            <a:ext cx="3886200" cy="508000"/>
          </a:xfrm>
          <a:prstGeom prst="rect">
            <a:avLst/>
          </a:prstGeom>
          <a:noFill/>
          <a:ln/>
        </p:spPr>
        <p:txBody>
          <a:bodyPr wrap="square" lIns="0" tIns="0" rIns="0" bIns="0" rtlCol="0" anchor="t"/>
          <a:lstStyle/>
          <a:p>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a:t>
            </a:r>
            <a:pPr indent="0" marL="0">
              <a:lnSpc>
                <a:spcPts val="2000"/>
              </a:lnSpc>
              <a:buNone/>
            </a:pPr>
            <a:r>
              <a:rPr lang="en-US" sz="1300" b="1" dirty="0">
                <a:solidFill>
                  <a:srgbClr val="2F5D50"/>
                </a:solidFill>
                <a:latin typeface="JetBrains Mono" pitchFamily="34" charset="0"/>
                <a:ea typeface="JetBrains Mono" pitchFamily="34" charset="-122"/>
                <a:cs typeface="JetBrains Mono" pitchFamily="34" charset="-120"/>
              </a:rPr>
              <a:t>para</a:t>
            </a:r>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j = 0 </a:t>
            </a:r>
            <a:pPr indent="0" marL="0">
              <a:lnSpc>
                <a:spcPts val="2000"/>
              </a:lnSpc>
              <a:buNone/>
            </a:pPr>
            <a:r>
              <a:rPr lang="en-US" sz="1300" b="1" dirty="0">
                <a:solidFill>
                  <a:srgbClr val="2F5D50"/>
                </a:solidFill>
                <a:latin typeface="JetBrains Mono" pitchFamily="34" charset="0"/>
                <a:ea typeface="JetBrains Mono" pitchFamily="34" charset="-122"/>
                <a:cs typeface="JetBrains Mono" pitchFamily="34" charset="-120"/>
              </a:rPr>
              <a:t>hasta</a:t>
            </a:r>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n-1</a:t>
            </a:r>
            <a:endParaRPr lang="en-US" sz="1400" dirty="0"/>
          </a:p>
          <a:p>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INSERTION-SORT(B[j])</a:t>
            </a:r>
            <a:endParaRPr lang="en-US" sz="1400" dirty="0"/>
          </a:p>
        </p:txBody>
      </p:sp>
      <p:sp>
        <p:nvSpPr>
          <p:cNvPr id="20" name="Text 17"/>
          <p:cNvSpPr txBox="1"/>
          <p:nvPr/>
        </p:nvSpPr>
        <p:spPr>
          <a:xfrm>
            <a:off x="5166360" y="3839464"/>
            <a:ext cx="6473952" cy="644652"/>
          </a:xfrm>
          <a:prstGeom prst="rect">
            <a:avLst/>
          </a:prstGeom>
          <a:noFill/>
          <a:ln/>
        </p:spPr>
        <p:txBody>
          <a:bodyPr wrap="square" lIns="0" tIns="0" rIns="0" bIns="0" rtlCol="0" anchor="t"/>
          <a:lstStyle/>
          <a:p>
            <a:pPr indent="0" marL="0">
              <a:buNone/>
            </a:pPr>
            <a:r>
              <a:rPr lang="en-US" sz="1300" b="1" dirty="0">
                <a:solidFill>
                  <a:srgbClr val="1F1B16"/>
                </a:solidFill>
                <a:latin typeface="IBM Plex Sans" pitchFamily="34" charset="0"/>
                <a:ea typeface="IBM Plex Sans" pitchFamily="34" charset="-122"/>
                <a:cs typeface="IBM Plex Sans" pitchFamily="34" charset="-120"/>
              </a:rPr>
              <a:t>Líneas 7–8. </a:t>
            </a:r>
            <a:pPr indent="0" marL="0">
              <a:buNone/>
            </a:pPr>
            <a:r>
              <a:rPr lang="en-US" sz="1300" dirty="0">
                <a:solidFill>
                  <a:srgbClr val="1F1B16"/>
                </a:solidFill>
                <a:latin typeface="IBM Plex Sans" pitchFamily="34" charset="0"/>
                <a:ea typeface="IBM Plex Sans" pitchFamily="34" charset="-122"/>
                <a:cs typeface="IBM Plex Sans" pitchFamily="34" charset="-120"/>
              </a:rPr>
              <a:t>Inserción y no quicksort: en listas de uno o dos elementos es más rápida, y es estable. Si todo cae en una sola cubeta, aquí está el Θ(n²).</a:t>
            </a:r>
            <a:endParaRPr lang="en-US" sz="1300" dirty="0"/>
          </a:p>
        </p:txBody>
      </p:sp>
      <p:sp>
        <p:nvSpPr>
          <p:cNvPr id="21" name="Shape 18"/>
          <p:cNvSpPr/>
          <p:nvPr/>
        </p:nvSpPr>
        <p:spPr>
          <a:xfrm>
            <a:off x="548640" y="4548124"/>
            <a:ext cx="11091672" cy="0"/>
          </a:xfrm>
          <a:prstGeom prst="line">
            <a:avLst/>
          </a:prstGeom>
          <a:noFill/>
          <a:ln w="6350">
            <a:solidFill>
              <a:srgbClr val="B5AD9B"/>
            </a:solidFill>
            <a:prstDash val="solid"/>
          </a:ln>
        </p:spPr>
      </p:sp>
      <p:sp>
        <p:nvSpPr>
          <p:cNvPr id="22" name="Text 19"/>
          <p:cNvSpPr txBox="1"/>
          <p:nvPr/>
        </p:nvSpPr>
        <p:spPr>
          <a:xfrm>
            <a:off x="548640" y="4612132"/>
            <a:ext cx="320040" cy="254000"/>
          </a:xfrm>
          <a:prstGeom prst="rect">
            <a:avLst/>
          </a:prstGeom>
          <a:noFill/>
          <a:ln/>
        </p:spPr>
        <p:txBody>
          <a:bodyPr wrap="square" lIns="0" tIns="0" rIns="0" bIns="0" rtlCol="0" anchor="t"/>
          <a:lstStyle/>
          <a:p>
            <a:pPr algn="r" indent="0" marL="0">
              <a:lnSpc>
                <a:spcPts val="2000"/>
              </a:lnSpc>
              <a:buNone/>
            </a:pPr>
            <a:r>
              <a:rPr lang="en-US" sz="1200" dirty="0">
                <a:solidFill>
                  <a:srgbClr val="8C2F23"/>
                </a:solidFill>
                <a:latin typeface="JetBrains Mono" pitchFamily="34" charset="0"/>
                <a:ea typeface="JetBrains Mono" pitchFamily="34" charset="-122"/>
                <a:cs typeface="JetBrains Mono" pitchFamily="34" charset="-120"/>
              </a:rPr>
              <a:t>9</a:t>
            </a:r>
            <a:endParaRPr lang="en-US" sz="1200" dirty="0"/>
          </a:p>
        </p:txBody>
      </p:sp>
      <p:sp>
        <p:nvSpPr>
          <p:cNvPr id="23" name="Text 20"/>
          <p:cNvSpPr txBox="1"/>
          <p:nvPr/>
        </p:nvSpPr>
        <p:spPr>
          <a:xfrm>
            <a:off x="960120" y="4612132"/>
            <a:ext cx="3886200" cy="254000"/>
          </a:xfrm>
          <a:prstGeom prst="rect">
            <a:avLst/>
          </a:prstGeom>
          <a:noFill/>
          <a:ln/>
        </p:spPr>
        <p:txBody>
          <a:bodyPr wrap="square" lIns="0" tIns="0" rIns="0" bIns="0" rtlCol="0" anchor="t"/>
          <a:lstStyle/>
          <a:p>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a:t>
            </a:r>
            <a:pPr indent="0" marL="0">
              <a:lnSpc>
                <a:spcPts val="2000"/>
              </a:lnSpc>
              <a:buNone/>
            </a:pPr>
            <a:r>
              <a:rPr lang="en-US" sz="1300" b="1" dirty="0">
                <a:solidFill>
                  <a:srgbClr val="2F5D50"/>
                </a:solidFill>
                <a:latin typeface="JetBrains Mono" pitchFamily="34" charset="0"/>
                <a:ea typeface="JetBrains Mono" pitchFamily="34" charset="-122"/>
                <a:cs typeface="JetBrains Mono" pitchFamily="34" charset="-120"/>
              </a:rPr>
              <a:t>devolver</a:t>
            </a:r>
            <a:pPr indent="0" marL="0">
              <a:lnSpc>
                <a:spcPts val="2000"/>
              </a:lnSpc>
              <a:buNone/>
            </a:pPr>
            <a:r>
              <a:rPr lang="en-US" sz="1300" dirty="0">
                <a:solidFill>
                  <a:srgbClr val="1F1B16"/>
                </a:solidFill>
                <a:latin typeface="JetBrains Mono" pitchFamily="34" charset="0"/>
                <a:ea typeface="JetBrains Mono" pitchFamily="34" charset="-122"/>
                <a:cs typeface="JetBrains Mono" pitchFamily="34" charset="-120"/>
              </a:rPr>
              <a:t> B[0] + B[1] + ... + B[n-1]</a:t>
            </a:r>
            <a:endParaRPr lang="en-US" sz="1400" dirty="0"/>
          </a:p>
        </p:txBody>
      </p:sp>
      <p:sp>
        <p:nvSpPr>
          <p:cNvPr id="24" name="Text 21"/>
          <p:cNvSpPr txBox="1"/>
          <p:nvPr/>
        </p:nvSpPr>
        <p:spPr>
          <a:xfrm>
            <a:off x="5166360" y="4612132"/>
            <a:ext cx="6473952" cy="429768"/>
          </a:xfrm>
          <a:prstGeom prst="rect">
            <a:avLst/>
          </a:prstGeom>
          <a:noFill/>
          <a:ln/>
        </p:spPr>
        <p:txBody>
          <a:bodyPr wrap="square" lIns="0" tIns="0" rIns="0" bIns="0" rtlCol="0" anchor="t"/>
          <a:lstStyle/>
          <a:p>
            <a:pPr indent="0" marL="0">
              <a:buNone/>
            </a:pPr>
            <a:r>
              <a:rPr lang="en-US" sz="1300" b="1" dirty="0">
                <a:solidFill>
                  <a:srgbClr val="1F1B16"/>
                </a:solidFill>
                <a:latin typeface="IBM Plex Sans" pitchFamily="34" charset="0"/>
                <a:ea typeface="IBM Plex Sans" pitchFamily="34" charset="-122"/>
                <a:cs typeface="IBM Plex Sans" pitchFamily="34" charset="-120"/>
              </a:rPr>
              <a:t>Línea 9. </a:t>
            </a:r>
            <a:pPr indent="0" marL="0">
              <a:buNone/>
            </a:pPr>
            <a:r>
              <a:rPr lang="en-US" sz="1300" dirty="0">
                <a:solidFill>
                  <a:srgbClr val="1F1B16"/>
                </a:solidFill>
                <a:latin typeface="IBM Plex Sans" pitchFamily="34" charset="0"/>
                <a:ea typeface="IBM Plex Sans" pitchFamily="34" charset="-122"/>
                <a:cs typeface="IBM Plex Sans" pitchFamily="34" charset="-120"/>
              </a:rPr>
              <a:t>Concatenar respeta el orden de las cubetas, que por construcción ya está ordenado por rango. Promedio Θ(n), peor caso Θ(n²).</a:t>
            </a:r>
            <a:endParaRPr lang="en-US" sz="1300" dirty="0"/>
          </a:p>
        </p:txBody>
      </p:sp>
      <p:sp>
        <p:nvSpPr>
          <p:cNvPr id="25" name="Shape 22"/>
          <p:cNvSpPr/>
          <p:nvPr/>
        </p:nvSpPr>
        <p:spPr>
          <a:xfrm>
            <a:off x="548640" y="5105908"/>
            <a:ext cx="11091672" cy="0"/>
          </a:xfrm>
          <a:prstGeom prst="line">
            <a:avLst/>
          </a:prstGeom>
          <a:noFill/>
          <a:ln w="9525">
            <a:solidFill>
              <a:srgbClr val="1F1B16"/>
            </a:solidFill>
            <a:prstDash val="solid"/>
          </a:ln>
        </p:spPr>
      </p:sp>
      <p:sp>
        <p:nvSpPr>
          <p:cNvPr id="25" name="Slide Number Placeholder 0"/>
          <p:cNvSpPr>
            <a:spLocks noGrp="1"/>
          </p:cNvSpPr>
          <p:nvPr>
            <p:ph type="sldNum" sz="quarter" idx="4294967295"/>
          </p:nvPr>
        </p:nvSpPr>
        <p:spPr>
          <a:xfrm>
            <a:off x="10725912" y="6473952"/>
            <a:ext cx="9144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657"/>
                </a:solidFill>
                <a:latin typeface="JetBrains Mono"/>
                <a:ea typeface="JetBrains Mono"/>
                <a:cs typeface="JetBrains Mon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100" spc="200" kern="0" dirty="0">
                <a:solidFill>
                  <a:srgbClr val="8C2F23"/>
                </a:solidFill>
                <a:latin typeface="JetBrains Mono" pitchFamily="34" charset="0"/>
                <a:ea typeface="JetBrains Mono" pitchFamily="34" charset="-122"/>
                <a:cs typeface="JetBrains Mono" pitchFamily="34" charset="-120"/>
              </a:rPr>
              <a:t>§ 04 · BUCKET SORT</a:t>
            </a:r>
            <a:endParaRPr lang="en-US" sz="1100" dirty="0"/>
          </a:p>
        </p:txBody>
      </p:sp>
      <p:sp>
        <p:nvSpPr>
          <p:cNvPr id="3" name="Text 3"/>
          <p:cNvSpPr/>
          <p:nvPr>
            <p:ph idx="103" type="title" hasCustomPrompt="1"/>
          </p:nvPr>
        </p:nvSpPr>
        <p:spPr>
          <a:xfrm>
            <a:off x="548640" y="804672"/>
            <a:ext cx="11091672" cy="777240"/>
          </a:xfrm>
          <a:prstGeom prst="rect">
            <a:avLst/>
          </a:prstGeom>
          <a:noFill/>
          <a:ln/>
        </p:spPr>
        <p:txBody>
          <a:bodyPr wrap="square" lIns="0" tIns="0" rIns="0" bIns="0" rtlCol="0" anchor="t"/>
          <a:lstStyle/>
          <a:p>
            <a:pPr algn="l" indent="0" marL="0">
              <a:buNone/>
            </a:pPr>
            <a:r>
              <a:rPr lang="en-US" sz="3600" dirty="0">
                <a:solidFill>
                  <a:srgbClr val="1F1B16"/>
                </a:solidFill>
                <a:latin typeface="EB Garamond" pitchFamily="34" charset="0"/>
                <a:ea typeface="EB Garamond" pitchFamily="34" charset="-122"/>
                <a:cs typeface="EB Garamond" pitchFamily="34" charset="-120"/>
              </a:rPr>
              <a:t>Bucket sort: siete cubetas para siete números</a:t>
            </a:r>
            <a:endParaRPr lang="en-US" sz="3600" dirty="0"/>
          </a:p>
        </p:txBody>
      </p:sp>
      <p:sp>
        <p:nvSpPr>
          <p:cNvPr id="5" name="Text 2"/>
          <p:cNvSpPr txBox="1"/>
          <p:nvPr/>
        </p:nvSpPr>
        <p:spPr>
          <a:xfrm>
            <a:off x="548640" y="1691640"/>
            <a:ext cx="1645920" cy="411480"/>
          </a:xfrm>
          <a:prstGeom prst="rect">
            <a:avLst/>
          </a:prstGeom>
          <a:noFill/>
          <a:ln/>
        </p:spPr>
        <p:txBody>
          <a:bodyPr wrap="square" lIns="0" tIns="0" rIns="0" bIns="0" rtlCol="0" anchor="ctr"/>
          <a:lstStyle/>
          <a:p>
            <a:pPr indent="0" marL="0">
              <a:buNone/>
            </a:pPr>
            <a:r>
              <a:rPr lang="en-US" sz="1100" dirty="0">
                <a:solidFill>
                  <a:srgbClr val="6E6657"/>
                </a:solidFill>
                <a:latin typeface="JetBrains Mono" pitchFamily="34" charset="0"/>
                <a:ea typeface="JetBrains Mono" pitchFamily="34" charset="-122"/>
                <a:cs typeface="JetBrains Mono" pitchFamily="34" charset="-120"/>
              </a:rPr>
              <a:t>ENTRADA A</a:t>
            </a:r>
            <a:endParaRPr lang="en-US" sz="1100" dirty="0"/>
          </a:p>
        </p:txBody>
      </p:sp>
      <p:sp>
        <p:nvSpPr>
          <p:cNvPr id="6" name="Text 3"/>
          <p:cNvSpPr txBox="1"/>
          <p:nvPr/>
        </p:nvSpPr>
        <p:spPr>
          <a:xfrm>
            <a:off x="2240280" y="1691640"/>
            <a:ext cx="868680" cy="41148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dirty="0">
                <a:solidFill>
                  <a:srgbClr val="1F1B16"/>
                </a:solidFill>
                <a:latin typeface="JetBrains Mono" pitchFamily="34" charset="0"/>
                <a:ea typeface="JetBrains Mono" pitchFamily="34" charset="-122"/>
                <a:cs typeface="JetBrains Mono" pitchFamily="34" charset="-120"/>
              </a:rPr>
              <a:t>50</a:t>
            </a:r>
            <a:endParaRPr lang="en-US" sz="1500" dirty="0"/>
          </a:p>
        </p:txBody>
      </p:sp>
      <p:sp>
        <p:nvSpPr>
          <p:cNvPr id="7" name="Text 4"/>
          <p:cNvSpPr txBox="1"/>
          <p:nvPr/>
        </p:nvSpPr>
        <p:spPr>
          <a:xfrm>
            <a:off x="3108960" y="1691640"/>
            <a:ext cx="868680" cy="41148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dirty="0">
                <a:solidFill>
                  <a:srgbClr val="1F1B16"/>
                </a:solidFill>
                <a:latin typeface="JetBrains Mono" pitchFamily="34" charset="0"/>
                <a:ea typeface="JetBrains Mono" pitchFamily="34" charset="-122"/>
                <a:cs typeface="JetBrains Mono" pitchFamily="34" charset="-120"/>
              </a:rPr>
              <a:t>1</a:t>
            </a:r>
            <a:endParaRPr lang="en-US" sz="1500" dirty="0"/>
          </a:p>
        </p:txBody>
      </p:sp>
      <p:sp>
        <p:nvSpPr>
          <p:cNvPr id="8" name="Text 5"/>
          <p:cNvSpPr txBox="1"/>
          <p:nvPr/>
        </p:nvSpPr>
        <p:spPr>
          <a:xfrm>
            <a:off x="3977640" y="1691640"/>
            <a:ext cx="868680" cy="41148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dirty="0">
                <a:solidFill>
                  <a:srgbClr val="1F1B16"/>
                </a:solidFill>
                <a:latin typeface="JetBrains Mono" pitchFamily="34" charset="0"/>
                <a:ea typeface="JetBrains Mono" pitchFamily="34" charset="-122"/>
                <a:cs typeface="JetBrains Mono" pitchFamily="34" charset="-120"/>
              </a:rPr>
              <a:t>100</a:t>
            </a:r>
            <a:endParaRPr lang="en-US" sz="1500" dirty="0"/>
          </a:p>
        </p:txBody>
      </p:sp>
      <p:sp>
        <p:nvSpPr>
          <p:cNvPr id="9" name="Text 6"/>
          <p:cNvSpPr txBox="1"/>
          <p:nvPr/>
        </p:nvSpPr>
        <p:spPr>
          <a:xfrm>
            <a:off x="4846320" y="1691640"/>
            <a:ext cx="868680" cy="41148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dirty="0">
                <a:solidFill>
                  <a:srgbClr val="1F1B16"/>
                </a:solidFill>
                <a:latin typeface="JetBrains Mono" pitchFamily="34" charset="0"/>
                <a:ea typeface="JetBrains Mono" pitchFamily="34" charset="-122"/>
                <a:cs typeface="JetBrains Mono" pitchFamily="34" charset="-120"/>
              </a:rPr>
              <a:t>20</a:t>
            </a:r>
            <a:endParaRPr lang="en-US" sz="1500" dirty="0"/>
          </a:p>
        </p:txBody>
      </p:sp>
      <p:sp>
        <p:nvSpPr>
          <p:cNvPr id="10" name="Text 7"/>
          <p:cNvSpPr txBox="1"/>
          <p:nvPr/>
        </p:nvSpPr>
        <p:spPr>
          <a:xfrm>
            <a:off x="5715000" y="1691640"/>
            <a:ext cx="868680" cy="41148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dirty="0">
                <a:solidFill>
                  <a:srgbClr val="1F1B16"/>
                </a:solidFill>
                <a:latin typeface="JetBrains Mono" pitchFamily="34" charset="0"/>
                <a:ea typeface="JetBrains Mono" pitchFamily="34" charset="-122"/>
                <a:cs typeface="JetBrains Mono" pitchFamily="34" charset="-120"/>
              </a:rPr>
              <a:t>19</a:t>
            </a:r>
            <a:endParaRPr lang="en-US" sz="1500" dirty="0"/>
          </a:p>
        </p:txBody>
      </p:sp>
      <p:sp>
        <p:nvSpPr>
          <p:cNvPr id="11" name="Text 8"/>
          <p:cNvSpPr txBox="1"/>
          <p:nvPr/>
        </p:nvSpPr>
        <p:spPr>
          <a:xfrm>
            <a:off x="6583680" y="1691640"/>
            <a:ext cx="868680" cy="41148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dirty="0">
                <a:solidFill>
                  <a:srgbClr val="1F1B16"/>
                </a:solidFill>
                <a:latin typeface="JetBrains Mono" pitchFamily="34" charset="0"/>
                <a:ea typeface="JetBrains Mono" pitchFamily="34" charset="-122"/>
                <a:cs typeface="JetBrains Mono" pitchFamily="34" charset="-120"/>
              </a:rPr>
              <a:t>40</a:t>
            </a:r>
            <a:endParaRPr lang="en-US" sz="1500" dirty="0"/>
          </a:p>
        </p:txBody>
      </p:sp>
      <p:sp>
        <p:nvSpPr>
          <p:cNvPr id="12" name="Text 9"/>
          <p:cNvSpPr txBox="1"/>
          <p:nvPr/>
        </p:nvSpPr>
        <p:spPr>
          <a:xfrm>
            <a:off x="7452360" y="1691640"/>
            <a:ext cx="868680" cy="41148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dirty="0">
                <a:solidFill>
                  <a:srgbClr val="1F1B16"/>
                </a:solidFill>
                <a:latin typeface="JetBrains Mono" pitchFamily="34" charset="0"/>
                <a:ea typeface="JetBrains Mono" pitchFamily="34" charset="-122"/>
                <a:cs typeface="JetBrains Mono" pitchFamily="34" charset="-120"/>
              </a:rPr>
              <a:t>99</a:t>
            </a:r>
            <a:endParaRPr lang="en-US" sz="1500" dirty="0"/>
          </a:p>
        </p:txBody>
      </p:sp>
      <p:sp>
        <p:nvSpPr>
          <p:cNvPr id="13" name="Text 10"/>
          <p:cNvSpPr txBox="1"/>
          <p:nvPr/>
        </p:nvSpPr>
        <p:spPr>
          <a:xfrm>
            <a:off x="548640" y="2130552"/>
            <a:ext cx="1645920" cy="274320"/>
          </a:xfrm>
          <a:prstGeom prst="rect">
            <a:avLst/>
          </a:prstGeom>
          <a:noFill/>
          <a:ln/>
        </p:spPr>
        <p:txBody>
          <a:bodyPr wrap="square" lIns="0" tIns="0" rIns="0" bIns="0" rtlCol="0" anchor="ctr"/>
          <a:lstStyle/>
          <a:p>
            <a:pPr indent="0" marL="0">
              <a:buNone/>
            </a:pPr>
            <a:r>
              <a:rPr lang="en-US" sz="1100" dirty="0">
                <a:solidFill>
                  <a:srgbClr val="6E6657"/>
                </a:solidFill>
                <a:latin typeface="JetBrains Mono" pitchFamily="34" charset="0"/>
                <a:ea typeface="JetBrains Mono" pitchFamily="34" charset="-122"/>
                <a:cs typeface="JetBrains Mono" pitchFamily="34" charset="-120"/>
              </a:rPr>
              <a:t>ÍNDICE j</a:t>
            </a:r>
            <a:endParaRPr lang="en-US" sz="1100" dirty="0"/>
          </a:p>
        </p:txBody>
      </p:sp>
      <p:sp>
        <p:nvSpPr>
          <p:cNvPr id="14" name="Text 11"/>
          <p:cNvSpPr txBox="1"/>
          <p:nvPr/>
        </p:nvSpPr>
        <p:spPr>
          <a:xfrm>
            <a:off x="2240280" y="2130552"/>
            <a:ext cx="868680" cy="274320"/>
          </a:xfrm>
          <a:prstGeom prst="rect">
            <a:avLst/>
          </a:prstGeom>
          <a:noFill/>
          <a:ln/>
        </p:spPr>
        <p:txBody>
          <a:bodyPr wrap="square" lIns="0" tIns="0" rIns="0" bIns="0" rtlCol="0" anchor="ctr"/>
          <a:lstStyle/>
          <a:p>
            <a:pPr algn="ctr" indent="0" marL="0">
              <a:buNone/>
            </a:pPr>
            <a:r>
              <a:rPr lang="en-US" sz="1100" dirty="0">
                <a:solidFill>
                  <a:srgbClr val="8C2F23"/>
                </a:solidFill>
                <a:latin typeface="JetBrains Mono" pitchFamily="34" charset="0"/>
                <a:ea typeface="JetBrains Mono" pitchFamily="34" charset="-122"/>
                <a:cs typeface="JetBrains Mono" pitchFamily="34" charset="-120"/>
              </a:rPr>
              <a:t>→ B[3]</a:t>
            </a:r>
            <a:endParaRPr lang="en-US" sz="1100" dirty="0"/>
          </a:p>
        </p:txBody>
      </p:sp>
      <p:sp>
        <p:nvSpPr>
          <p:cNvPr id="15" name="Text 12"/>
          <p:cNvSpPr txBox="1"/>
          <p:nvPr/>
        </p:nvSpPr>
        <p:spPr>
          <a:xfrm>
            <a:off x="3108960" y="2130552"/>
            <a:ext cx="868680" cy="274320"/>
          </a:xfrm>
          <a:prstGeom prst="rect">
            <a:avLst/>
          </a:prstGeom>
          <a:noFill/>
          <a:ln/>
        </p:spPr>
        <p:txBody>
          <a:bodyPr wrap="square" lIns="0" tIns="0" rIns="0" bIns="0" rtlCol="0" anchor="ctr"/>
          <a:lstStyle/>
          <a:p>
            <a:pPr algn="ctr" indent="0" marL="0">
              <a:buNone/>
            </a:pPr>
            <a:r>
              <a:rPr lang="en-US" sz="1100" dirty="0">
                <a:solidFill>
                  <a:srgbClr val="8C2F23"/>
                </a:solidFill>
                <a:latin typeface="JetBrains Mono" pitchFamily="34" charset="0"/>
                <a:ea typeface="JetBrains Mono" pitchFamily="34" charset="-122"/>
                <a:cs typeface="JetBrains Mono" pitchFamily="34" charset="-120"/>
              </a:rPr>
              <a:t>→ B[0]</a:t>
            </a:r>
            <a:endParaRPr lang="en-US" sz="1100" dirty="0"/>
          </a:p>
        </p:txBody>
      </p:sp>
      <p:sp>
        <p:nvSpPr>
          <p:cNvPr id="16" name="Text 13"/>
          <p:cNvSpPr txBox="1"/>
          <p:nvPr/>
        </p:nvSpPr>
        <p:spPr>
          <a:xfrm>
            <a:off x="3977640" y="2130552"/>
            <a:ext cx="868680" cy="274320"/>
          </a:xfrm>
          <a:prstGeom prst="rect">
            <a:avLst/>
          </a:prstGeom>
          <a:noFill/>
          <a:ln/>
        </p:spPr>
        <p:txBody>
          <a:bodyPr wrap="square" lIns="0" tIns="0" rIns="0" bIns="0" rtlCol="0" anchor="ctr"/>
          <a:lstStyle/>
          <a:p>
            <a:pPr algn="ctr" indent="0" marL="0">
              <a:buNone/>
            </a:pPr>
            <a:r>
              <a:rPr lang="en-US" sz="1100" dirty="0">
                <a:solidFill>
                  <a:srgbClr val="8C2F23"/>
                </a:solidFill>
                <a:latin typeface="JetBrains Mono" pitchFamily="34" charset="0"/>
                <a:ea typeface="JetBrains Mono" pitchFamily="34" charset="-122"/>
                <a:cs typeface="JetBrains Mono" pitchFamily="34" charset="-120"/>
              </a:rPr>
              <a:t>→ B[6]</a:t>
            </a:r>
            <a:endParaRPr lang="en-US" sz="1100" dirty="0"/>
          </a:p>
        </p:txBody>
      </p:sp>
      <p:sp>
        <p:nvSpPr>
          <p:cNvPr id="17" name="Text 14"/>
          <p:cNvSpPr txBox="1"/>
          <p:nvPr/>
        </p:nvSpPr>
        <p:spPr>
          <a:xfrm>
            <a:off x="4846320" y="2130552"/>
            <a:ext cx="868680" cy="274320"/>
          </a:xfrm>
          <a:prstGeom prst="rect">
            <a:avLst/>
          </a:prstGeom>
          <a:noFill/>
          <a:ln/>
        </p:spPr>
        <p:txBody>
          <a:bodyPr wrap="square" lIns="0" tIns="0" rIns="0" bIns="0" rtlCol="0" anchor="ctr"/>
          <a:lstStyle/>
          <a:p>
            <a:pPr algn="ctr" indent="0" marL="0">
              <a:buNone/>
            </a:pPr>
            <a:r>
              <a:rPr lang="en-US" sz="1100" dirty="0">
                <a:solidFill>
                  <a:srgbClr val="8C2F23"/>
                </a:solidFill>
                <a:latin typeface="JetBrains Mono" pitchFamily="34" charset="0"/>
                <a:ea typeface="JetBrains Mono" pitchFamily="34" charset="-122"/>
                <a:cs typeface="JetBrains Mono" pitchFamily="34" charset="-120"/>
              </a:rPr>
              <a:t>→ B[1]</a:t>
            </a:r>
            <a:endParaRPr lang="en-US" sz="1100" dirty="0"/>
          </a:p>
        </p:txBody>
      </p:sp>
      <p:sp>
        <p:nvSpPr>
          <p:cNvPr id="18" name="Text 15"/>
          <p:cNvSpPr txBox="1"/>
          <p:nvPr/>
        </p:nvSpPr>
        <p:spPr>
          <a:xfrm>
            <a:off x="5715000" y="2130552"/>
            <a:ext cx="868680" cy="274320"/>
          </a:xfrm>
          <a:prstGeom prst="rect">
            <a:avLst/>
          </a:prstGeom>
          <a:noFill/>
          <a:ln/>
        </p:spPr>
        <p:txBody>
          <a:bodyPr wrap="square" lIns="0" tIns="0" rIns="0" bIns="0" rtlCol="0" anchor="ctr"/>
          <a:lstStyle/>
          <a:p>
            <a:pPr algn="ctr" indent="0" marL="0">
              <a:buNone/>
            </a:pPr>
            <a:r>
              <a:rPr lang="en-US" sz="1100" dirty="0">
                <a:solidFill>
                  <a:srgbClr val="8C2F23"/>
                </a:solidFill>
                <a:latin typeface="JetBrains Mono" pitchFamily="34" charset="0"/>
                <a:ea typeface="JetBrains Mono" pitchFamily="34" charset="-122"/>
                <a:cs typeface="JetBrains Mono" pitchFamily="34" charset="-120"/>
              </a:rPr>
              <a:t>→ B[1]</a:t>
            </a:r>
            <a:endParaRPr lang="en-US" sz="1100" dirty="0"/>
          </a:p>
        </p:txBody>
      </p:sp>
      <p:sp>
        <p:nvSpPr>
          <p:cNvPr id="19" name="Text 16"/>
          <p:cNvSpPr txBox="1"/>
          <p:nvPr/>
        </p:nvSpPr>
        <p:spPr>
          <a:xfrm>
            <a:off x="6583680" y="2130552"/>
            <a:ext cx="868680" cy="274320"/>
          </a:xfrm>
          <a:prstGeom prst="rect">
            <a:avLst/>
          </a:prstGeom>
          <a:noFill/>
          <a:ln/>
        </p:spPr>
        <p:txBody>
          <a:bodyPr wrap="square" lIns="0" tIns="0" rIns="0" bIns="0" rtlCol="0" anchor="ctr"/>
          <a:lstStyle/>
          <a:p>
            <a:pPr algn="ctr" indent="0" marL="0">
              <a:buNone/>
            </a:pPr>
            <a:r>
              <a:rPr lang="en-US" sz="1100" dirty="0">
                <a:solidFill>
                  <a:srgbClr val="8C2F23"/>
                </a:solidFill>
                <a:latin typeface="JetBrains Mono" pitchFamily="34" charset="0"/>
                <a:ea typeface="JetBrains Mono" pitchFamily="34" charset="-122"/>
                <a:cs typeface="JetBrains Mono" pitchFamily="34" charset="-120"/>
              </a:rPr>
              <a:t>→ B[2]</a:t>
            </a:r>
            <a:endParaRPr lang="en-US" sz="1100" dirty="0"/>
          </a:p>
        </p:txBody>
      </p:sp>
      <p:sp>
        <p:nvSpPr>
          <p:cNvPr id="20" name="Text 17"/>
          <p:cNvSpPr txBox="1"/>
          <p:nvPr/>
        </p:nvSpPr>
        <p:spPr>
          <a:xfrm>
            <a:off x="7452360" y="2130552"/>
            <a:ext cx="868680" cy="274320"/>
          </a:xfrm>
          <a:prstGeom prst="rect">
            <a:avLst/>
          </a:prstGeom>
          <a:noFill/>
          <a:ln/>
        </p:spPr>
        <p:txBody>
          <a:bodyPr wrap="square" lIns="0" tIns="0" rIns="0" bIns="0" rtlCol="0" anchor="ctr"/>
          <a:lstStyle/>
          <a:p>
            <a:pPr algn="ctr" indent="0" marL="0">
              <a:buNone/>
            </a:pPr>
            <a:r>
              <a:rPr lang="en-US" sz="1100" dirty="0">
                <a:solidFill>
                  <a:srgbClr val="8C2F23"/>
                </a:solidFill>
                <a:latin typeface="JetBrains Mono" pitchFamily="34" charset="0"/>
                <a:ea typeface="JetBrains Mono" pitchFamily="34" charset="-122"/>
                <a:cs typeface="JetBrains Mono" pitchFamily="34" charset="-120"/>
              </a:rPr>
              <a:t>→ B[6]</a:t>
            </a:r>
            <a:endParaRPr lang="en-US" sz="1100" dirty="0"/>
          </a:p>
        </p:txBody>
      </p:sp>
      <p:sp>
        <p:nvSpPr>
          <p:cNvPr id="21" name="Text 18"/>
          <p:cNvSpPr txBox="1"/>
          <p:nvPr/>
        </p:nvSpPr>
        <p:spPr>
          <a:xfrm>
            <a:off x="8549640" y="1691640"/>
            <a:ext cx="3108960" cy="731520"/>
          </a:xfrm>
          <a:prstGeom prst="rect">
            <a:avLst/>
          </a:prstGeom>
          <a:noFill/>
          <a:ln/>
        </p:spPr>
        <p:txBody>
          <a:bodyPr wrap="square" lIns="0" tIns="0" rIns="0" bIns="0" rtlCol="0" anchor="t"/>
          <a:lstStyle/>
          <a:p>
            <a:pPr indent="0" marL="0">
              <a:buNone/>
            </a:pPr>
            <a:r>
              <a:rPr lang="en-US" sz="1300" b="1" dirty="0">
                <a:solidFill>
                  <a:srgbClr val="1F1B16"/>
                </a:solidFill>
                <a:latin typeface="JetBrains Mono" pitchFamily="34" charset="0"/>
                <a:ea typeface="JetBrains Mono" pitchFamily="34" charset="-122"/>
                <a:cs typeface="JetBrains Mono" pitchFamily="34" charset="-120"/>
              </a:rPr>
              <a:t>j = ⌊7 · (x − 1) / 100⌋</a:t>
            </a:r>
            <a:endParaRPr lang="en-US" sz="1400" dirty="0"/>
          </a:p>
          <a:p>
            <a:pPr indent="0" marL="0">
              <a:buNone/>
            </a:pPr>
            <a:r>
              <a:rPr lang="en-US" sz="1100" dirty="0">
                <a:solidFill>
                  <a:srgbClr val="6E6657"/>
                </a:solidFill>
                <a:latin typeface="JetBrains Mono" pitchFamily="34" charset="0"/>
                <a:ea typeface="JetBrains Mono" pitchFamily="34" charset="-122"/>
                <a:cs typeface="JetBrains Mono" pitchFamily="34" charset="-120"/>
              </a:rPr>
              <a:t>m = 7, min = 1, max = 100</a:t>
            </a:r>
            <a:endParaRPr lang="en-US" sz="1400" dirty="0"/>
          </a:p>
        </p:txBody>
      </p:sp>
      <p:sp>
        <p:nvSpPr>
          <p:cNvPr id="22" name="Text 19"/>
          <p:cNvSpPr txBox="1"/>
          <p:nvPr/>
        </p:nvSpPr>
        <p:spPr>
          <a:xfrm>
            <a:off x="548640" y="2743200"/>
            <a:ext cx="1188720" cy="502920"/>
          </a:xfrm>
          <a:prstGeom prst="rect">
            <a:avLst/>
          </a:prstGeom>
          <a:noFill/>
          <a:ln/>
        </p:spPr>
        <p:txBody>
          <a:bodyPr wrap="square" lIns="0" tIns="0" rIns="0" bIns="0" rtlCol="0" anchor="ctr"/>
          <a:lstStyle/>
          <a:p>
            <a:pPr indent="0" marL="0">
              <a:buNone/>
            </a:pPr>
            <a:r>
              <a:rPr lang="en-US" sz="1100" dirty="0">
                <a:solidFill>
                  <a:srgbClr val="6E6657"/>
                </a:solidFill>
                <a:latin typeface="JetBrains Mono" pitchFamily="34" charset="0"/>
                <a:ea typeface="JetBrains Mono" pitchFamily="34" charset="-122"/>
                <a:cs typeface="JetBrains Mono" pitchFamily="34" charset="-120"/>
              </a:rPr>
              <a:t>cubeta</a:t>
            </a:r>
            <a:endParaRPr lang="en-US" sz="1100" dirty="0"/>
          </a:p>
        </p:txBody>
      </p:sp>
      <p:sp>
        <p:nvSpPr>
          <p:cNvPr id="23" name="Text 20"/>
          <p:cNvSpPr txBox="1"/>
          <p:nvPr/>
        </p:nvSpPr>
        <p:spPr>
          <a:xfrm>
            <a:off x="548640" y="3246120"/>
            <a:ext cx="1188720" cy="594360"/>
          </a:xfrm>
          <a:prstGeom prst="rect">
            <a:avLst/>
          </a:prstGeom>
          <a:noFill/>
          <a:ln/>
        </p:spPr>
        <p:txBody>
          <a:bodyPr wrap="square" lIns="0" tIns="0" rIns="0" bIns="0" rtlCol="0" anchor="ctr"/>
          <a:lstStyle/>
          <a:p>
            <a:pPr indent="0" marL="0">
              <a:buNone/>
            </a:pPr>
            <a:r>
              <a:rPr lang="en-US" sz="1100" dirty="0">
                <a:solidFill>
                  <a:srgbClr val="6E6657"/>
                </a:solidFill>
                <a:latin typeface="JetBrains Mono" pitchFamily="34" charset="0"/>
                <a:ea typeface="JetBrains Mono" pitchFamily="34" charset="-122"/>
                <a:cs typeface="JetBrains Mono" pitchFamily="34" charset="-120"/>
              </a:rPr>
              <a:t>repartido</a:t>
            </a:r>
            <a:endParaRPr lang="en-US" sz="1100" dirty="0"/>
          </a:p>
        </p:txBody>
      </p:sp>
      <p:sp>
        <p:nvSpPr>
          <p:cNvPr id="24" name="Text 21"/>
          <p:cNvSpPr txBox="1"/>
          <p:nvPr/>
        </p:nvSpPr>
        <p:spPr>
          <a:xfrm>
            <a:off x="548640" y="3840480"/>
            <a:ext cx="1188720" cy="594360"/>
          </a:xfrm>
          <a:prstGeom prst="rect">
            <a:avLst/>
          </a:prstGeom>
          <a:noFill/>
          <a:ln/>
        </p:spPr>
        <p:txBody>
          <a:bodyPr wrap="square" lIns="0" tIns="0" rIns="0" bIns="0" rtlCol="0" anchor="ctr"/>
          <a:lstStyle/>
          <a:p>
            <a:pPr indent="0" marL="0">
              <a:buNone/>
            </a:pPr>
            <a:r>
              <a:rPr lang="en-US" sz="1100" dirty="0">
                <a:solidFill>
                  <a:srgbClr val="6E6657"/>
                </a:solidFill>
                <a:latin typeface="JetBrains Mono" pitchFamily="34" charset="0"/>
                <a:ea typeface="JetBrains Mono" pitchFamily="34" charset="-122"/>
                <a:cs typeface="JetBrains Mono" pitchFamily="34" charset="-120"/>
              </a:rPr>
              <a:t>ordenado</a:t>
            </a:r>
            <a:endParaRPr lang="en-US" sz="1100" dirty="0"/>
          </a:p>
        </p:txBody>
      </p:sp>
      <p:sp>
        <p:nvSpPr>
          <p:cNvPr id="25" name="Text 22"/>
          <p:cNvSpPr txBox="1"/>
          <p:nvPr/>
        </p:nvSpPr>
        <p:spPr>
          <a:xfrm>
            <a:off x="1737360" y="2743200"/>
            <a:ext cx="1408176" cy="502920"/>
          </a:xfrm>
          <a:prstGeom prst="rect">
            <a:avLst/>
          </a:prstGeom>
          <a:solidFill>
            <a:srgbClr val="EAE5D8"/>
          </a:solidFill>
          <a:ln w="9525">
            <a:solidFill>
              <a:srgbClr val="1F1B16"/>
            </a:solidFill>
          </a:ln>
        </p:spPr>
        <p:txBody>
          <a:bodyPr wrap="square" lIns="0" tIns="0" rIns="0" bIns="0" rtlCol="0" anchor="ctr"/>
          <a:lstStyle/>
          <a:p>
            <a:pPr algn="ctr" indent="0" marL="0">
              <a:buNone/>
            </a:pPr>
            <a:r>
              <a:rPr lang="en-US" sz="1300" b="1" dirty="0">
                <a:solidFill>
                  <a:srgbClr val="000000"/>
                </a:solidFill>
                <a:latin typeface="JetBrains Mono" pitchFamily="34" charset="0"/>
                <a:ea typeface="JetBrains Mono" pitchFamily="34" charset="-122"/>
                <a:cs typeface="JetBrains Mono" pitchFamily="34" charset="-120"/>
              </a:rPr>
              <a:t>B[0]</a:t>
            </a:r>
            <a:endParaRPr lang="en-US" sz="1300" dirty="0"/>
          </a:p>
          <a:p>
            <a:pPr algn="ctr" indent="0" marL="0">
              <a:buNone/>
            </a:pPr>
            <a:r>
              <a:rPr lang="en-US" sz="1100" dirty="0">
                <a:solidFill>
                  <a:srgbClr val="6E6657"/>
                </a:solidFill>
                <a:latin typeface="JetBrains Mono" pitchFamily="34" charset="0"/>
                <a:ea typeface="JetBrains Mono" pitchFamily="34" charset="-122"/>
                <a:cs typeface="JetBrains Mono" pitchFamily="34" charset="-120"/>
              </a:rPr>
              <a:t>1 – 15</a:t>
            </a:r>
            <a:endParaRPr lang="en-US" sz="1300" dirty="0"/>
          </a:p>
        </p:txBody>
      </p:sp>
      <p:sp>
        <p:nvSpPr>
          <p:cNvPr id="26" name="Text 23"/>
          <p:cNvSpPr txBox="1"/>
          <p:nvPr/>
        </p:nvSpPr>
        <p:spPr>
          <a:xfrm>
            <a:off x="1737360" y="3246120"/>
            <a:ext cx="1408176" cy="59436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dirty="0">
                <a:solidFill>
                  <a:srgbClr val="1F1B16"/>
                </a:solidFill>
                <a:latin typeface="JetBrains Mono" pitchFamily="34" charset="0"/>
                <a:ea typeface="JetBrains Mono" pitchFamily="34" charset="-122"/>
                <a:cs typeface="JetBrains Mono" pitchFamily="34" charset="-120"/>
              </a:rPr>
              <a:t>1</a:t>
            </a:r>
            <a:endParaRPr lang="en-US" sz="1500" dirty="0"/>
          </a:p>
        </p:txBody>
      </p:sp>
      <p:sp>
        <p:nvSpPr>
          <p:cNvPr id="27" name="Text 24"/>
          <p:cNvSpPr txBox="1"/>
          <p:nvPr/>
        </p:nvSpPr>
        <p:spPr>
          <a:xfrm>
            <a:off x="1737360" y="3840480"/>
            <a:ext cx="1408176" cy="59436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b="1" dirty="0">
                <a:solidFill>
                  <a:srgbClr val="2F5D50"/>
                </a:solidFill>
                <a:latin typeface="JetBrains Mono" pitchFamily="34" charset="0"/>
                <a:ea typeface="JetBrains Mono" pitchFamily="34" charset="-122"/>
                <a:cs typeface="JetBrains Mono" pitchFamily="34" charset="-120"/>
              </a:rPr>
              <a:t>1</a:t>
            </a:r>
            <a:endParaRPr lang="en-US" sz="1500" dirty="0"/>
          </a:p>
        </p:txBody>
      </p:sp>
      <p:sp>
        <p:nvSpPr>
          <p:cNvPr id="28" name="Text 25"/>
          <p:cNvSpPr txBox="1"/>
          <p:nvPr/>
        </p:nvSpPr>
        <p:spPr>
          <a:xfrm>
            <a:off x="3145536" y="2743200"/>
            <a:ext cx="1408176" cy="502920"/>
          </a:xfrm>
          <a:prstGeom prst="rect">
            <a:avLst/>
          </a:prstGeom>
          <a:solidFill>
            <a:srgbClr val="EAE5D8"/>
          </a:solidFill>
          <a:ln w="9525">
            <a:solidFill>
              <a:srgbClr val="1F1B16"/>
            </a:solidFill>
          </a:ln>
        </p:spPr>
        <p:txBody>
          <a:bodyPr wrap="square" lIns="0" tIns="0" rIns="0" bIns="0" rtlCol="0" anchor="ctr"/>
          <a:lstStyle/>
          <a:p>
            <a:pPr algn="ctr" indent="0" marL="0">
              <a:buNone/>
            </a:pPr>
            <a:r>
              <a:rPr lang="en-US" sz="1300" b="1" dirty="0">
                <a:solidFill>
                  <a:srgbClr val="000000"/>
                </a:solidFill>
                <a:latin typeface="JetBrains Mono" pitchFamily="34" charset="0"/>
                <a:ea typeface="JetBrains Mono" pitchFamily="34" charset="-122"/>
                <a:cs typeface="JetBrains Mono" pitchFamily="34" charset="-120"/>
              </a:rPr>
              <a:t>B[1]</a:t>
            </a:r>
            <a:endParaRPr lang="en-US" sz="1300" dirty="0"/>
          </a:p>
          <a:p>
            <a:pPr algn="ctr" indent="0" marL="0">
              <a:buNone/>
            </a:pPr>
            <a:r>
              <a:rPr lang="en-US" sz="1100" dirty="0">
                <a:solidFill>
                  <a:srgbClr val="6E6657"/>
                </a:solidFill>
                <a:latin typeface="JetBrains Mono" pitchFamily="34" charset="0"/>
                <a:ea typeface="JetBrains Mono" pitchFamily="34" charset="-122"/>
                <a:cs typeface="JetBrains Mono" pitchFamily="34" charset="-120"/>
              </a:rPr>
              <a:t>16 – 29</a:t>
            </a:r>
            <a:endParaRPr lang="en-US" sz="1300" dirty="0"/>
          </a:p>
        </p:txBody>
      </p:sp>
      <p:sp>
        <p:nvSpPr>
          <p:cNvPr id="29" name="Text 26"/>
          <p:cNvSpPr txBox="1"/>
          <p:nvPr/>
        </p:nvSpPr>
        <p:spPr>
          <a:xfrm>
            <a:off x="3145536" y="3246120"/>
            <a:ext cx="1408176" cy="59436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b="1" dirty="0">
                <a:solidFill>
                  <a:srgbClr val="8C2F23"/>
                </a:solidFill>
                <a:latin typeface="JetBrains Mono" pitchFamily="34" charset="0"/>
                <a:ea typeface="JetBrains Mono" pitchFamily="34" charset="-122"/>
                <a:cs typeface="JetBrains Mono" pitchFamily="34" charset="-120"/>
              </a:rPr>
              <a:t>20  19</a:t>
            </a:r>
            <a:endParaRPr lang="en-US" sz="1500" dirty="0"/>
          </a:p>
        </p:txBody>
      </p:sp>
      <p:sp>
        <p:nvSpPr>
          <p:cNvPr id="30" name="Text 27"/>
          <p:cNvSpPr txBox="1"/>
          <p:nvPr/>
        </p:nvSpPr>
        <p:spPr>
          <a:xfrm>
            <a:off x="3145536" y="3840480"/>
            <a:ext cx="1408176" cy="59436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b="1" dirty="0">
                <a:solidFill>
                  <a:srgbClr val="2F5D50"/>
                </a:solidFill>
                <a:latin typeface="JetBrains Mono" pitchFamily="34" charset="0"/>
                <a:ea typeface="JetBrains Mono" pitchFamily="34" charset="-122"/>
                <a:cs typeface="JetBrains Mono" pitchFamily="34" charset="-120"/>
              </a:rPr>
              <a:t>19  20</a:t>
            </a:r>
            <a:endParaRPr lang="en-US" sz="1500" dirty="0"/>
          </a:p>
        </p:txBody>
      </p:sp>
      <p:sp>
        <p:nvSpPr>
          <p:cNvPr id="31" name="Text 28"/>
          <p:cNvSpPr txBox="1"/>
          <p:nvPr/>
        </p:nvSpPr>
        <p:spPr>
          <a:xfrm>
            <a:off x="4553712" y="2743200"/>
            <a:ext cx="1408176" cy="502920"/>
          </a:xfrm>
          <a:prstGeom prst="rect">
            <a:avLst/>
          </a:prstGeom>
          <a:solidFill>
            <a:srgbClr val="EAE5D8"/>
          </a:solidFill>
          <a:ln w="9525">
            <a:solidFill>
              <a:srgbClr val="1F1B16"/>
            </a:solidFill>
          </a:ln>
        </p:spPr>
        <p:txBody>
          <a:bodyPr wrap="square" lIns="0" tIns="0" rIns="0" bIns="0" rtlCol="0" anchor="ctr"/>
          <a:lstStyle/>
          <a:p>
            <a:pPr algn="ctr" indent="0" marL="0">
              <a:buNone/>
            </a:pPr>
            <a:r>
              <a:rPr lang="en-US" sz="1300" b="1" dirty="0">
                <a:solidFill>
                  <a:srgbClr val="000000"/>
                </a:solidFill>
                <a:latin typeface="JetBrains Mono" pitchFamily="34" charset="0"/>
                <a:ea typeface="JetBrains Mono" pitchFamily="34" charset="-122"/>
                <a:cs typeface="JetBrains Mono" pitchFamily="34" charset="-120"/>
              </a:rPr>
              <a:t>B[2]</a:t>
            </a:r>
            <a:endParaRPr lang="en-US" sz="1300" dirty="0"/>
          </a:p>
          <a:p>
            <a:pPr algn="ctr" indent="0" marL="0">
              <a:buNone/>
            </a:pPr>
            <a:r>
              <a:rPr lang="en-US" sz="1100" dirty="0">
                <a:solidFill>
                  <a:srgbClr val="6E6657"/>
                </a:solidFill>
                <a:latin typeface="JetBrains Mono" pitchFamily="34" charset="0"/>
                <a:ea typeface="JetBrains Mono" pitchFamily="34" charset="-122"/>
                <a:cs typeface="JetBrains Mono" pitchFamily="34" charset="-120"/>
              </a:rPr>
              <a:t>30 – 43</a:t>
            </a:r>
            <a:endParaRPr lang="en-US" sz="1300" dirty="0"/>
          </a:p>
        </p:txBody>
      </p:sp>
      <p:sp>
        <p:nvSpPr>
          <p:cNvPr id="32" name="Text 29"/>
          <p:cNvSpPr txBox="1"/>
          <p:nvPr/>
        </p:nvSpPr>
        <p:spPr>
          <a:xfrm>
            <a:off x="4553712" y="3246120"/>
            <a:ext cx="1408176" cy="59436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dirty="0">
                <a:solidFill>
                  <a:srgbClr val="1F1B16"/>
                </a:solidFill>
                <a:latin typeface="JetBrains Mono" pitchFamily="34" charset="0"/>
                <a:ea typeface="JetBrains Mono" pitchFamily="34" charset="-122"/>
                <a:cs typeface="JetBrains Mono" pitchFamily="34" charset="-120"/>
              </a:rPr>
              <a:t>40</a:t>
            </a:r>
            <a:endParaRPr lang="en-US" sz="1500" dirty="0"/>
          </a:p>
        </p:txBody>
      </p:sp>
      <p:sp>
        <p:nvSpPr>
          <p:cNvPr id="33" name="Text 30"/>
          <p:cNvSpPr txBox="1"/>
          <p:nvPr/>
        </p:nvSpPr>
        <p:spPr>
          <a:xfrm>
            <a:off x="4553712" y="3840480"/>
            <a:ext cx="1408176" cy="59436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b="1" dirty="0">
                <a:solidFill>
                  <a:srgbClr val="2F5D50"/>
                </a:solidFill>
                <a:latin typeface="JetBrains Mono" pitchFamily="34" charset="0"/>
                <a:ea typeface="JetBrains Mono" pitchFamily="34" charset="-122"/>
                <a:cs typeface="JetBrains Mono" pitchFamily="34" charset="-120"/>
              </a:rPr>
              <a:t>40</a:t>
            </a:r>
            <a:endParaRPr lang="en-US" sz="1500" dirty="0"/>
          </a:p>
        </p:txBody>
      </p:sp>
      <p:sp>
        <p:nvSpPr>
          <p:cNvPr id="34" name="Text 31"/>
          <p:cNvSpPr txBox="1"/>
          <p:nvPr/>
        </p:nvSpPr>
        <p:spPr>
          <a:xfrm>
            <a:off x="5961888" y="2743200"/>
            <a:ext cx="1408176" cy="502920"/>
          </a:xfrm>
          <a:prstGeom prst="rect">
            <a:avLst/>
          </a:prstGeom>
          <a:solidFill>
            <a:srgbClr val="EAE5D8"/>
          </a:solidFill>
          <a:ln w="9525">
            <a:solidFill>
              <a:srgbClr val="1F1B16"/>
            </a:solidFill>
          </a:ln>
        </p:spPr>
        <p:txBody>
          <a:bodyPr wrap="square" lIns="0" tIns="0" rIns="0" bIns="0" rtlCol="0" anchor="ctr"/>
          <a:lstStyle/>
          <a:p>
            <a:pPr algn="ctr" indent="0" marL="0">
              <a:buNone/>
            </a:pPr>
            <a:r>
              <a:rPr lang="en-US" sz="1300" b="1" dirty="0">
                <a:solidFill>
                  <a:srgbClr val="000000"/>
                </a:solidFill>
                <a:latin typeface="JetBrains Mono" pitchFamily="34" charset="0"/>
                <a:ea typeface="JetBrains Mono" pitchFamily="34" charset="-122"/>
                <a:cs typeface="JetBrains Mono" pitchFamily="34" charset="-120"/>
              </a:rPr>
              <a:t>B[3]</a:t>
            </a:r>
            <a:endParaRPr lang="en-US" sz="1300" dirty="0"/>
          </a:p>
          <a:p>
            <a:pPr algn="ctr" indent="0" marL="0">
              <a:buNone/>
            </a:pPr>
            <a:r>
              <a:rPr lang="en-US" sz="1100" dirty="0">
                <a:solidFill>
                  <a:srgbClr val="6E6657"/>
                </a:solidFill>
                <a:latin typeface="JetBrains Mono" pitchFamily="34" charset="0"/>
                <a:ea typeface="JetBrains Mono" pitchFamily="34" charset="-122"/>
                <a:cs typeface="JetBrains Mono" pitchFamily="34" charset="-120"/>
              </a:rPr>
              <a:t>44 – 58</a:t>
            </a:r>
            <a:endParaRPr lang="en-US" sz="1300" dirty="0"/>
          </a:p>
        </p:txBody>
      </p:sp>
      <p:sp>
        <p:nvSpPr>
          <p:cNvPr id="35" name="Text 32"/>
          <p:cNvSpPr txBox="1"/>
          <p:nvPr/>
        </p:nvSpPr>
        <p:spPr>
          <a:xfrm>
            <a:off x="5961888" y="3246120"/>
            <a:ext cx="1408176" cy="59436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dirty="0">
                <a:solidFill>
                  <a:srgbClr val="1F1B16"/>
                </a:solidFill>
                <a:latin typeface="JetBrains Mono" pitchFamily="34" charset="0"/>
                <a:ea typeface="JetBrains Mono" pitchFamily="34" charset="-122"/>
                <a:cs typeface="JetBrains Mono" pitchFamily="34" charset="-120"/>
              </a:rPr>
              <a:t>50</a:t>
            </a:r>
            <a:endParaRPr lang="en-US" sz="1500" dirty="0"/>
          </a:p>
        </p:txBody>
      </p:sp>
      <p:sp>
        <p:nvSpPr>
          <p:cNvPr id="36" name="Text 33"/>
          <p:cNvSpPr txBox="1"/>
          <p:nvPr/>
        </p:nvSpPr>
        <p:spPr>
          <a:xfrm>
            <a:off x="5961888" y="3840480"/>
            <a:ext cx="1408176" cy="59436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b="1" dirty="0">
                <a:solidFill>
                  <a:srgbClr val="2F5D50"/>
                </a:solidFill>
                <a:latin typeface="JetBrains Mono" pitchFamily="34" charset="0"/>
                <a:ea typeface="JetBrains Mono" pitchFamily="34" charset="-122"/>
                <a:cs typeface="JetBrains Mono" pitchFamily="34" charset="-120"/>
              </a:rPr>
              <a:t>50</a:t>
            </a:r>
            <a:endParaRPr lang="en-US" sz="1500" dirty="0"/>
          </a:p>
        </p:txBody>
      </p:sp>
      <p:sp>
        <p:nvSpPr>
          <p:cNvPr id="37" name="Text 34"/>
          <p:cNvSpPr txBox="1"/>
          <p:nvPr/>
        </p:nvSpPr>
        <p:spPr>
          <a:xfrm>
            <a:off x="7370064" y="2743200"/>
            <a:ext cx="1408176" cy="502920"/>
          </a:xfrm>
          <a:prstGeom prst="rect">
            <a:avLst/>
          </a:prstGeom>
          <a:solidFill>
            <a:srgbClr val="EAE5D8"/>
          </a:solidFill>
          <a:ln w="9525">
            <a:solidFill>
              <a:srgbClr val="1F1B16"/>
            </a:solidFill>
          </a:ln>
        </p:spPr>
        <p:txBody>
          <a:bodyPr wrap="square" lIns="0" tIns="0" rIns="0" bIns="0" rtlCol="0" anchor="ctr"/>
          <a:lstStyle/>
          <a:p>
            <a:pPr algn="ctr" indent="0" marL="0">
              <a:buNone/>
            </a:pPr>
            <a:r>
              <a:rPr lang="en-US" sz="1300" b="1" dirty="0">
                <a:solidFill>
                  <a:srgbClr val="000000"/>
                </a:solidFill>
                <a:latin typeface="JetBrains Mono" pitchFamily="34" charset="0"/>
                <a:ea typeface="JetBrains Mono" pitchFamily="34" charset="-122"/>
                <a:cs typeface="JetBrains Mono" pitchFamily="34" charset="-120"/>
              </a:rPr>
              <a:t>B[4]</a:t>
            </a:r>
            <a:endParaRPr lang="en-US" sz="1300" dirty="0"/>
          </a:p>
          <a:p>
            <a:pPr algn="ctr" indent="0" marL="0">
              <a:buNone/>
            </a:pPr>
            <a:r>
              <a:rPr lang="en-US" sz="1100" dirty="0">
                <a:solidFill>
                  <a:srgbClr val="6E6657"/>
                </a:solidFill>
                <a:latin typeface="JetBrains Mono" pitchFamily="34" charset="0"/>
                <a:ea typeface="JetBrains Mono" pitchFamily="34" charset="-122"/>
                <a:cs typeface="JetBrains Mono" pitchFamily="34" charset="-120"/>
              </a:rPr>
              <a:t>59 – 72</a:t>
            </a:r>
            <a:endParaRPr lang="en-US" sz="1300" dirty="0"/>
          </a:p>
        </p:txBody>
      </p:sp>
      <p:sp>
        <p:nvSpPr>
          <p:cNvPr id="38" name="Text 35"/>
          <p:cNvSpPr txBox="1"/>
          <p:nvPr/>
        </p:nvSpPr>
        <p:spPr>
          <a:xfrm>
            <a:off x="7370064" y="3246120"/>
            <a:ext cx="1408176" cy="594360"/>
          </a:xfrm>
          <a:prstGeom prst="rect">
            <a:avLst/>
          </a:prstGeom>
          <a:solidFill>
            <a:srgbClr val="EAE5D8"/>
          </a:solidFill>
          <a:ln w="9525">
            <a:solidFill>
              <a:srgbClr val="1F1B16"/>
            </a:solidFill>
          </a:ln>
        </p:spPr>
        <p:txBody>
          <a:bodyPr wrap="square" lIns="0" tIns="0" rIns="0" bIns="0" rtlCol="0" anchor="ctr"/>
          <a:lstStyle/>
          <a:p>
            <a:pPr algn="ctr" indent="0" marL="0">
              <a:buNone/>
            </a:pPr>
            <a:r>
              <a:rPr lang="en-US" sz="1500" i="1" dirty="0">
                <a:solidFill>
                  <a:srgbClr val="6E6657"/>
                </a:solidFill>
                <a:latin typeface="IBM Plex Sans" pitchFamily="34" charset="0"/>
                <a:ea typeface="IBM Plex Sans" pitchFamily="34" charset="-122"/>
                <a:cs typeface="IBM Plex Sans" pitchFamily="34" charset="-120"/>
              </a:rPr>
              <a:t>vacía</a:t>
            </a:r>
            <a:endParaRPr lang="en-US" sz="1500" dirty="0"/>
          </a:p>
        </p:txBody>
      </p:sp>
      <p:sp>
        <p:nvSpPr>
          <p:cNvPr id="39" name="Text 36"/>
          <p:cNvSpPr txBox="1"/>
          <p:nvPr/>
        </p:nvSpPr>
        <p:spPr>
          <a:xfrm>
            <a:off x="7370064" y="3840480"/>
            <a:ext cx="1408176" cy="594360"/>
          </a:xfrm>
          <a:prstGeom prst="rect">
            <a:avLst/>
          </a:prstGeom>
          <a:solidFill>
            <a:srgbClr val="EAE5D8"/>
          </a:solidFill>
          <a:ln w="9525">
            <a:solidFill>
              <a:srgbClr val="1F1B16"/>
            </a:solidFill>
          </a:ln>
        </p:spPr>
        <p:txBody>
          <a:bodyPr wrap="square" lIns="0" tIns="0" rIns="0" bIns="0" rtlCol="0" anchor="ctr"/>
          <a:lstStyle/>
          <a:p>
            <a:pPr algn="ctr" indent="0" marL="0">
              <a:buNone/>
            </a:pPr>
            <a:r>
              <a:rPr lang="en-US" sz="1500" dirty="0">
                <a:solidFill>
                  <a:srgbClr val="6E6657"/>
                </a:solidFill>
                <a:latin typeface="JetBrains Mono" pitchFamily="34" charset="0"/>
                <a:ea typeface="JetBrains Mono" pitchFamily="34" charset="-122"/>
                <a:cs typeface="JetBrains Mono" pitchFamily="34" charset="-120"/>
              </a:rPr>
              <a:t>—</a:t>
            </a:r>
            <a:endParaRPr lang="en-US" sz="1500" dirty="0"/>
          </a:p>
        </p:txBody>
      </p:sp>
      <p:sp>
        <p:nvSpPr>
          <p:cNvPr id="40" name="Text 37"/>
          <p:cNvSpPr txBox="1"/>
          <p:nvPr/>
        </p:nvSpPr>
        <p:spPr>
          <a:xfrm>
            <a:off x="8778240" y="2743200"/>
            <a:ext cx="1408176" cy="502920"/>
          </a:xfrm>
          <a:prstGeom prst="rect">
            <a:avLst/>
          </a:prstGeom>
          <a:solidFill>
            <a:srgbClr val="EAE5D8"/>
          </a:solidFill>
          <a:ln w="9525">
            <a:solidFill>
              <a:srgbClr val="1F1B16"/>
            </a:solidFill>
          </a:ln>
        </p:spPr>
        <p:txBody>
          <a:bodyPr wrap="square" lIns="0" tIns="0" rIns="0" bIns="0" rtlCol="0" anchor="ctr"/>
          <a:lstStyle/>
          <a:p>
            <a:pPr algn="ctr" indent="0" marL="0">
              <a:buNone/>
            </a:pPr>
            <a:r>
              <a:rPr lang="en-US" sz="1300" b="1" dirty="0">
                <a:solidFill>
                  <a:srgbClr val="000000"/>
                </a:solidFill>
                <a:latin typeface="JetBrains Mono" pitchFamily="34" charset="0"/>
                <a:ea typeface="JetBrains Mono" pitchFamily="34" charset="-122"/>
                <a:cs typeface="JetBrains Mono" pitchFamily="34" charset="-120"/>
              </a:rPr>
              <a:t>B[5]</a:t>
            </a:r>
            <a:endParaRPr lang="en-US" sz="1300" dirty="0"/>
          </a:p>
          <a:p>
            <a:pPr algn="ctr" indent="0" marL="0">
              <a:buNone/>
            </a:pPr>
            <a:r>
              <a:rPr lang="en-US" sz="1100" dirty="0">
                <a:solidFill>
                  <a:srgbClr val="6E6657"/>
                </a:solidFill>
                <a:latin typeface="JetBrains Mono" pitchFamily="34" charset="0"/>
                <a:ea typeface="JetBrains Mono" pitchFamily="34" charset="-122"/>
                <a:cs typeface="JetBrains Mono" pitchFamily="34" charset="-120"/>
              </a:rPr>
              <a:t>73 – 86</a:t>
            </a:r>
            <a:endParaRPr lang="en-US" sz="1300" dirty="0"/>
          </a:p>
        </p:txBody>
      </p:sp>
      <p:sp>
        <p:nvSpPr>
          <p:cNvPr id="41" name="Text 38"/>
          <p:cNvSpPr txBox="1"/>
          <p:nvPr/>
        </p:nvSpPr>
        <p:spPr>
          <a:xfrm>
            <a:off x="8778240" y="3246120"/>
            <a:ext cx="1408176" cy="594360"/>
          </a:xfrm>
          <a:prstGeom prst="rect">
            <a:avLst/>
          </a:prstGeom>
          <a:solidFill>
            <a:srgbClr val="EAE5D8"/>
          </a:solidFill>
          <a:ln w="9525">
            <a:solidFill>
              <a:srgbClr val="1F1B16"/>
            </a:solidFill>
          </a:ln>
        </p:spPr>
        <p:txBody>
          <a:bodyPr wrap="square" lIns="0" tIns="0" rIns="0" bIns="0" rtlCol="0" anchor="ctr"/>
          <a:lstStyle/>
          <a:p>
            <a:pPr algn="ctr" indent="0" marL="0">
              <a:buNone/>
            </a:pPr>
            <a:r>
              <a:rPr lang="en-US" sz="1500" i="1" dirty="0">
                <a:solidFill>
                  <a:srgbClr val="6E6657"/>
                </a:solidFill>
                <a:latin typeface="IBM Plex Sans" pitchFamily="34" charset="0"/>
                <a:ea typeface="IBM Plex Sans" pitchFamily="34" charset="-122"/>
                <a:cs typeface="IBM Plex Sans" pitchFamily="34" charset="-120"/>
              </a:rPr>
              <a:t>vacía</a:t>
            </a:r>
            <a:endParaRPr lang="en-US" sz="1500" dirty="0"/>
          </a:p>
        </p:txBody>
      </p:sp>
      <p:sp>
        <p:nvSpPr>
          <p:cNvPr id="42" name="Text 39"/>
          <p:cNvSpPr txBox="1"/>
          <p:nvPr/>
        </p:nvSpPr>
        <p:spPr>
          <a:xfrm>
            <a:off x="8778240" y="3840480"/>
            <a:ext cx="1408176" cy="594360"/>
          </a:xfrm>
          <a:prstGeom prst="rect">
            <a:avLst/>
          </a:prstGeom>
          <a:solidFill>
            <a:srgbClr val="EAE5D8"/>
          </a:solidFill>
          <a:ln w="9525">
            <a:solidFill>
              <a:srgbClr val="1F1B16"/>
            </a:solidFill>
          </a:ln>
        </p:spPr>
        <p:txBody>
          <a:bodyPr wrap="square" lIns="0" tIns="0" rIns="0" bIns="0" rtlCol="0" anchor="ctr"/>
          <a:lstStyle/>
          <a:p>
            <a:pPr algn="ctr" indent="0" marL="0">
              <a:buNone/>
            </a:pPr>
            <a:r>
              <a:rPr lang="en-US" sz="1500" dirty="0">
                <a:solidFill>
                  <a:srgbClr val="6E6657"/>
                </a:solidFill>
                <a:latin typeface="JetBrains Mono" pitchFamily="34" charset="0"/>
                <a:ea typeface="JetBrains Mono" pitchFamily="34" charset="-122"/>
                <a:cs typeface="JetBrains Mono" pitchFamily="34" charset="-120"/>
              </a:rPr>
              <a:t>—</a:t>
            </a:r>
            <a:endParaRPr lang="en-US" sz="1500" dirty="0"/>
          </a:p>
        </p:txBody>
      </p:sp>
      <p:sp>
        <p:nvSpPr>
          <p:cNvPr id="43" name="Text 40"/>
          <p:cNvSpPr txBox="1"/>
          <p:nvPr/>
        </p:nvSpPr>
        <p:spPr>
          <a:xfrm>
            <a:off x="10186416" y="2743200"/>
            <a:ext cx="1408176" cy="502920"/>
          </a:xfrm>
          <a:prstGeom prst="rect">
            <a:avLst/>
          </a:prstGeom>
          <a:solidFill>
            <a:srgbClr val="EAE5D8"/>
          </a:solidFill>
          <a:ln w="9525">
            <a:solidFill>
              <a:srgbClr val="1F1B16"/>
            </a:solidFill>
          </a:ln>
        </p:spPr>
        <p:txBody>
          <a:bodyPr wrap="square" lIns="0" tIns="0" rIns="0" bIns="0" rtlCol="0" anchor="ctr"/>
          <a:lstStyle/>
          <a:p>
            <a:pPr algn="ctr" indent="0" marL="0">
              <a:buNone/>
            </a:pPr>
            <a:r>
              <a:rPr lang="en-US" sz="1300" b="1" dirty="0">
                <a:solidFill>
                  <a:srgbClr val="000000"/>
                </a:solidFill>
                <a:latin typeface="JetBrains Mono" pitchFamily="34" charset="0"/>
                <a:ea typeface="JetBrains Mono" pitchFamily="34" charset="-122"/>
                <a:cs typeface="JetBrains Mono" pitchFamily="34" charset="-120"/>
              </a:rPr>
              <a:t>B[6]</a:t>
            </a:r>
            <a:endParaRPr lang="en-US" sz="1300" dirty="0"/>
          </a:p>
          <a:p>
            <a:pPr algn="ctr" indent="0" marL="0">
              <a:buNone/>
            </a:pPr>
            <a:r>
              <a:rPr lang="en-US" sz="1100" dirty="0">
                <a:solidFill>
                  <a:srgbClr val="6E6657"/>
                </a:solidFill>
                <a:latin typeface="JetBrains Mono" pitchFamily="34" charset="0"/>
                <a:ea typeface="JetBrains Mono" pitchFamily="34" charset="-122"/>
                <a:cs typeface="JetBrains Mono" pitchFamily="34" charset="-120"/>
              </a:rPr>
              <a:t>87 – 100</a:t>
            </a:r>
            <a:endParaRPr lang="en-US" sz="1300" dirty="0"/>
          </a:p>
        </p:txBody>
      </p:sp>
      <p:sp>
        <p:nvSpPr>
          <p:cNvPr id="44" name="Text 41"/>
          <p:cNvSpPr txBox="1"/>
          <p:nvPr/>
        </p:nvSpPr>
        <p:spPr>
          <a:xfrm>
            <a:off x="10186416" y="3246120"/>
            <a:ext cx="1408176" cy="59436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b="1" dirty="0">
                <a:solidFill>
                  <a:srgbClr val="8C2F23"/>
                </a:solidFill>
                <a:latin typeface="JetBrains Mono" pitchFamily="34" charset="0"/>
                <a:ea typeface="JetBrains Mono" pitchFamily="34" charset="-122"/>
                <a:cs typeface="JetBrains Mono" pitchFamily="34" charset="-120"/>
              </a:rPr>
              <a:t>100  99</a:t>
            </a:r>
            <a:endParaRPr lang="en-US" sz="1500" dirty="0"/>
          </a:p>
        </p:txBody>
      </p:sp>
      <p:sp>
        <p:nvSpPr>
          <p:cNvPr id="45" name="Text 42"/>
          <p:cNvSpPr txBox="1"/>
          <p:nvPr/>
        </p:nvSpPr>
        <p:spPr>
          <a:xfrm>
            <a:off x="10186416" y="3840480"/>
            <a:ext cx="1408176" cy="59436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b="1" dirty="0">
                <a:solidFill>
                  <a:srgbClr val="2F5D50"/>
                </a:solidFill>
                <a:latin typeface="JetBrains Mono" pitchFamily="34" charset="0"/>
                <a:ea typeface="JetBrains Mono" pitchFamily="34" charset="-122"/>
                <a:cs typeface="JetBrains Mono" pitchFamily="34" charset="-120"/>
              </a:rPr>
              <a:t>99  100</a:t>
            </a:r>
            <a:endParaRPr lang="en-US" sz="1500" dirty="0"/>
          </a:p>
        </p:txBody>
      </p:sp>
      <p:sp>
        <p:nvSpPr>
          <p:cNvPr id="46" name="Text 43"/>
          <p:cNvSpPr txBox="1"/>
          <p:nvPr/>
        </p:nvSpPr>
        <p:spPr>
          <a:xfrm>
            <a:off x="548640" y="4754880"/>
            <a:ext cx="1188720" cy="457200"/>
          </a:xfrm>
          <a:prstGeom prst="rect">
            <a:avLst/>
          </a:prstGeom>
          <a:noFill/>
          <a:ln/>
        </p:spPr>
        <p:txBody>
          <a:bodyPr wrap="square" lIns="0" tIns="0" rIns="0" bIns="0" rtlCol="0" anchor="ctr"/>
          <a:lstStyle/>
          <a:p>
            <a:pPr indent="0" marL="0">
              <a:buNone/>
            </a:pPr>
            <a:r>
              <a:rPr lang="en-US" sz="1100" dirty="0">
                <a:solidFill>
                  <a:srgbClr val="6E6657"/>
                </a:solidFill>
                <a:latin typeface="JetBrains Mono" pitchFamily="34" charset="0"/>
                <a:ea typeface="JetBrains Mono" pitchFamily="34" charset="-122"/>
                <a:cs typeface="JetBrains Mono" pitchFamily="34" charset="-120"/>
              </a:rPr>
              <a:t>CONCATENADO</a:t>
            </a:r>
            <a:endParaRPr lang="en-US" sz="1100" dirty="0"/>
          </a:p>
        </p:txBody>
      </p:sp>
      <p:sp>
        <p:nvSpPr>
          <p:cNvPr id="47" name="Text 44"/>
          <p:cNvSpPr txBox="1"/>
          <p:nvPr/>
        </p:nvSpPr>
        <p:spPr>
          <a:xfrm>
            <a:off x="1737360" y="4754880"/>
            <a:ext cx="868680" cy="45720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b="1" dirty="0">
                <a:solidFill>
                  <a:srgbClr val="2F5D50"/>
                </a:solidFill>
                <a:latin typeface="JetBrains Mono" pitchFamily="34" charset="0"/>
                <a:ea typeface="JetBrains Mono" pitchFamily="34" charset="-122"/>
                <a:cs typeface="JetBrains Mono" pitchFamily="34" charset="-120"/>
              </a:rPr>
              <a:t>1</a:t>
            </a:r>
            <a:endParaRPr lang="en-US" sz="1500" dirty="0"/>
          </a:p>
        </p:txBody>
      </p:sp>
      <p:sp>
        <p:nvSpPr>
          <p:cNvPr id="48" name="Text 45"/>
          <p:cNvSpPr txBox="1"/>
          <p:nvPr/>
        </p:nvSpPr>
        <p:spPr>
          <a:xfrm>
            <a:off x="2606040" y="4754880"/>
            <a:ext cx="868680" cy="45720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b="1" dirty="0">
                <a:solidFill>
                  <a:srgbClr val="2F5D50"/>
                </a:solidFill>
                <a:latin typeface="JetBrains Mono" pitchFamily="34" charset="0"/>
                <a:ea typeface="JetBrains Mono" pitchFamily="34" charset="-122"/>
                <a:cs typeface="JetBrains Mono" pitchFamily="34" charset="-120"/>
              </a:rPr>
              <a:t>19</a:t>
            </a:r>
            <a:endParaRPr lang="en-US" sz="1500" dirty="0"/>
          </a:p>
        </p:txBody>
      </p:sp>
      <p:sp>
        <p:nvSpPr>
          <p:cNvPr id="49" name="Text 46"/>
          <p:cNvSpPr txBox="1"/>
          <p:nvPr/>
        </p:nvSpPr>
        <p:spPr>
          <a:xfrm>
            <a:off x="3474720" y="4754880"/>
            <a:ext cx="868680" cy="45720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b="1" dirty="0">
                <a:solidFill>
                  <a:srgbClr val="2F5D50"/>
                </a:solidFill>
                <a:latin typeface="JetBrains Mono" pitchFamily="34" charset="0"/>
                <a:ea typeface="JetBrains Mono" pitchFamily="34" charset="-122"/>
                <a:cs typeface="JetBrains Mono" pitchFamily="34" charset="-120"/>
              </a:rPr>
              <a:t>20</a:t>
            </a:r>
            <a:endParaRPr lang="en-US" sz="1500" dirty="0"/>
          </a:p>
        </p:txBody>
      </p:sp>
      <p:sp>
        <p:nvSpPr>
          <p:cNvPr id="50" name="Text 47"/>
          <p:cNvSpPr txBox="1"/>
          <p:nvPr/>
        </p:nvSpPr>
        <p:spPr>
          <a:xfrm>
            <a:off x="4343400" y="4754880"/>
            <a:ext cx="868680" cy="45720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b="1" dirty="0">
                <a:solidFill>
                  <a:srgbClr val="2F5D50"/>
                </a:solidFill>
                <a:latin typeface="JetBrains Mono" pitchFamily="34" charset="0"/>
                <a:ea typeface="JetBrains Mono" pitchFamily="34" charset="-122"/>
                <a:cs typeface="JetBrains Mono" pitchFamily="34" charset="-120"/>
              </a:rPr>
              <a:t>40</a:t>
            </a:r>
            <a:endParaRPr lang="en-US" sz="1500" dirty="0"/>
          </a:p>
        </p:txBody>
      </p:sp>
      <p:sp>
        <p:nvSpPr>
          <p:cNvPr id="51" name="Text 48"/>
          <p:cNvSpPr txBox="1"/>
          <p:nvPr/>
        </p:nvSpPr>
        <p:spPr>
          <a:xfrm>
            <a:off x="5212080" y="4754880"/>
            <a:ext cx="868680" cy="45720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b="1" dirty="0">
                <a:solidFill>
                  <a:srgbClr val="2F5D50"/>
                </a:solidFill>
                <a:latin typeface="JetBrains Mono" pitchFamily="34" charset="0"/>
                <a:ea typeface="JetBrains Mono" pitchFamily="34" charset="-122"/>
                <a:cs typeface="JetBrains Mono" pitchFamily="34" charset="-120"/>
              </a:rPr>
              <a:t>50</a:t>
            </a:r>
            <a:endParaRPr lang="en-US" sz="1500" dirty="0"/>
          </a:p>
        </p:txBody>
      </p:sp>
      <p:sp>
        <p:nvSpPr>
          <p:cNvPr id="52" name="Text 49"/>
          <p:cNvSpPr txBox="1"/>
          <p:nvPr/>
        </p:nvSpPr>
        <p:spPr>
          <a:xfrm>
            <a:off x="6080760" y="4754880"/>
            <a:ext cx="868680" cy="45720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b="1" dirty="0">
                <a:solidFill>
                  <a:srgbClr val="2F5D50"/>
                </a:solidFill>
                <a:latin typeface="JetBrains Mono" pitchFamily="34" charset="0"/>
                <a:ea typeface="JetBrains Mono" pitchFamily="34" charset="-122"/>
                <a:cs typeface="JetBrains Mono" pitchFamily="34" charset="-120"/>
              </a:rPr>
              <a:t>99</a:t>
            </a:r>
            <a:endParaRPr lang="en-US" sz="1500" dirty="0"/>
          </a:p>
        </p:txBody>
      </p:sp>
      <p:sp>
        <p:nvSpPr>
          <p:cNvPr id="53" name="Text 50"/>
          <p:cNvSpPr txBox="1"/>
          <p:nvPr/>
        </p:nvSpPr>
        <p:spPr>
          <a:xfrm>
            <a:off x="6949440" y="4754880"/>
            <a:ext cx="868680" cy="457200"/>
          </a:xfrm>
          <a:prstGeom prst="rect">
            <a:avLst/>
          </a:prstGeom>
          <a:solidFill>
            <a:srgbClr val="F4F1EA"/>
          </a:solidFill>
          <a:ln w="9525">
            <a:solidFill>
              <a:srgbClr val="1F1B16"/>
            </a:solidFill>
          </a:ln>
        </p:spPr>
        <p:txBody>
          <a:bodyPr wrap="square" lIns="0" tIns="0" rIns="0" bIns="0" rtlCol="0" anchor="ctr"/>
          <a:lstStyle/>
          <a:p>
            <a:pPr algn="ctr" indent="0" marL="0">
              <a:buNone/>
            </a:pPr>
            <a:r>
              <a:rPr lang="en-US" sz="1500" b="1" dirty="0">
                <a:solidFill>
                  <a:srgbClr val="2F5D50"/>
                </a:solidFill>
                <a:latin typeface="JetBrains Mono" pitchFamily="34" charset="0"/>
                <a:ea typeface="JetBrains Mono" pitchFamily="34" charset="-122"/>
                <a:cs typeface="JetBrains Mono" pitchFamily="34" charset="-120"/>
              </a:rPr>
              <a:t>100</a:t>
            </a:r>
            <a:endParaRPr lang="en-US" sz="1500" dirty="0"/>
          </a:p>
        </p:txBody>
      </p:sp>
      <p:sp>
        <p:nvSpPr>
          <p:cNvPr id="54" name="Text 51"/>
          <p:cNvSpPr txBox="1"/>
          <p:nvPr/>
        </p:nvSpPr>
        <p:spPr>
          <a:xfrm>
            <a:off x="548640" y="5532120"/>
            <a:ext cx="11091672" cy="685800"/>
          </a:xfrm>
          <a:prstGeom prst="rect">
            <a:avLst/>
          </a:prstGeom>
          <a:noFill/>
          <a:ln/>
        </p:spPr>
        <p:txBody>
          <a:bodyPr wrap="square" lIns="0" tIns="0" rIns="0" bIns="0" rtlCol="0" anchor="t"/>
          <a:lstStyle/>
          <a:p>
            <a:pPr indent="0" marL="0">
              <a:buNone/>
            </a:pPr>
            <a:r>
              <a:rPr lang="en-US" sz="1400" b="1" dirty="0">
                <a:solidFill>
                  <a:srgbClr val="1F1B16"/>
                </a:solidFill>
                <a:latin typeface="IBM Plex Sans" pitchFamily="34" charset="0"/>
                <a:ea typeface="IBM Plex Sans" pitchFamily="34" charset="-122"/>
                <a:cs typeface="IBM Plex Sans" pitchFamily="34" charset="-120"/>
              </a:rPr>
              <a:t>Solo B[1] y B[6] (en rojo) necesitaron ordenamiento interno, y ambas con dos elementos. </a:t>
            </a:r>
            <a:pPr indent="0" marL="0">
              <a:buNone/>
            </a:pPr>
            <a:r>
              <a:rPr lang="en-US" sz="1400" dirty="0">
                <a:solidFill>
                  <a:srgbClr val="1F1B16"/>
                </a:solidFill>
                <a:latin typeface="IBM Plex Sans" pitchFamily="34" charset="0"/>
                <a:ea typeface="IBM Plex Sans" pitchFamily="34" charset="-122"/>
                <a:cs typeface="IBM Plex Sans" pitchFamily="34" charset="-120"/>
              </a:rPr>
              <a:t>B[4] y B[5] quedaron vacías: con n = 7 el reparto no alcanza a ser perfectamente uniforme.</a:t>
            </a:r>
            <a:endParaRPr lang="en-US" sz="1400" dirty="0"/>
          </a:p>
        </p:txBody>
      </p:sp>
      <p:sp>
        <p:nvSpPr>
          <p:cNvPr id="25" name="Slide Number Placeholder 0"/>
          <p:cNvSpPr>
            <a:spLocks noGrp="1"/>
          </p:cNvSpPr>
          <p:nvPr>
            <p:ph type="sldNum" sz="quarter" idx="4294967295"/>
          </p:nvPr>
        </p:nvSpPr>
        <p:spPr>
          <a:xfrm>
            <a:off x="10725912" y="6473952"/>
            <a:ext cx="9144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657"/>
                </a:solidFill>
                <a:latin typeface="JetBrains Mono"/>
                <a:ea typeface="JetBrains Mono"/>
                <a:cs typeface="JetBrains Mon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100" spc="200" kern="0" dirty="0">
                <a:solidFill>
                  <a:srgbClr val="8C2F23"/>
                </a:solidFill>
                <a:latin typeface="JetBrains Mono" pitchFamily="34" charset="0"/>
                <a:ea typeface="JetBrains Mono" pitchFamily="34" charset="-122"/>
                <a:cs typeface="JetBrains Mono" pitchFamily="34" charset="-120"/>
              </a:rPr>
              <a:t>§ 05 · BALANCE</a:t>
            </a:r>
            <a:endParaRPr lang="en-US" sz="1100" dirty="0"/>
          </a:p>
        </p:txBody>
      </p:sp>
      <p:sp>
        <p:nvSpPr>
          <p:cNvPr id="3" name="Text 3"/>
          <p:cNvSpPr/>
          <p:nvPr>
            <p:ph idx="103" type="title" hasCustomPrompt="1"/>
          </p:nvPr>
        </p:nvSpPr>
        <p:spPr>
          <a:xfrm>
            <a:off x="548640" y="804672"/>
            <a:ext cx="11091672" cy="777240"/>
          </a:xfrm>
          <a:prstGeom prst="rect">
            <a:avLst/>
          </a:prstGeom>
          <a:noFill/>
          <a:ln/>
        </p:spPr>
        <p:txBody>
          <a:bodyPr wrap="square" lIns="0" tIns="0" rIns="0" bIns="0" rtlCol="0" anchor="t"/>
          <a:lstStyle/>
          <a:p>
            <a:pPr algn="l" indent="0" marL="0">
              <a:buNone/>
            </a:pPr>
            <a:r>
              <a:rPr lang="en-US" sz="3600" dirty="0">
                <a:solidFill>
                  <a:srgbClr val="1F1B16"/>
                </a:solidFill>
                <a:latin typeface="EB Garamond" pitchFamily="34" charset="0"/>
                <a:ea typeface="EB Garamond" pitchFamily="34" charset="-122"/>
                <a:cs typeface="EB Garamond" pitchFamily="34" charset="-120"/>
              </a:rPr>
              <a:t>Costos en tiempo de ejecución</a:t>
            </a:r>
            <a:endParaRPr lang="en-US" sz="3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1920240"/>
                <a:gridCol w="1463040"/>
                <a:gridCol w="1554480"/>
                <a:gridCol w="1554480"/>
                <a:gridCol w="1280160"/>
                <a:gridCol w="1143000"/>
                <a:gridCol w="2176272"/>
              </a:tblGrid>
              <a:tr h="457200">
                <a:tc>
                  <a:txBody>
                    <a:bodyPr/>
                    <a:lstStyle/>
                    <a:p>
                      <a:pPr indent="0" marL="0">
                        <a:buNone/>
                      </a:pPr>
                      <a:r>
                        <a:rPr lang="en-US" sz="1600" b="1" dirty="0">
                          <a:solidFill>
                            <a:srgbClr val="1F1B16"/>
                          </a:solidFill>
                          <a:latin typeface="EB Garamond" pitchFamily="34" charset="0"/>
                          <a:ea typeface="EB Garamond" pitchFamily="34" charset="-122"/>
                          <a:cs typeface="EB Garamond" pitchFamily="34" charset="-120"/>
                        </a:rPr>
                        <a:t>Algoritmo</a:t>
                      </a:r>
                      <a:endParaRPr lang="en-US" sz="1600" dirty="0">
                        <a:latin typeface="EB Garamond" charset="0"/>
                        <a:ea typeface="EB Garamond" charset="0"/>
                        <a:cs typeface="EB Garamond" charset="0"/>
                      </a:endParaRPr>
                    </a:p>
                  </a:txBody>
                  <a:tcPr marL="0" marR="73152" marT="36576" marB="36576" anchor="ctr">
                    <a:lnL w="0" cap="flat" cmpd="sng" algn="ctr">
                      <a:noFill/>
                    </a:lnL>
                    <a:lnR w="0" cap="flat" cmpd="sng" algn="ctr">
                      <a:noFill/>
                    </a:lnR>
                    <a:lnT w="0" cap="flat" cmpd="sng" algn="ctr">
                      <a:noFill/>
                    </a:lnT>
                    <a:lnB w="12700" cap="flat" cmpd="sng" algn="ctr">
                      <a:solidFill>
                        <a:srgbClr val="1F1B16"/>
                      </a:solidFill>
                      <a:prstDash val="solid"/>
                      <a:round/>
                      <a:headEnd type="none" w="med" len="med"/>
                      <a:tailEnd type="none" w="med" len="med"/>
                    </a:lnB>
                    <a:solidFill>
                      <a:srgbClr val="F4F1EA"/>
                    </a:solidFill>
                  </a:tcPr>
                </a:tc>
                <a:tc>
                  <a:txBody>
                    <a:bodyPr/>
                    <a:lstStyle/>
                    <a:p>
                      <a:pPr indent="0" marL="0">
                        <a:buNone/>
                      </a:pPr>
                      <a:r>
                        <a:rPr lang="en-US" sz="1600" b="1" dirty="0">
                          <a:solidFill>
                            <a:srgbClr val="1F1B16"/>
                          </a:solidFill>
                          <a:latin typeface="EB Garamond" pitchFamily="34" charset="0"/>
                          <a:ea typeface="EB Garamond" pitchFamily="34" charset="-122"/>
                          <a:cs typeface="EB Garamond" pitchFamily="34" charset="-120"/>
                        </a:rPr>
                        <a:t>Mejor</a:t>
                      </a:r>
                      <a:endParaRPr lang="en-US" sz="1600" dirty="0">
                        <a:latin typeface="EB Garamond" charset="0"/>
                        <a:ea typeface="EB Garamond" charset="0"/>
                        <a:cs typeface="EB Garamond" charset="0"/>
                      </a:endParaRPr>
                    </a:p>
                  </a:txBody>
                  <a:tcPr marL="0" marR="73152" marT="36576" marB="36576" anchor="ctr">
                    <a:lnL w="0" cap="flat" cmpd="sng" algn="ctr">
                      <a:noFill/>
                    </a:lnL>
                    <a:lnR w="0" cap="flat" cmpd="sng" algn="ctr">
                      <a:noFill/>
                    </a:lnR>
                    <a:lnT w="0" cap="flat" cmpd="sng" algn="ctr">
                      <a:noFill/>
                    </a:lnT>
                    <a:lnB w="12700" cap="flat" cmpd="sng" algn="ctr">
                      <a:solidFill>
                        <a:srgbClr val="1F1B16"/>
                      </a:solidFill>
                      <a:prstDash val="solid"/>
                      <a:round/>
                      <a:headEnd type="none" w="med" len="med"/>
                      <a:tailEnd type="none" w="med" len="med"/>
                    </a:lnB>
                    <a:solidFill>
                      <a:srgbClr val="F4F1EA"/>
                    </a:solidFill>
                  </a:tcPr>
                </a:tc>
                <a:tc>
                  <a:txBody>
                    <a:bodyPr/>
                    <a:lstStyle/>
                    <a:p>
                      <a:pPr indent="0" marL="0">
                        <a:buNone/>
                      </a:pPr>
                      <a:r>
                        <a:rPr lang="en-US" sz="1600" b="1" dirty="0">
                          <a:solidFill>
                            <a:srgbClr val="1F1B16"/>
                          </a:solidFill>
                          <a:latin typeface="EB Garamond" pitchFamily="34" charset="0"/>
                          <a:ea typeface="EB Garamond" pitchFamily="34" charset="-122"/>
                          <a:cs typeface="EB Garamond" pitchFamily="34" charset="-120"/>
                        </a:rPr>
                        <a:t>Promedio</a:t>
                      </a:r>
                      <a:endParaRPr lang="en-US" sz="1600" dirty="0">
                        <a:latin typeface="EB Garamond" charset="0"/>
                        <a:ea typeface="EB Garamond" charset="0"/>
                        <a:cs typeface="EB Garamond" charset="0"/>
                      </a:endParaRPr>
                    </a:p>
                  </a:txBody>
                  <a:tcPr marL="0" marR="73152" marT="36576" marB="36576" anchor="ctr">
                    <a:lnL w="0" cap="flat" cmpd="sng" algn="ctr">
                      <a:noFill/>
                    </a:lnL>
                    <a:lnR w="0" cap="flat" cmpd="sng" algn="ctr">
                      <a:noFill/>
                    </a:lnR>
                    <a:lnT w="0" cap="flat" cmpd="sng" algn="ctr">
                      <a:noFill/>
                    </a:lnT>
                    <a:lnB w="12700" cap="flat" cmpd="sng" algn="ctr">
                      <a:solidFill>
                        <a:srgbClr val="1F1B16"/>
                      </a:solidFill>
                      <a:prstDash val="solid"/>
                      <a:round/>
                      <a:headEnd type="none" w="med" len="med"/>
                      <a:tailEnd type="none" w="med" len="med"/>
                    </a:lnB>
                    <a:solidFill>
                      <a:srgbClr val="F4F1EA"/>
                    </a:solidFill>
                  </a:tcPr>
                </a:tc>
                <a:tc>
                  <a:txBody>
                    <a:bodyPr/>
                    <a:lstStyle/>
                    <a:p>
                      <a:pPr indent="0" marL="0">
                        <a:buNone/>
                      </a:pPr>
                      <a:r>
                        <a:rPr lang="en-US" sz="1600" b="1" dirty="0">
                          <a:solidFill>
                            <a:srgbClr val="1F1B16"/>
                          </a:solidFill>
                          <a:latin typeface="EB Garamond" pitchFamily="34" charset="0"/>
                          <a:ea typeface="EB Garamond" pitchFamily="34" charset="-122"/>
                          <a:cs typeface="EB Garamond" pitchFamily="34" charset="-120"/>
                        </a:rPr>
                        <a:t>Peor</a:t>
                      </a:r>
                      <a:endParaRPr lang="en-US" sz="1600" dirty="0">
                        <a:latin typeface="EB Garamond" charset="0"/>
                        <a:ea typeface="EB Garamond" charset="0"/>
                        <a:cs typeface="EB Garamond" charset="0"/>
                      </a:endParaRPr>
                    </a:p>
                  </a:txBody>
                  <a:tcPr marL="0" marR="73152" marT="36576" marB="36576" anchor="ctr">
                    <a:lnL w="0" cap="flat" cmpd="sng" algn="ctr">
                      <a:noFill/>
                    </a:lnL>
                    <a:lnR w="0" cap="flat" cmpd="sng" algn="ctr">
                      <a:noFill/>
                    </a:lnR>
                    <a:lnT w="0" cap="flat" cmpd="sng" algn="ctr">
                      <a:noFill/>
                    </a:lnT>
                    <a:lnB w="12700" cap="flat" cmpd="sng" algn="ctr">
                      <a:solidFill>
                        <a:srgbClr val="1F1B16"/>
                      </a:solidFill>
                      <a:prstDash val="solid"/>
                      <a:round/>
                      <a:headEnd type="none" w="med" len="med"/>
                      <a:tailEnd type="none" w="med" len="med"/>
                    </a:lnB>
                    <a:solidFill>
                      <a:srgbClr val="F4F1EA"/>
                    </a:solidFill>
                  </a:tcPr>
                </a:tc>
                <a:tc>
                  <a:txBody>
                    <a:bodyPr/>
                    <a:lstStyle/>
                    <a:p>
                      <a:pPr indent="0" marL="0">
                        <a:buNone/>
                      </a:pPr>
                      <a:r>
                        <a:rPr lang="en-US" sz="1600" b="1" dirty="0">
                          <a:solidFill>
                            <a:srgbClr val="1F1B16"/>
                          </a:solidFill>
                          <a:latin typeface="EB Garamond" pitchFamily="34" charset="0"/>
                          <a:ea typeface="EB Garamond" pitchFamily="34" charset="-122"/>
                          <a:cs typeface="EB Garamond" pitchFamily="34" charset="-120"/>
                        </a:rPr>
                        <a:t>Memoria</a:t>
                      </a:r>
                      <a:endParaRPr lang="en-US" sz="1600" dirty="0">
                        <a:latin typeface="EB Garamond" charset="0"/>
                        <a:ea typeface="EB Garamond" charset="0"/>
                        <a:cs typeface="EB Garamond" charset="0"/>
                      </a:endParaRPr>
                    </a:p>
                  </a:txBody>
                  <a:tcPr marL="0" marR="73152" marT="36576" marB="36576" anchor="ctr">
                    <a:lnL w="0" cap="flat" cmpd="sng" algn="ctr">
                      <a:noFill/>
                    </a:lnL>
                    <a:lnR w="0" cap="flat" cmpd="sng" algn="ctr">
                      <a:noFill/>
                    </a:lnR>
                    <a:lnT w="0" cap="flat" cmpd="sng" algn="ctr">
                      <a:noFill/>
                    </a:lnT>
                    <a:lnB w="12700" cap="flat" cmpd="sng" algn="ctr">
                      <a:solidFill>
                        <a:srgbClr val="1F1B16"/>
                      </a:solidFill>
                      <a:prstDash val="solid"/>
                      <a:round/>
                      <a:headEnd type="none" w="med" len="med"/>
                      <a:tailEnd type="none" w="med" len="med"/>
                    </a:lnB>
                    <a:solidFill>
                      <a:srgbClr val="F4F1EA"/>
                    </a:solidFill>
                  </a:tcPr>
                </a:tc>
                <a:tc>
                  <a:txBody>
                    <a:bodyPr/>
                    <a:lstStyle/>
                    <a:p>
                      <a:pPr indent="0" marL="0">
                        <a:buNone/>
                      </a:pPr>
                      <a:r>
                        <a:rPr lang="en-US" sz="1600" b="1" dirty="0">
                          <a:solidFill>
                            <a:srgbClr val="1F1B16"/>
                          </a:solidFill>
                          <a:latin typeface="EB Garamond" pitchFamily="34" charset="0"/>
                          <a:ea typeface="EB Garamond" pitchFamily="34" charset="-122"/>
                          <a:cs typeface="EB Garamond" pitchFamily="34" charset="-120"/>
                        </a:rPr>
                        <a:t>Estable</a:t>
                      </a:r>
                      <a:endParaRPr lang="en-US" sz="1600" dirty="0">
                        <a:latin typeface="EB Garamond" charset="0"/>
                        <a:ea typeface="EB Garamond" charset="0"/>
                        <a:cs typeface="EB Garamond" charset="0"/>
                      </a:endParaRPr>
                    </a:p>
                  </a:txBody>
                  <a:tcPr marL="0" marR="73152" marT="36576" marB="36576" anchor="ctr">
                    <a:lnL w="0" cap="flat" cmpd="sng" algn="ctr">
                      <a:noFill/>
                    </a:lnL>
                    <a:lnR w="0" cap="flat" cmpd="sng" algn="ctr">
                      <a:noFill/>
                    </a:lnR>
                    <a:lnT w="0" cap="flat" cmpd="sng" algn="ctr">
                      <a:noFill/>
                    </a:lnT>
                    <a:lnB w="12700" cap="flat" cmpd="sng" algn="ctr">
                      <a:solidFill>
                        <a:srgbClr val="1F1B16"/>
                      </a:solidFill>
                      <a:prstDash val="solid"/>
                      <a:round/>
                      <a:headEnd type="none" w="med" len="med"/>
                      <a:tailEnd type="none" w="med" len="med"/>
                    </a:lnB>
                    <a:solidFill>
                      <a:srgbClr val="F4F1EA"/>
                    </a:solidFill>
                  </a:tcPr>
                </a:tc>
                <a:tc>
                  <a:txBody>
                    <a:bodyPr/>
                    <a:lstStyle/>
                    <a:p>
                      <a:pPr indent="0" marL="0">
                        <a:buNone/>
                      </a:pPr>
                      <a:r>
                        <a:rPr lang="en-US" sz="1600" b="1" dirty="0">
                          <a:solidFill>
                            <a:srgbClr val="1F1B16"/>
                          </a:solidFill>
                          <a:latin typeface="EB Garamond" pitchFamily="34" charset="0"/>
                          <a:ea typeface="EB Garamond" pitchFamily="34" charset="-122"/>
                          <a:cs typeface="EB Garamond" pitchFamily="34" charset="-120"/>
                        </a:rPr>
                        <a:t>Con n = 7</a:t>
                      </a:r>
                      <a:endParaRPr lang="en-US" sz="1600" dirty="0">
                        <a:latin typeface="EB Garamond" charset="0"/>
                        <a:ea typeface="EB Garamond" charset="0"/>
                        <a:cs typeface="EB Garamond" charset="0"/>
                      </a:endParaRPr>
                    </a:p>
                  </a:txBody>
                  <a:tcPr marL="0" marR="73152" marT="36576" marB="36576" anchor="ctr">
                    <a:lnL w="0" cap="flat" cmpd="sng" algn="ctr">
                      <a:noFill/>
                    </a:lnL>
                    <a:lnR w="0" cap="flat" cmpd="sng" algn="ctr">
                      <a:noFill/>
                    </a:lnR>
                    <a:lnT w="0" cap="flat" cmpd="sng" algn="ctr">
                      <a:noFill/>
                    </a:lnT>
                    <a:lnB w="12700" cap="flat" cmpd="sng" algn="ctr">
                      <a:solidFill>
                        <a:srgbClr val="1F1B16"/>
                      </a:solidFill>
                      <a:prstDash val="solid"/>
                      <a:round/>
                      <a:headEnd type="none" w="med" len="med"/>
                      <a:tailEnd type="none" w="med" len="med"/>
                    </a:lnB>
                    <a:solidFill>
                      <a:srgbClr val="F4F1EA"/>
                    </a:solidFill>
                  </a:tcPr>
                </a:tc>
              </a:tr>
              <a:tr h="502920">
                <a:tc>
                  <a:txBody>
                    <a:bodyPr/>
                    <a:lstStyle/>
                    <a:p>
                      <a:pPr indent="0" marL="0">
                        <a:buNone/>
                      </a:pPr>
                      <a:r>
                        <a:rPr lang="en-US" sz="1400" dirty="0">
                          <a:solidFill>
                            <a:srgbClr val="1F1B16"/>
                          </a:solidFill>
                          <a:latin typeface="EB Garamond" pitchFamily="34" charset="0"/>
                          <a:ea typeface="EB Garamond" pitchFamily="34" charset="-122"/>
                          <a:cs typeface="EB Garamond" pitchFamily="34" charset="-120"/>
                        </a:rPr>
                        <a:t>Counting sort</a:t>
                      </a:r>
                      <a:endParaRPr lang="en-US" sz="1400" dirty="0">
                        <a:latin typeface="EB Garamond" charset="0"/>
                        <a:ea typeface="EB Garamond" charset="0"/>
                        <a:cs typeface="EB Garamond"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300" dirty="0">
                          <a:solidFill>
                            <a:srgbClr val="1F1B16"/>
                          </a:solidFill>
                          <a:latin typeface="JetBrains Mono" pitchFamily="34" charset="0"/>
                          <a:ea typeface="JetBrains Mono" pitchFamily="34" charset="-122"/>
                          <a:cs typeface="JetBrains Mono" pitchFamily="34" charset="-120"/>
                        </a:rPr>
                        <a:t>Θ(n+k)</a:t>
                      </a:r>
                      <a:endParaRPr lang="en-US" sz="1300" dirty="0">
                        <a:latin typeface="JetBrains Mono" charset="0"/>
                        <a:ea typeface="JetBrains Mono" charset="0"/>
                        <a:cs typeface="JetBrains Mono"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300" dirty="0">
                          <a:solidFill>
                            <a:srgbClr val="1F1B16"/>
                          </a:solidFill>
                          <a:latin typeface="JetBrains Mono" pitchFamily="34" charset="0"/>
                          <a:ea typeface="JetBrains Mono" pitchFamily="34" charset="-122"/>
                          <a:cs typeface="JetBrains Mono" pitchFamily="34" charset="-120"/>
                        </a:rPr>
                        <a:t>Θ(n+k)</a:t>
                      </a:r>
                      <a:endParaRPr lang="en-US" sz="1300" dirty="0">
                        <a:latin typeface="JetBrains Mono" charset="0"/>
                        <a:ea typeface="JetBrains Mono" charset="0"/>
                        <a:cs typeface="JetBrains Mono"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300" dirty="0">
                          <a:solidFill>
                            <a:srgbClr val="1F1B16"/>
                          </a:solidFill>
                          <a:latin typeface="JetBrains Mono" pitchFamily="34" charset="0"/>
                          <a:ea typeface="JetBrains Mono" pitchFamily="34" charset="-122"/>
                          <a:cs typeface="JetBrains Mono" pitchFamily="34" charset="-120"/>
                        </a:rPr>
                        <a:t>Θ(n+k)</a:t>
                      </a:r>
                      <a:endParaRPr lang="en-US" sz="1300" dirty="0">
                        <a:latin typeface="JetBrains Mono" charset="0"/>
                        <a:ea typeface="JetBrains Mono" charset="0"/>
                        <a:cs typeface="JetBrains Mono"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300" dirty="0">
                          <a:solidFill>
                            <a:srgbClr val="1F1B16"/>
                          </a:solidFill>
                          <a:latin typeface="JetBrains Mono" pitchFamily="34" charset="0"/>
                          <a:ea typeface="JetBrains Mono" pitchFamily="34" charset="-122"/>
                          <a:cs typeface="JetBrains Mono" pitchFamily="34" charset="-120"/>
                        </a:rPr>
                        <a:t>Θ(n+k)</a:t>
                      </a:r>
                      <a:endParaRPr lang="en-US" sz="1300" dirty="0">
                        <a:latin typeface="JetBrains Mono" charset="0"/>
                        <a:ea typeface="JetBrains Mono" charset="0"/>
                        <a:cs typeface="JetBrains Mono"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400" dirty="0">
                          <a:solidFill>
                            <a:srgbClr val="1F1B16"/>
                          </a:solidFill>
                          <a:latin typeface="IBM Plex Sans" pitchFamily="34" charset="0"/>
                          <a:ea typeface="IBM Plex Sans" pitchFamily="34" charset="-122"/>
                          <a:cs typeface="IBM Plex Sans" pitchFamily="34" charset="-120"/>
                        </a:rPr>
                        <a:t>Sí</a:t>
                      </a:r>
                      <a:endParaRPr lang="en-US" sz="1400" dirty="0">
                        <a:latin typeface="IBM Plex Sans" charset="0"/>
                        <a:ea typeface="IBM Plex Sans" charset="0"/>
                        <a:cs typeface="IBM Plex Sans"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300" b="1" dirty="0">
                          <a:solidFill>
                            <a:srgbClr val="8C2F23"/>
                          </a:solidFill>
                          <a:latin typeface="JetBrains Mono" pitchFamily="34" charset="0"/>
                          <a:ea typeface="JetBrains Mono" pitchFamily="34" charset="-122"/>
                          <a:cs typeface="JetBrains Mono" pitchFamily="34" charset="-120"/>
                        </a:rPr>
                        <a:t>n+k+1 = 108</a:t>
                      </a:r>
                      <a:endParaRPr lang="en-US" sz="1300" dirty="0">
                        <a:latin typeface="JetBrains Mono" charset="0"/>
                        <a:ea typeface="JetBrains Mono" charset="0"/>
                        <a:cs typeface="JetBrains Mono"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r>
              <a:tr h="502920">
                <a:tc>
                  <a:txBody>
                    <a:bodyPr/>
                    <a:lstStyle/>
                    <a:p>
                      <a:pPr indent="0" marL="0">
                        <a:buNone/>
                      </a:pPr>
                      <a:r>
                        <a:rPr lang="en-US" sz="1400" dirty="0">
                          <a:solidFill>
                            <a:srgbClr val="1F1B16"/>
                          </a:solidFill>
                          <a:latin typeface="EB Garamond" pitchFamily="34" charset="0"/>
                          <a:ea typeface="EB Garamond" pitchFamily="34" charset="-122"/>
                          <a:cs typeface="EB Garamond" pitchFamily="34" charset="-120"/>
                        </a:rPr>
                        <a:t>Radix sort (LSD)</a:t>
                      </a:r>
                      <a:endParaRPr lang="en-US" sz="1400" dirty="0">
                        <a:latin typeface="EB Garamond" charset="0"/>
                        <a:ea typeface="EB Garamond" charset="0"/>
                        <a:cs typeface="EB Garamond"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300" dirty="0">
                          <a:solidFill>
                            <a:srgbClr val="1F1B16"/>
                          </a:solidFill>
                          <a:latin typeface="JetBrains Mono" pitchFamily="34" charset="0"/>
                          <a:ea typeface="JetBrains Mono" pitchFamily="34" charset="-122"/>
                          <a:cs typeface="JetBrains Mono" pitchFamily="34" charset="-120"/>
                        </a:rPr>
                        <a:t>Θ(d(n+b))</a:t>
                      </a:r>
                      <a:endParaRPr lang="en-US" sz="1300" dirty="0">
                        <a:latin typeface="JetBrains Mono" charset="0"/>
                        <a:ea typeface="JetBrains Mono" charset="0"/>
                        <a:cs typeface="JetBrains Mono"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300" dirty="0">
                          <a:solidFill>
                            <a:srgbClr val="1F1B16"/>
                          </a:solidFill>
                          <a:latin typeface="JetBrains Mono" pitchFamily="34" charset="0"/>
                          <a:ea typeface="JetBrains Mono" pitchFamily="34" charset="-122"/>
                          <a:cs typeface="JetBrains Mono" pitchFamily="34" charset="-120"/>
                        </a:rPr>
                        <a:t>Θ(d(n+b))</a:t>
                      </a:r>
                      <a:endParaRPr lang="en-US" sz="1300" dirty="0">
                        <a:latin typeface="JetBrains Mono" charset="0"/>
                        <a:ea typeface="JetBrains Mono" charset="0"/>
                        <a:cs typeface="JetBrains Mono"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300" dirty="0">
                          <a:solidFill>
                            <a:srgbClr val="1F1B16"/>
                          </a:solidFill>
                          <a:latin typeface="JetBrains Mono" pitchFamily="34" charset="0"/>
                          <a:ea typeface="JetBrains Mono" pitchFamily="34" charset="-122"/>
                          <a:cs typeface="JetBrains Mono" pitchFamily="34" charset="-120"/>
                        </a:rPr>
                        <a:t>Θ(d(n+b))</a:t>
                      </a:r>
                      <a:endParaRPr lang="en-US" sz="1300" dirty="0">
                        <a:latin typeface="JetBrains Mono" charset="0"/>
                        <a:ea typeface="JetBrains Mono" charset="0"/>
                        <a:cs typeface="JetBrains Mono"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300" dirty="0">
                          <a:solidFill>
                            <a:srgbClr val="1F1B16"/>
                          </a:solidFill>
                          <a:latin typeface="JetBrains Mono" pitchFamily="34" charset="0"/>
                          <a:ea typeface="JetBrains Mono" pitchFamily="34" charset="-122"/>
                          <a:cs typeface="JetBrains Mono" pitchFamily="34" charset="-120"/>
                        </a:rPr>
                        <a:t>Θ(n+b)</a:t>
                      </a:r>
                      <a:endParaRPr lang="en-US" sz="1300" dirty="0">
                        <a:latin typeface="JetBrains Mono" charset="0"/>
                        <a:ea typeface="JetBrains Mono" charset="0"/>
                        <a:cs typeface="JetBrains Mono"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400" dirty="0">
                          <a:solidFill>
                            <a:srgbClr val="1F1B16"/>
                          </a:solidFill>
                          <a:latin typeface="IBM Plex Sans" pitchFamily="34" charset="0"/>
                          <a:ea typeface="IBM Plex Sans" pitchFamily="34" charset="-122"/>
                          <a:cs typeface="IBM Plex Sans" pitchFamily="34" charset="-120"/>
                        </a:rPr>
                        <a:t>Sí</a:t>
                      </a:r>
                      <a:endParaRPr lang="en-US" sz="1400" dirty="0">
                        <a:latin typeface="IBM Plex Sans" charset="0"/>
                        <a:ea typeface="IBM Plex Sans" charset="0"/>
                        <a:cs typeface="IBM Plex Sans"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300" b="1" dirty="0">
                          <a:solidFill>
                            <a:srgbClr val="1F1B16"/>
                          </a:solidFill>
                          <a:latin typeface="JetBrains Mono" pitchFamily="34" charset="0"/>
                          <a:ea typeface="JetBrains Mono" pitchFamily="34" charset="-122"/>
                          <a:cs typeface="JetBrains Mono" pitchFamily="34" charset="-120"/>
                        </a:rPr>
                        <a:t>d(n+b) = 51</a:t>
                      </a:r>
                      <a:endParaRPr lang="en-US" sz="1300" dirty="0">
                        <a:latin typeface="JetBrains Mono" charset="0"/>
                        <a:ea typeface="JetBrains Mono" charset="0"/>
                        <a:cs typeface="JetBrains Mono"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r>
              <a:tr h="502920">
                <a:tc>
                  <a:txBody>
                    <a:bodyPr/>
                    <a:lstStyle/>
                    <a:p>
                      <a:pPr indent="0" marL="0">
                        <a:buNone/>
                      </a:pPr>
                      <a:r>
                        <a:rPr lang="en-US" sz="1400" dirty="0">
                          <a:solidFill>
                            <a:srgbClr val="1F1B16"/>
                          </a:solidFill>
                          <a:latin typeface="EB Garamond" pitchFamily="34" charset="0"/>
                          <a:ea typeface="EB Garamond" pitchFamily="34" charset="-122"/>
                          <a:cs typeface="EB Garamond" pitchFamily="34" charset="-120"/>
                        </a:rPr>
                        <a:t>Bucket sort</a:t>
                      </a:r>
                      <a:endParaRPr lang="en-US" sz="1400" dirty="0">
                        <a:latin typeface="EB Garamond" charset="0"/>
                        <a:ea typeface="EB Garamond" charset="0"/>
                        <a:cs typeface="EB Garamond" charset="0"/>
                      </a:endParaRPr>
                    </a:p>
                  </a:txBody>
                  <a:tcPr marL="0" marR="73152" marT="36576" marB="36576" anchor="ctr">
                    <a:lnL w="0" cap="flat" cmpd="sng" algn="ctr">
                      <a:noFill/>
                    </a:lnL>
                    <a:lnR w="0" cap="flat" cmpd="sng" algn="ctr">
                      <a:noFill/>
                    </a:lnR>
                    <a:lnT w="0" cap="flat" cmpd="sng" algn="ctr">
                      <a:noFill/>
                    </a:lnT>
                    <a:lnB w="9525" cap="flat" cmpd="sng" algn="ctr">
                      <a:solidFill>
                        <a:srgbClr val="1F1B16"/>
                      </a:solidFill>
                      <a:prstDash val="solid"/>
                      <a:round/>
                      <a:headEnd type="none" w="med" len="med"/>
                      <a:tailEnd type="none" w="med" len="med"/>
                    </a:lnB>
                    <a:solidFill>
                      <a:srgbClr val="F4F1EA"/>
                    </a:solidFill>
                  </a:tcPr>
                </a:tc>
                <a:tc>
                  <a:txBody>
                    <a:bodyPr/>
                    <a:lstStyle/>
                    <a:p>
                      <a:pPr indent="0" marL="0">
                        <a:buNone/>
                      </a:pPr>
                      <a:r>
                        <a:rPr lang="en-US" sz="1300" dirty="0">
                          <a:solidFill>
                            <a:srgbClr val="1F1B16"/>
                          </a:solidFill>
                          <a:latin typeface="JetBrains Mono" pitchFamily="34" charset="0"/>
                          <a:ea typeface="JetBrains Mono" pitchFamily="34" charset="-122"/>
                          <a:cs typeface="JetBrains Mono" pitchFamily="34" charset="-120"/>
                        </a:rPr>
                        <a:t>Θ(n)</a:t>
                      </a:r>
                      <a:endParaRPr lang="en-US" sz="1300" dirty="0">
                        <a:latin typeface="JetBrains Mono" charset="0"/>
                        <a:ea typeface="JetBrains Mono" charset="0"/>
                        <a:cs typeface="JetBrains Mono" charset="0"/>
                      </a:endParaRPr>
                    </a:p>
                  </a:txBody>
                  <a:tcPr marL="0" marR="73152" marT="36576" marB="36576" anchor="ctr">
                    <a:lnL w="0" cap="flat" cmpd="sng" algn="ctr">
                      <a:noFill/>
                    </a:lnL>
                    <a:lnR w="0" cap="flat" cmpd="sng" algn="ctr">
                      <a:noFill/>
                    </a:lnR>
                    <a:lnT w="0" cap="flat" cmpd="sng" algn="ctr">
                      <a:noFill/>
                    </a:lnT>
                    <a:lnB w="9525" cap="flat" cmpd="sng" algn="ctr">
                      <a:solidFill>
                        <a:srgbClr val="1F1B16"/>
                      </a:solidFill>
                      <a:prstDash val="solid"/>
                      <a:round/>
                      <a:headEnd type="none" w="med" len="med"/>
                      <a:tailEnd type="none" w="med" len="med"/>
                    </a:lnB>
                    <a:solidFill>
                      <a:srgbClr val="F4F1EA"/>
                    </a:solidFill>
                  </a:tcPr>
                </a:tc>
                <a:tc>
                  <a:txBody>
                    <a:bodyPr/>
                    <a:lstStyle/>
                    <a:p>
                      <a:pPr indent="0" marL="0">
                        <a:buNone/>
                      </a:pPr>
                      <a:r>
                        <a:rPr lang="en-US" sz="1300" dirty="0">
                          <a:solidFill>
                            <a:srgbClr val="1F1B16"/>
                          </a:solidFill>
                          <a:latin typeface="JetBrains Mono" pitchFamily="34" charset="0"/>
                          <a:ea typeface="JetBrains Mono" pitchFamily="34" charset="-122"/>
                          <a:cs typeface="JetBrains Mono" pitchFamily="34" charset="-120"/>
                        </a:rPr>
                        <a:t>Θ(n)</a:t>
                      </a:r>
                      <a:endParaRPr lang="en-US" sz="1300" dirty="0">
                        <a:latin typeface="JetBrains Mono" charset="0"/>
                        <a:ea typeface="JetBrains Mono" charset="0"/>
                        <a:cs typeface="JetBrains Mono" charset="0"/>
                      </a:endParaRPr>
                    </a:p>
                  </a:txBody>
                  <a:tcPr marL="0" marR="73152" marT="36576" marB="36576" anchor="ctr">
                    <a:lnL w="0" cap="flat" cmpd="sng" algn="ctr">
                      <a:noFill/>
                    </a:lnL>
                    <a:lnR w="0" cap="flat" cmpd="sng" algn="ctr">
                      <a:noFill/>
                    </a:lnR>
                    <a:lnT w="0" cap="flat" cmpd="sng" algn="ctr">
                      <a:noFill/>
                    </a:lnT>
                    <a:lnB w="9525" cap="flat" cmpd="sng" algn="ctr">
                      <a:solidFill>
                        <a:srgbClr val="1F1B16"/>
                      </a:solidFill>
                      <a:prstDash val="solid"/>
                      <a:round/>
                      <a:headEnd type="none" w="med" len="med"/>
                      <a:tailEnd type="none" w="med" len="med"/>
                    </a:lnB>
                    <a:solidFill>
                      <a:srgbClr val="F4F1EA"/>
                    </a:solidFill>
                  </a:tcPr>
                </a:tc>
                <a:tc>
                  <a:txBody>
                    <a:bodyPr/>
                    <a:lstStyle/>
                    <a:p>
                      <a:pPr indent="0" marL="0">
                        <a:buNone/>
                      </a:pPr>
                      <a:r>
                        <a:rPr lang="en-US" sz="1300" b="1" dirty="0">
                          <a:solidFill>
                            <a:srgbClr val="8C2F23"/>
                          </a:solidFill>
                          <a:latin typeface="JetBrains Mono" pitchFamily="34" charset="0"/>
                          <a:ea typeface="JetBrains Mono" pitchFamily="34" charset="-122"/>
                          <a:cs typeface="JetBrains Mono" pitchFamily="34" charset="-120"/>
                        </a:rPr>
                        <a:t>Θ(n²)</a:t>
                      </a:r>
                      <a:endParaRPr lang="en-US" sz="1300" dirty="0">
                        <a:latin typeface="JetBrains Mono" charset="0"/>
                        <a:ea typeface="JetBrains Mono" charset="0"/>
                        <a:cs typeface="JetBrains Mono" charset="0"/>
                      </a:endParaRPr>
                    </a:p>
                  </a:txBody>
                  <a:tcPr marL="0" marR="73152" marT="36576" marB="36576" anchor="ctr">
                    <a:lnL w="0" cap="flat" cmpd="sng" algn="ctr">
                      <a:noFill/>
                    </a:lnL>
                    <a:lnR w="0" cap="flat" cmpd="sng" algn="ctr">
                      <a:noFill/>
                    </a:lnR>
                    <a:lnT w="0" cap="flat" cmpd="sng" algn="ctr">
                      <a:noFill/>
                    </a:lnT>
                    <a:lnB w="9525" cap="flat" cmpd="sng" algn="ctr">
                      <a:solidFill>
                        <a:srgbClr val="1F1B16"/>
                      </a:solidFill>
                      <a:prstDash val="solid"/>
                      <a:round/>
                      <a:headEnd type="none" w="med" len="med"/>
                      <a:tailEnd type="none" w="med" len="med"/>
                    </a:lnB>
                    <a:solidFill>
                      <a:srgbClr val="F4F1EA"/>
                    </a:solidFill>
                  </a:tcPr>
                </a:tc>
                <a:tc>
                  <a:txBody>
                    <a:bodyPr/>
                    <a:lstStyle/>
                    <a:p>
                      <a:pPr indent="0" marL="0">
                        <a:buNone/>
                      </a:pPr>
                      <a:r>
                        <a:rPr lang="en-US" sz="1300" dirty="0">
                          <a:solidFill>
                            <a:srgbClr val="1F1B16"/>
                          </a:solidFill>
                          <a:latin typeface="JetBrains Mono" pitchFamily="34" charset="0"/>
                          <a:ea typeface="JetBrains Mono" pitchFamily="34" charset="-122"/>
                          <a:cs typeface="JetBrains Mono" pitchFamily="34" charset="-120"/>
                        </a:rPr>
                        <a:t>Θ(n+m)</a:t>
                      </a:r>
                      <a:endParaRPr lang="en-US" sz="1300" dirty="0">
                        <a:latin typeface="JetBrains Mono" charset="0"/>
                        <a:ea typeface="JetBrains Mono" charset="0"/>
                        <a:cs typeface="JetBrains Mono" charset="0"/>
                      </a:endParaRPr>
                    </a:p>
                  </a:txBody>
                  <a:tcPr marL="0" marR="73152" marT="36576" marB="36576" anchor="ctr">
                    <a:lnL w="0" cap="flat" cmpd="sng" algn="ctr">
                      <a:noFill/>
                    </a:lnL>
                    <a:lnR w="0" cap="flat" cmpd="sng" algn="ctr">
                      <a:noFill/>
                    </a:lnR>
                    <a:lnT w="0" cap="flat" cmpd="sng" algn="ctr">
                      <a:noFill/>
                    </a:lnT>
                    <a:lnB w="9525" cap="flat" cmpd="sng" algn="ctr">
                      <a:solidFill>
                        <a:srgbClr val="1F1B16"/>
                      </a:solidFill>
                      <a:prstDash val="solid"/>
                      <a:round/>
                      <a:headEnd type="none" w="med" len="med"/>
                      <a:tailEnd type="none" w="med" len="med"/>
                    </a:lnB>
                    <a:solidFill>
                      <a:srgbClr val="F4F1EA"/>
                    </a:solidFill>
                  </a:tcPr>
                </a:tc>
                <a:tc>
                  <a:txBody>
                    <a:bodyPr/>
                    <a:lstStyle/>
                    <a:p>
                      <a:pPr indent="0" marL="0">
                        <a:buNone/>
                      </a:pPr>
                      <a:r>
                        <a:rPr lang="en-US" sz="1400" dirty="0">
                          <a:solidFill>
                            <a:srgbClr val="1F1B16"/>
                          </a:solidFill>
                          <a:latin typeface="IBM Plex Sans" pitchFamily="34" charset="0"/>
                          <a:ea typeface="IBM Plex Sans" pitchFamily="34" charset="-122"/>
                          <a:cs typeface="IBM Plex Sans" pitchFamily="34" charset="-120"/>
                        </a:rPr>
                        <a:t>Sí</a:t>
                      </a:r>
                      <a:endParaRPr lang="en-US" sz="1400" dirty="0">
                        <a:latin typeface="IBM Plex Sans" charset="0"/>
                        <a:ea typeface="IBM Plex Sans" charset="0"/>
                        <a:cs typeface="IBM Plex Sans" charset="0"/>
                      </a:endParaRPr>
                    </a:p>
                  </a:txBody>
                  <a:tcPr marL="0" marR="73152" marT="36576" marB="36576" anchor="ctr">
                    <a:lnL w="0" cap="flat" cmpd="sng" algn="ctr">
                      <a:noFill/>
                    </a:lnL>
                    <a:lnR w="0" cap="flat" cmpd="sng" algn="ctr">
                      <a:noFill/>
                    </a:lnR>
                    <a:lnT w="0" cap="flat" cmpd="sng" algn="ctr">
                      <a:noFill/>
                    </a:lnT>
                    <a:lnB w="9525" cap="flat" cmpd="sng" algn="ctr">
                      <a:solidFill>
                        <a:srgbClr val="1F1B16"/>
                      </a:solidFill>
                      <a:prstDash val="solid"/>
                      <a:round/>
                      <a:headEnd type="none" w="med" len="med"/>
                      <a:tailEnd type="none" w="med" len="med"/>
                    </a:lnB>
                    <a:solidFill>
                      <a:srgbClr val="F4F1EA"/>
                    </a:solidFill>
                  </a:tcPr>
                </a:tc>
                <a:tc>
                  <a:txBody>
                    <a:bodyPr/>
                    <a:lstStyle/>
                    <a:p>
                      <a:pPr indent="0" marL="0">
                        <a:buNone/>
                      </a:pPr>
                      <a:r>
                        <a:rPr lang="en-US" sz="1300" b="1" dirty="0">
                          <a:solidFill>
                            <a:srgbClr val="2F5D50"/>
                          </a:solidFill>
                          <a:latin typeface="JetBrains Mono" pitchFamily="34" charset="0"/>
                          <a:ea typeface="JetBrains Mono" pitchFamily="34" charset="-122"/>
                          <a:cs typeface="JetBrains Mono" pitchFamily="34" charset="-120"/>
                        </a:rPr>
                        <a:t>n+m = 14</a:t>
                      </a:r>
                      <a:endParaRPr lang="en-US" sz="1300" dirty="0">
                        <a:latin typeface="JetBrains Mono" charset="0"/>
                        <a:ea typeface="JetBrains Mono" charset="0"/>
                        <a:cs typeface="JetBrains Mono" charset="0"/>
                      </a:endParaRPr>
                    </a:p>
                  </a:txBody>
                  <a:tcPr marL="0" marR="73152" marT="36576" marB="36576" anchor="ctr">
                    <a:lnL w="0" cap="flat" cmpd="sng" algn="ctr">
                      <a:noFill/>
                    </a:lnL>
                    <a:lnR w="0" cap="flat" cmpd="sng" algn="ctr">
                      <a:noFill/>
                    </a:lnR>
                    <a:lnT w="0" cap="flat" cmpd="sng" algn="ctr">
                      <a:noFill/>
                    </a:lnT>
                    <a:lnB w="9525" cap="flat" cmpd="sng" algn="ctr">
                      <a:solidFill>
                        <a:srgbClr val="1F1B16"/>
                      </a:solidFill>
                      <a:prstDash val="solid"/>
                      <a:round/>
                      <a:headEnd type="none" w="med" len="med"/>
                      <a:tailEnd type="none" w="med" len="med"/>
                    </a:lnB>
                    <a:solidFill>
                      <a:srgbClr val="F4F1EA"/>
                    </a:solidFill>
                  </a:tcPr>
                </a:tc>
              </a:tr>
            </a:tbl>
          </a:graphicData>
        </a:graphic>
      </p:graphicFrame>
      <p:sp>
        <p:nvSpPr>
          <p:cNvPr id="6" name="Text 2"/>
          <p:cNvSpPr txBox="1"/>
          <p:nvPr/>
        </p:nvSpPr>
        <p:spPr>
          <a:xfrm>
            <a:off x="548640" y="3931920"/>
            <a:ext cx="11091672" cy="594360"/>
          </a:xfrm>
          <a:prstGeom prst="rect">
            <a:avLst/>
          </a:prstGeom>
          <a:noFill/>
          <a:ln/>
        </p:spPr>
        <p:txBody>
          <a:bodyPr wrap="square" lIns="0" tIns="0" rIns="0" bIns="0" rtlCol="0" anchor="t"/>
          <a:lstStyle/>
          <a:p>
            <a:pPr indent="0" marL="0">
              <a:buNone/>
            </a:pPr>
            <a:r>
              <a:rPr lang="en-US" sz="1300" dirty="0">
                <a:solidFill>
                  <a:srgbClr val="6E6657"/>
                </a:solidFill>
                <a:latin typeface="IBM Plex Sans" pitchFamily="34" charset="0"/>
                <a:ea typeface="IBM Plex Sans" pitchFamily="34" charset="-122"/>
                <a:cs typeface="IBM Plex Sans" pitchFamily="34" charset="-120"/>
              </a:rPr>
              <a:t>Counting y Radix no tienen mejor ni peor caso: hacen el mismo trabajo con datos ordenados, invertidos o al azar, porque nunca miran la relación entre dos elementos. Columna «Con n = 7»: unidades de trabajo sin constantes (k = 100, d = 3, b = 10, m = 7).</a:t>
            </a:r>
            <a:endParaRPr lang="en-US" sz="1300" dirty="0"/>
          </a:p>
        </p:txBody>
      </p:sp>
      <p:sp>
        <p:nvSpPr>
          <p:cNvPr id="7" name="Shape 3"/>
          <p:cNvSpPr/>
          <p:nvPr/>
        </p:nvSpPr>
        <p:spPr>
          <a:xfrm>
            <a:off x="548640" y="4617720"/>
            <a:ext cx="11091672" cy="0"/>
          </a:xfrm>
          <a:prstGeom prst="line">
            <a:avLst/>
          </a:prstGeom>
          <a:noFill/>
          <a:ln w="6350">
            <a:solidFill>
              <a:srgbClr val="B5AD9B"/>
            </a:solidFill>
            <a:prstDash val="solid"/>
          </a:ln>
        </p:spPr>
      </p:sp>
      <p:sp>
        <p:nvSpPr>
          <p:cNvPr id="8" name="Text 4"/>
          <p:cNvSpPr txBox="1"/>
          <p:nvPr/>
        </p:nvSpPr>
        <p:spPr>
          <a:xfrm>
            <a:off x="548640" y="4672584"/>
            <a:ext cx="11091672" cy="475488"/>
          </a:xfrm>
          <a:prstGeom prst="rect">
            <a:avLst/>
          </a:prstGeom>
          <a:noFill/>
          <a:ln/>
        </p:spPr>
        <p:txBody>
          <a:bodyPr wrap="square" lIns="0" tIns="0" rIns="0" bIns="0" rtlCol="0" anchor="t"/>
          <a:lstStyle/>
          <a:p>
            <a:pPr indent="0" marL="0">
              <a:buNone/>
            </a:pPr>
            <a:r>
              <a:rPr lang="en-US" sz="1300" b="1" dirty="0">
                <a:solidFill>
                  <a:srgbClr val="8C2F23"/>
                </a:solidFill>
                <a:latin typeface="IBM Plex Sans" pitchFamily="34" charset="0"/>
                <a:ea typeface="IBM Plex Sans" pitchFamily="34" charset="-122"/>
                <a:cs typeface="IBM Plex Sans" pitchFamily="34" charset="-120"/>
              </a:rPr>
              <a:t>k · el rango. </a:t>
            </a:r>
            <a:pPr indent="0" marL="0">
              <a:buNone/>
            </a:pPr>
            <a:r>
              <a:rPr lang="en-US" sz="1300" dirty="0">
                <a:solidFill>
                  <a:srgbClr val="1F1B16"/>
                </a:solidFill>
                <a:latin typeface="IBM Plex Sans" pitchFamily="34" charset="0"/>
                <a:ea typeface="IBM Plex Sans" pitchFamily="34" charset="-122"/>
                <a:cs typeface="IBM Plex Sans" pitchFamily="34" charset="-120"/>
              </a:rPr>
              <a:t>Valor máximo de la clave. Counting sort es lineal solo si k = O(n); con n = 1 000 y k = 10⁶ es unas cien veces peor que mergesort.</a:t>
            </a:r>
            <a:endParaRPr lang="en-US" sz="1300" dirty="0"/>
          </a:p>
        </p:txBody>
      </p:sp>
      <p:sp>
        <p:nvSpPr>
          <p:cNvPr id="9" name="Shape 5"/>
          <p:cNvSpPr/>
          <p:nvPr/>
        </p:nvSpPr>
        <p:spPr>
          <a:xfrm>
            <a:off x="548640" y="5184648"/>
            <a:ext cx="11091672" cy="0"/>
          </a:xfrm>
          <a:prstGeom prst="line">
            <a:avLst/>
          </a:prstGeom>
          <a:noFill/>
          <a:ln w="6350">
            <a:solidFill>
              <a:srgbClr val="B5AD9B"/>
            </a:solidFill>
            <a:prstDash val="solid"/>
          </a:ln>
        </p:spPr>
      </p:sp>
      <p:sp>
        <p:nvSpPr>
          <p:cNvPr id="10" name="Text 6"/>
          <p:cNvSpPr txBox="1"/>
          <p:nvPr/>
        </p:nvSpPr>
        <p:spPr>
          <a:xfrm>
            <a:off x="548640" y="5239512"/>
            <a:ext cx="11091672" cy="475488"/>
          </a:xfrm>
          <a:prstGeom prst="rect">
            <a:avLst/>
          </a:prstGeom>
          <a:noFill/>
          <a:ln/>
        </p:spPr>
        <p:txBody>
          <a:bodyPr wrap="square" lIns="0" tIns="0" rIns="0" bIns="0" rtlCol="0" anchor="t"/>
          <a:lstStyle/>
          <a:p>
            <a:pPr indent="0" marL="0">
              <a:buNone/>
            </a:pPr>
            <a:r>
              <a:rPr lang="en-US" sz="1300" b="1" dirty="0">
                <a:solidFill>
                  <a:srgbClr val="8C2F23"/>
                </a:solidFill>
                <a:latin typeface="IBM Plex Sans" pitchFamily="34" charset="0"/>
                <a:ea typeface="IBM Plex Sans" pitchFamily="34" charset="-122"/>
                <a:cs typeface="IBM Plex Sans" pitchFamily="34" charset="-120"/>
              </a:rPr>
              <a:t>d y b · dígitos y base. </a:t>
            </a:r>
            <a:pPr indent="0" marL="0">
              <a:buNone/>
            </a:pPr>
            <a:r>
              <a:rPr lang="en-US" sz="1300" dirty="0">
                <a:solidFill>
                  <a:srgbClr val="1F1B16"/>
                </a:solidFill>
                <a:latin typeface="IBM Plex Sans" pitchFamily="34" charset="0"/>
                <a:ea typeface="IBM Plex Sans" pitchFamily="34" charset="-122"/>
                <a:cs typeface="IBM Plex Sans" pitchFamily="34" charset="-120"/>
              </a:rPr>
              <a:t>d = ⌈log_b(k+1)⌉. Para un tipo de dato fijo d es constante, y ahí Radix sort sí es Θ(n).</a:t>
            </a:r>
            <a:endParaRPr lang="en-US" sz="1300" dirty="0"/>
          </a:p>
        </p:txBody>
      </p:sp>
      <p:sp>
        <p:nvSpPr>
          <p:cNvPr id="11" name="Shape 7"/>
          <p:cNvSpPr/>
          <p:nvPr/>
        </p:nvSpPr>
        <p:spPr>
          <a:xfrm>
            <a:off x="548640" y="5751576"/>
            <a:ext cx="11091672" cy="0"/>
          </a:xfrm>
          <a:prstGeom prst="line">
            <a:avLst/>
          </a:prstGeom>
          <a:noFill/>
          <a:ln w="6350">
            <a:solidFill>
              <a:srgbClr val="B5AD9B"/>
            </a:solidFill>
            <a:prstDash val="solid"/>
          </a:ln>
        </p:spPr>
      </p:sp>
      <p:sp>
        <p:nvSpPr>
          <p:cNvPr id="12" name="Text 8"/>
          <p:cNvSpPr txBox="1"/>
          <p:nvPr/>
        </p:nvSpPr>
        <p:spPr>
          <a:xfrm>
            <a:off x="548640" y="5806440"/>
            <a:ext cx="11091672" cy="475488"/>
          </a:xfrm>
          <a:prstGeom prst="rect">
            <a:avLst/>
          </a:prstGeom>
          <a:noFill/>
          <a:ln/>
        </p:spPr>
        <p:txBody>
          <a:bodyPr wrap="square" lIns="0" tIns="0" rIns="0" bIns="0" rtlCol="0" anchor="t"/>
          <a:lstStyle/>
          <a:p>
            <a:pPr indent="0" marL="0">
              <a:buNone/>
            </a:pPr>
            <a:r>
              <a:rPr lang="en-US" sz="1300" b="1" dirty="0">
                <a:solidFill>
                  <a:srgbClr val="8C2F23"/>
                </a:solidFill>
                <a:latin typeface="IBM Plex Sans" pitchFamily="34" charset="0"/>
                <a:ea typeface="IBM Plex Sans" pitchFamily="34" charset="-122"/>
                <a:cs typeface="IBM Plex Sans" pitchFamily="34" charset="-120"/>
              </a:rPr>
              <a:t>m · las cubetas. </a:t>
            </a:r>
            <a:pPr indent="0" marL="0">
              <a:buNone/>
            </a:pPr>
            <a:r>
              <a:rPr lang="en-US" sz="1300" dirty="0">
                <a:solidFill>
                  <a:srgbClr val="1F1B16"/>
                </a:solidFill>
                <a:latin typeface="IBM Plex Sans" pitchFamily="34" charset="0"/>
                <a:ea typeface="IBM Plex Sans" pitchFamily="34" charset="-122"/>
                <a:cs typeface="IBM Plex Sans" pitchFamily="34" charset="-120"/>
              </a:rPr>
              <a:t>Se toma m = n para que cada cubeta tenga en promedio un elemento. El Θ(n²) aparece cuando la distribución está sesgada.</a:t>
            </a:r>
            <a:endParaRPr lang="en-US" sz="1300" dirty="0"/>
          </a:p>
        </p:txBody>
      </p:sp>
      <p:sp>
        <p:nvSpPr>
          <p:cNvPr id="25" name="Slide Number Placeholder 0"/>
          <p:cNvSpPr>
            <a:spLocks noGrp="1"/>
          </p:cNvSpPr>
          <p:nvPr>
            <p:ph type="sldNum" sz="quarter" idx="4294967295"/>
          </p:nvPr>
        </p:nvSpPr>
        <p:spPr>
          <a:xfrm>
            <a:off x="10725912" y="6473952"/>
            <a:ext cx="9144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657"/>
                </a:solidFill>
                <a:latin typeface="JetBrains Mono"/>
                <a:ea typeface="JetBrains Mono"/>
                <a:cs typeface="JetBrains Mon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100" spc="200" kern="0" dirty="0">
                <a:solidFill>
                  <a:srgbClr val="8C2F23"/>
                </a:solidFill>
                <a:latin typeface="JetBrains Mono" pitchFamily="34" charset="0"/>
                <a:ea typeface="JetBrains Mono" pitchFamily="34" charset="-122"/>
                <a:cs typeface="JetBrains Mono" pitchFamily="34" charset="-120"/>
              </a:rPr>
              <a:t>§ 05 · BALANCE</a:t>
            </a:r>
            <a:endParaRPr lang="en-US" sz="1100" dirty="0"/>
          </a:p>
        </p:txBody>
      </p:sp>
      <p:sp>
        <p:nvSpPr>
          <p:cNvPr id="3" name="Text 3"/>
          <p:cNvSpPr/>
          <p:nvPr>
            <p:ph idx="103" type="title" hasCustomPrompt="1"/>
          </p:nvPr>
        </p:nvSpPr>
        <p:spPr>
          <a:xfrm>
            <a:off x="548640" y="804672"/>
            <a:ext cx="11091672" cy="777240"/>
          </a:xfrm>
          <a:prstGeom prst="rect">
            <a:avLst/>
          </a:prstGeom>
          <a:noFill/>
          <a:ln/>
        </p:spPr>
        <p:txBody>
          <a:bodyPr wrap="square" lIns="0" tIns="0" rIns="0" bIns="0" rtlCol="0" anchor="t"/>
          <a:lstStyle/>
          <a:p>
            <a:pPr algn="l" indent="0" marL="0">
              <a:buNone/>
            </a:pPr>
            <a:r>
              <a:rPr lang="en-US" sz="3600" dirty="0">
                <a:solidFill>
                  <a:srgbClr val="1F1B16"/>
                </a:solidFill>
                <a:latin typeface="EB Garamond" pitchFamily="34" charset="0"/>
                <a:ea typeface="EB Garamond" pitchFamily="34" charset="-122"/>
                <a:cs typeface="EB Garamond" pitchFamily="34" charset="-120"/>
              </a:rPr>
              <a:t>Frente a los algoritmos tradicionales</a:t>
            </a:r>
            <a:endParaRPr lang="en-US" sz="3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2194560"/>
                <a:gridCol w="1554480"/>
                <a:gridCol w="1554480"/>
                <a:gridCol w="1280160"/>
                <a:gridCol w="1554480"/>
                <a:gridCol w="2953512"/>
              </a:tblGrid>
              <a:tr h="411480">
                <a:tc>
                  <a:txBody>
                    <a:bodyPr/>
                    <a:lstStyle/>
                    <a:p>
                      <a:pPr indent="0" marL="0">
                        <a:buNone/>
                      </a:pPr>
                      <a:r>
                        <a:rPr lang="en-US" sz="1600" b="1" dirty="0">
                          <a:solidFill>
                            <a:srgbClr val="1F1B16"/>
                          </a:solidFill>
                          <a:latin typeface="EB Garamond" pitchFamily="34" charset="0"/>
                          <a:ea typeface="EB Garamond" pitchFamily="34" charset="-122"/>
                          <a:cs typeface="EB Garamond" pitchFamily="34" charset="-120"/>
                        </a:rPr>
                        <a:t>Algoritmo</a:t>
                      </a:r>
                      <a:endParaRPr lang="en-US" sz="1600" dirty="0">
                        <a:latin typeface="EB Garamond" charset="0"/>
                        <a:ea typeface="EB Garamond" charset="0"/>
                        <a:cs typeface="EB Garamond" charset="0"/>
                      </a:endParaRPr>
                    </a:p>
                  </a:txBody>
                  <a:tcPr marL="0" marR="73152" marT="36576" marB="36576" anchor="ctr">
                    <a:lnL w="0" cap="flat" cmpd="sng" algn="ctr">
                      <a:noFill/>
                    </a:lnL>
                    <a:lnR w="0" cap="flat" cmpd="sng" algn="ctr">
                      <a:noFill/>
                    </a:lnR>
                    <a:lnT w="0" cap="flat" cmpd="sng" algn="ctr">
                      <a:noFill/>
                    </a:lnT>
                    <a:lnB w="12700" cap="flat" cmpd="sng" algn="ctr">
                      <a:solidFill>
                        <a:srgbClr val="1F1B16"/>
                      </a:solidFill>
                      <a:prstDash val="solid"/>
                      <a:round/>
                      <a:headEnd type="none" w="med" len="med"/>
                      <a:tailEnd type="none" w="med" len="med"/>
                    </a:lnB>
                    <a:solidFill>
                      <a:srgbClr val="F4F1EA"/>
                    </a:solidFill>
                  </a:tcPr>
                </a:tc>
                <a:tc>
                  <a:txBody>
                    <a:bodyPr/>
                    <a:lstStyle/>
                    <a:p>
                      <a:pPr indent="0" marL="0">
                        <a:buNone/>
                      </a:pPr>
                      <a:r>
                        <a:rPr lang="en-US" sz="1600" b="1" dirty="0">
                          <a:solidFill>
                            <a:srgbClr val="1F1B16"/>
                          </a:solidFill>
                          <a:latin typeface="EB Garamond" pitchFamily="34" charset="0"/>
                          <a:ea typeface="EB Garamond" pitchFamily="34" charset="-122"/>
                          <a:cs typeface="EB Garamond" pitchFamily="34" charset="-120"/>
                        </a:rPr>
                        <a:t>Peor caso</a:t>
                      </a:r>
                      <a:endParaRPr lang="en-US" sz="1600" dirty="0">
                        <a:latin typeface="EB Garamond" charset="0"/>
                        <a:ea typeface="EB Garamond" charset="0"/>
                        <a:cs typeface="EB Garamond" charset="0"/>
                      </a:endParaRPr>
                    </a:p>
                  </a:txBody>
                  <a:tcPr marL="0" marR="73152" marT="36576" marB="36576" anchor="ctr">
                    <a:lnL w="0" cap="flat" cmpd="sng" algn="ctr">
                      <a:noFill/>
                    </a:lnL>
                    <a:lnR w="0" cap="flat" cmpd="sng" algn="ctr">
                      <a:noFill/>
                    </a:lnR>
                    <a:lnT w="0" cap="flat" cmpd="sng" algn="ctr">
                      <a:noFill/>
                    </a:lnT>
                    <a:lnB w="12700" cap="flat" cmpd="sng" algn="ctr">
                      <a:solidFill>
                        <a:srgbClr val="1F1B16"/>
                      </a:solidFill>
                      <a:prstDash val="solid"/>
                      <a:round/>
                      <a:headEnd type="none" w="med" len="med"/>
                      <a:tailEnd type="none" w="med" len="med"/>
                    </a:lnB>
                    <a:solidFill>
                      <a:srgbClr val="F4F1EA"/>
                    </a:solidFill>
                  </a:tcPr>
                </a:tc>
                <a:tc>
                  <a:txBody>
                    <a:bodyPr/>
                    <a:lstStyle/>
                    <a:p>
                      <a:pPr indent="0" marL="0">
                        <a:buNone/>
                      </a:pPr>
                      <a:r>
                        <a:rPr lang="en-US" sz="1600" b="1" dirty="0">
                          <a:solidFill>
                            <a:srgbClr val="1F1B16"/>
                          </a:solidFill>
                          <a:latin typeface="EB Garamond" pitchFamily="34" charset="0"/>
                          <a:ea typeface="EB Garamond" pitchFamily="34" charset="-122"/>
                          <a:cs typeface="EB Garamond" pitchFamily="34" charset="-120"/>
                        </a:rPr>
                        <a:t>Promedio</a:t>
                      </a:r>
                      <a:endParaRPr lang="en-US" sz="1600" dirty="0">
                        <a:latin typeface="EB Garamond" charset="0"/>
                        <a:ea typeface="EB Garamond" charset="0"/>
                        <a:cs typeface="EB Garamond" charset="0"/>
                      </a:endParaRPr>
                    </a:p>
                  </a:txBody>
                  <a:tcPr marL="0" marR="73152" marT="36576" marB="36576" anchor="ctr">
                    <a:lnL w="0" cap="flat" cmpd="sng" algn="ctr">
                      <a:noFill/>
                    </a:lnL>
                    <a:lnR w="0" cap="flat" cmpd="sng" algn="ctr">
                      <a:noFill/>
                    </a:lnR>
                    <a:lnT w="0" cap="flat" cmpd="sng" algn="ctr">
                      <a:noFill/>
                    </a:lnT>
                    <a:lnB w="12700" cap="flat" cmpd="sng" algn="ctr">
                      <a:solidFill>
                        <a:srgbClr val="1F1B16"/>
                      </a:solidFill>
                      <a:prstDash val="solid"/>
                      <a:round/>
                      <a:headEnd type="none" w="med" len="med"/>
                      <a:tailEnd type="none" w="med" len="med"/>
                    </a:lnB>
                    <a:solidFill>
                      <a:srgbClr val="F4F1EA"/>
                    </a:solidFill>
                  </a:tcPr>
                </a:tc>
                <a:tc>
                  <a:txBody>
                    <a:bodyPr/>
                    <a:lstStyle/>
                    <a:p>
                      <a:pPr indent="0" marL="0">
                        <a:buNone/>
                      </a:pPr>
                      <a:r>
                        <a:rPr lang="en-US" sz="1600" b="1" dirty="0">
                          <a:solidFill>
                            <a:srgbClr val="1F1B16"/>
                          </a:solidFill>
                          <a:latin typeface="EB Garamond" pitchFamily="34" charset="0"/>
                          <a:ea typeface="EB Garamond" pitchFamily="34" charset="-122"/>
                          <a:cs typeface="EB Garamond" pitchFamily="34" charset="-120"/>
                        </a:rPr>
                        <a:t>Memoria</a:t>
                      </a:r>
                      <a:endParaRPr lang="en-US" sz="1600" dirty="0">
                        <a:latin typeface="EB Garamond" charset="0"/>
                        <a:ea typeface="EB Garamond" charset="0"/>
                        <a:cs typeface="EB Garamond" charset="0"/>
                      </a:endParaRPr>
                    </a:p>
                  </a:txBody>
                  <a:tcPr marL="0" marR="73152" marT="36576" marB="36576" anchor="ctr">
                    <a:lnL w="0" cap="flat" cmpd="sng" algn="ctr">
                      <a:noFill/>
                    </a:lnL>
                    <a:lnR w="0" cap="flat" cmpd="sng" algn="ctr">
                      <a:noFill/>
                    </a:lnR>
                    <a:lnT w="0" cap="flat" cmpd="sng" algn="ctr">
                      <a:noFill/>
                    </a:lnT>
                    <a:lnB w="12700" cap="flat" cmpd="sng" algn="ctr">
                      <a:solidFill>
                        <a:srgbClr val="1F1B16"/>
                      </a:solidFill>
                      <a:prstDash val="solid"/>
                      <a:round/>
                      <a:headEnd type="none" w="med" len="med"/>
                      <a:tailEnd type="none" w="med" len="med"/>
                    </a:lnB>
                    <a:solidFill>
                      <a:srgbClr val="F4F1EA"/>
                    </a:solidFill>
                  </a:tcPr>
                </a:tc>
                <a:tc>
                  <a:txBody>
                    <a:bodyPr/>
                    <a:lstStyle/>
                    <a:p>
                      <a:pPr indent="0" marL="0">
                        <a:buNone/>
                      </a:pPr>
                      <a:r>
                        <a:rPr lang="en-US" sz="1600" b="1" dirty="0">
                          <a:solidFill>
                            <a:srgbClr val="1F1B16"/>
                          </a:solidFill>
                          <a:latin typeface="EB Garamond" pitchFamily="34" charset="0"/>
                          <a:ea typeface="EB Garamond" pitchFamily="34" charset="-122"/>
                          <a:cs typeface="EB Garamond" pitchFamily="34" charset="-120"/>
                        </a:rPr>
                        <a:t>¿Compara?</a:t>
                      </a:r>
                      <a:endParaRPr lang="en-US" sz="1600" dirty="0">
                        <a:latin typeface="EB Garamond" charset="0"/>
                        <a:ea typeface="EB Garamond" charset="0"/>
                        <a:cs typeface="EB Garamond" charset="0"/>
                      </a:endParaRPr>
                    </a:p>
                  </a:txBody>
                  <a:tcPr marL="0" marR="73152" marT="36576" marB="36576" anchor="ctr">
                    <a:lnL w="0" cap="flat" cmpd="sng" algn="ctr">
                      <a:noFill/>
                    </a:lnL>
                    <a:lnR w="0" cap="flat" cmpd="sng" algn="ctr">
                      <a:noFill/>
                    </a:lnR>
                    <a:lnT w="0" cap="flat" cmpd="sng" algn="ctr">
                      <a:noFill/>
                    </a:lnT>
                    <a:lnB w="12700" cap="flat" cmpd="sng" algn="ctr">
                      <a:solidFill>
                        <a:srgbClr val="1F1B16"/>
                      </a:solidFill>
                      <a:prstDash val="solid"/>
                      <a:round/>
                      <a:headEnd type="none" w="med" len="med"/>
                      <a:tailEnd type="none" w="med" len="med"/>
                    </a:lnB>
                    <a:solidFill>
                      <a:srgbClr val="F4F1EA"/>
                    </a:solidFill>
                  </a:tcPr>
                </a:tc>
                <a:tc>
                  <a:txBody>
                    <a:bodyPr/>
                    <a:lstStyle/>
                    <a:p>
                      <a:pPr indent="0" marL="0">
                        <a:buNone/>
                      </a:pPr>
                      <a:r>
                        <a:rPr lang="en-US" sz="1600" b="1" dirty="0">
                          <a:solidFill>
                            <a:srgbClr val="1F1B16"/>
                          </a:solidFill>
                          <a:latin typeface="EB Garamond" pitchFamily="34" charset="0"/>
                          <a:ea typeface="EB Garamond" pitchFamily="34" charset="-122"/>
                          <a:cs typeface="EB Garamond" pitchFamily="34" charset="-120"/>
                        </a:rPr>
                        <a:t>Nota</a:t>
                      </a:r>
                      <a:endParaRPr lang="en-US" sz="1600" dirty="0">
                        <a:latin typeface="EB Garamond" charset="0"/>
                        <a:ea typeface="EB Garamond" charset="0"/>
                        <a:cs typeface="EB Garamond" charset="0"/>
                      </a:endParaRPr>
                    </a:p>
                  </a:txBody>
                  <a:tcPr marL="0" marR="73152" marT="36576" marB="36576" anchor="ctr">
                    <a:lnL w="0" cap="flat" cmpd="sng" algn="ctr">
                      <a:noFill/>
                    </a:lnL>
                    <a:lnR w="0" cap="flat" cmpd="sng" algn="ctr">
                      <a:noFill/>
                    </a:lnR>
                    <a:lnT w="0" cap="flat" cmpd="sng" algn="ctr">
                      <a:noFill/>
                    </a:lnT>
                    <a:lnB w="12700" cap="flat" cmpd="sng" algn="ctr">
                      <a:solidFill>
                        <a:srgbClr val="1F1B16"/>
                      </a:solidFill>
                      <a:prstDash val="solid"/>
                      <a:round/>
                      <a:headEnd type="none" w="med" len="med"/>
                      <a:tailEnd type="none" w="med" len="med"/>
                    </a:lnB>
                    <a:solidFill>
                      <a:srgbClr val="F4F1EA"/>
                    </a:solidFill>
                  </a:tcPr>
                </a:tc>
              </a:tr>
              <a:tr h="384048">
                <a:tc>
                  <a:txBody>
                    <a:bodyPr/>
                    <a:lstStyle/>
                    <a:p>
                      <a:pPr indent="0" marL="0">
                        <a:buNone/>
                      </a:pPr>
                      <a:r>
                        <a:rPr lang="en-US" sz="1400" dirty="0">
                          <a:solidFill>
                            <a:srgbClr val="1F1B16"/>
                          </a:solidFill>
                          <a:latin typeface="EB Garamond" pitchFamily="34" charset="0"/>
                          <a:ea typeface="EB Garamond" pitchFamily="34" charset="-122"/>
                          <a:cs typeface="EB Garamond" pitchFamily="34" charset="-120"/>
                        </a:rPr>
                        <a:t>Burbuja, inserción</a:t>
                      </a:r>
                      <a:endParaRPr lang="en-US" sz="1400" dirty="0">
                        <a:latin typeface="EB Garamond" charset="0"/>
                        <a:ea typeface="EB Garamond" charset="0"/>
                        <a:cs typeface="EB Garamond"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300" dirty="0">
                          <a:solidFill>
                            <a:srgbClr val="1F1B16"/>
                          </a:solidFill>
                          <a:latin typeface="JetBrains Mono" pitchFamily="34" charset="0"/>
                          <a:ea typeface="JetBrains Mono" pitchFamily="34" charset="-122"/>
                          <a:cs typeface="JetBrains Mono" pitchFamily="34" charset="-120"/>
                        </a:rPr>
                        <a:t>Θ(n²)</a:t>
                      </a:r>
                      <a:endParaRPr lang="en-US" sz="1300" dirty="0">
                        <a:latin typeface="JetBrains Mono" charset="0"/>
                        <a:ea typeface="JetBrains Mono" charset="0"/>
                        <a:cs typeface="JetBrains Mono"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300" dirty="0">
                          <a:solidFill>
                            <a:srgbClr val="1F1B16"/>
                          </a:solidFill>
                          <a:latin typeface="JetBrains Mono" pitchFamily="34" charset="0"/>
                          <a:ea typeface="JetBrains Mono" pitchFamily="34" charset="-122"/>
                          <a:cs typeface="JetBrains Mono" pitchFamily="34" charset="-120"/>
                        </a:rPr>
                        <a:t>Θ(n²)</a:t>
                      </a:r>
                      <a:endParaRPr lang="en-US" sz="1300" dirty="0">
                        <a:latin typeface="JetBrains Mono" charset="0"/>
                        <a:ea typeface="JetBrains Mono" charset="0"/>
                        <a:cs typeface="JetBrains Mono"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300" dirty="0">
                          <a:solidFill>
                            <a:srgbClr val="1F1B16"/>
                          </a:solidFill>
                          <a:latin typeface="JetBrains Mono" pitchFamily="34" charset="0"/>
                          <a:ea typeface="JetBrains Mono" pitchFamily="34" charset="-122"/>
                          <a:cs typeface="JetBrains Mono" pitchFamily="34" charset="-120"/>
                        </a:rPr>
                        <a:t>O(1)</a:t>
                      </a:r>
                      <a:endParaRPr lang="en-US" sz="1300" dirty="0">
                        <a:latin typeface="JetBrains Mono" charset="0"/>
                        <a:ea typeface="JetBrains Mono" charset="0"/>
                        <a:cs typeface="JetBrains Mono"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400" dirty="0">
                          <a:solidFill>
                            <a:srgbClr val="1F1B16"/>
                          </a:solidFill>
                          <a:latin typeface="IBM Plex Sans" pitchFamily="34" charset="0"/>
                          <a:ea typeface="IBM Plex Sans" pitchFamily="34" charset="-122"/>
                          <a:cs typeface="IBM Plex Sans" pitchFamily="34" charset="-120"/>
                        </a:rPr>
                        <a:t>Sí</a:t>
                      </a:r>
                      <a:endParaRPr lang="en-US" sz="1400" dirty="0">
                        <a:latin typeface="IBM Plex Sans" charset="0"/>
                        <a:ea typeface="IBM Plex Sans" charset="0"/>
                        <a:cs typeface="IBM Plex Sans"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400" dirty="0">
                          <a:solidFill>
                            <a:srgbClr val="1F1B16"/>
                          </a:solidFill>
                          <a:latin typeface="IBM Plex Sans" pitchFamily="34" charset="0"/>
                          <a:ea typeface="IBM Plex Sans" pitchFamily="34" charset="-122"/>
                          <a:cs typeface="IBM Plex Sans" pitchFamily="34" charset="-120"/>
                        </a:rPr>
                        <a:t>simple, para n pequeño</a:t>
                      </a:r>
                      <a:endParaRPr lang="en-US" sz="1400" dirty="0">
                        <a:latin typeface="IBM Plex Sans" charset="0"/>
                        <a:ea typeface="IBM Plex Sans" charset="0"/>
                        <a:cs typeface="IBM Plex Sans"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r>
              <a:tr h="384048">
                <a:tc>
                  <a:txBody>
                    <a:bodyPr/>
                    <a:lstStyle/>
                    <a:p>
                      <a:pPr indent="0" marL="0">
                        <a:buNone/>
                      </a:pPr>
                      <a:r>
                        <a:rPr lang="en-US" sz="1400" dirty="0">
                          <a:solidFill>
                            <a:srgbClr val="1F1B16"/>
                          </a:solidFill>
                          <a:latin typeface="EB Garamond" pitchFamily="34" charset="0"/>
                          <a:ea typeface="EB Garamond" pitchFamily="34" charset="-122"/>
                          <a:cs typeface="EB Garamond" pitchFamily="34" charset="-120"/>
                        </a:rPr>
                        <a:t>Quicksort</a:t>
                      </a:r>
                      <a:endParaRPr lang="en-US" sz="1400" dirty="0">
                        <a:latin typeface="EB Garamond" charset="0"/>
                        <a:ea typeface="EB Garamond" charset="0"/>
                        <a:cs typeface="EB Garamond"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300" b="1" dirty="0">
                          <a:solidFill>
                            <a:srgbClr val="8C2F23"/>
                          </a:solidFill>
                          <a:latin typeface="JetBrains Mono" pitchFamily="34" charset="0"/>
                          <a:ea typeface="JetBrains Mono" pitchFamily="34" charset="-122"/>
                          <a:cs typeface="JetBrains Mono" pitchFamily="34" charset="-120"/>
                        </a:rPr>
                        <a:t>Θ(n²)</a:t>
                      </a:r>
                      <a:endParaRPr lang="en-US" sz="1300" dirty="0">
                        <a:latin typeface="JetBrains Mono" charset="0"/>
                        <a:ea typeface="JetBrains Mono" charset="0"/>
                        <a:cs typeface="JetBrains Mono"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300" dirty="0">
                          <a:solidFill>
                            <a:srgbClr val="1F1B16"/>
                          </a:solidFill>
                          <a:latin typeface="JetBrains Mono" pitchFamily="34" charset="0"/>
                          <a:ea typeface="JetBrains Mono" pitchFamily="34" charset="-122"/>
                          <a:cs typeface="JetBrains Mono" pitchFamily="34" charset="-120"/>
                        </a:rPr>
                        <a:t>Θ(n log n)</a:t>
                      </a:r>
                      <a:endParaRPr lang="en-US" sz="1300" dirty="0">
                        <a:latin typeface="JetBrains Mono" charset="0"/>
                        <a:ea typeface="JetBrains Mono" charset="0"/>
                        <a:cs typeface="JetBrains Mono"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300" dirty="0">
                          <a:solidFill>
                            <a:srgbClr val="1F1B16"/>
                          </a:solidFill>
                          <a:latin typeface="JetBrains Mono" pitchFamily="34" charset="0"/>
                          <a:ea typeface="JetBrains Mono" pitchFamily="34" charset="-122"/>
                          <a:cs typeface="JetBrains Mono" pitchFamily="34" charset="-120"/>
                        </a:rPr>
                        <a:t>O(log n)</a:t>
                      </a:r>
                      <a:endParaRPr lang="en-US" sz="1300" dirty="0">
                        <a:latin typeface="JetBrains Mono" charset="0"/>
                        <a:ea typeface="JetBrains Mono" charset="0"/>
                        <a:cs typeface="JetBrains Mono"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400" dirty="0">
                          <a:solidFill>
                            <a:srgbClr val="1F1B16"/>
                          </a:solidFill>
                          <a:latin typeface="IBM Plex Sans" pitchFamily="34" charset="0"/>
                          <a:ea typeface="IBM Plex Sans" pitchFamily="34" charset="-122"/>
                          <a:cs typeface="IBM Plex Sans" pitchFamily="34" charset="-120"/>
                        </a:rPr>
                        <a:t>Sí</a:t>
                      </a:r>
                      <a:endParaRPr lang="en-US" sz="1400" dirty="0">
                        <a:latin typeface="IBM Plex Sans" charset="0"/>
                        <a:ea typeface="IBM Plex Sans" charset="0"/>
                        <a:cs typeface="IBM Plex Sans"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400" dirty="0">
                          <a:solidFill>
                            <a:srgbClr val="1F1B16"/>
                          </a:solidFill>
                          <a:latin typeface="IBM Plex Sans" pitchFamily="34" charset="0"/>
                          <a:ea typeface="IBM Plex Sans" pitchFamily="34" charset="-122"/>
                          <a:cs typeface="IBM Plex Sans" pitchFamily="34" charset="-120"/>
                        </a:rPr>
                        <a:t>rápido en la práctica</a:t>
                      </a:r>
                      <a:endParaRPr lang="en-US" sz="1400" dirty="0">
                        <a:latin typeface="IBM Plex Sans" charset="0"/>
                        <a:ea typeface="IBM Plex Sans" charset="0"/>
                        <a:cs typeface="IBM Plex Sans"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r>
              <a:tr h="384048">
                <a:tc>
                  <a:txBody>
                    <a:bodyPr/>
                    <a:lstStyle/>
                    <a:p>
                      <a:pPr indent="0" marL="0">
                        <a:buNone/>
                      </a:pPr>
                      <a:r>
                        <a:rPr lang="en-US" sz="1400" dirty="0">
                          <a:solidFill>
                            <a:srgbClr val="1F1B16"/>
                          </a:solidFill>
                          <a:latin typeface="EB Garamond" pitchFamily="34" charset="0"/>
                          <a:ea typeface="EB Garamond" pitchFamily="34" charset="-122"/>
                          <a:cs typeface="EB Garamond" pitchFamily="34" charset="-120"/>
                        </a:rPr>
                        <a:t>Mergesort</a:t>
                      </a:r>
                      <a:endParaRPr lang="en-US" sz="1400" dirty="0">
                        <a:latin typeface="EB Garamond" charset="0"/>
                        <a:ea typeface="EB Garamond" charset="0"/>
                        <a:cs typeface="EB Garamond"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300" dirty="0">
                          <a:solidFill>
                            <a:srgbClr val="1F1B16"/>
                          </a:solidFill>
                          <a:latin typeface="JetBrains Mono" pitchFamily="34" charset="0"/>
                          <a:ea typeface="JetBrains Mono" pitchFamily="34" charset="-122"/>
                          <a:cs typeface="JetBrains Mono" pitchFamily="34" charset="-120"/>
                        </a:rPr>
                        <a:t>Θ(n log n)</a:t>
                      </a:r>
                      <a:endParaRPr lang="en-US" sz="1300" dirty="0">
                        <a:latin typeface="JetBrains Mono" charset="0"/>
                        <a:ea typeface="JetBrains Mono" charset="0"/>
                        <a:cs typeface="JetBrains Mono"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300" dirty="0">
                          <a:solidFill>
                            <a:srgbClr val="1F1B16"/>
                          </a:solidFill>
                          <a:latin typeface="JetBrains Mono" pitchFamily="34" charset="0"/>
                          <a:ea typeface="JetBrains Mono" pitchFamily="34" charset="-122"/>
                          <a:cs typeface="JetBrains Mono" pitchFamily="34" charset="-120"/>
                        </a:rPr>
                        <a:t>Θ(n log n)</a:t>
                      </a:r>
                      <a:endParaRPr lang="en-US" sz="1300" dirty="0">
                        <a:latin typeface="JetBrains Mono" charset="0"/>
                        <a:ea typeface="JetBrains Mono" charset="0"/>
                        <a:cs typeface="JetBrains Mono"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300" dirty="0">
                          <a:solidFill>
                            <a:srgbClr val="1F1B16"/>
                          </a:solidFill>
                          <a:latin typeface="JetBrains Mono" pitchFamily="34" charset="0"/>
                          <a:ea typeface="JetBrains Mono" pitchFamily="34" charset="-122"/>
                          <a:cs typeface="JetBrains Mono" pitchFamily="34" charset="-120"/>
                        </a:rPr>
                        <a:t>Θ(n)</a:t>
                      </a:r>
                      <a:endParaRPr lang="en-US" sz="1300" dirty="0">
                        <a:latin typeface="JetBrains Mono" charset="0"/>
                        <a:ea typeface="JetBrains Mono" charset="0"/>
                        <a:cs typeface="JetBrains Mono"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400" dirty="0">
                          <a:solidFill>
                            <a:srgbClr val="1F1B16"/>
                          </a:solidFill>
                          <a:latin typeface="IBM Plex Sans" pitchFamily="34" charset="0"/>
                          <a:ea typeface="IBM Plex Sans" pitchFamily="34" charset="-122"/>
                          <a:cs typeface="IBM Plex Sans" pitchFamily="34" charset="-120"/>
                        </a:rPr>
                        <a:t>Sí</a:t>
                      </a:r>
                      <a:endParaRPr lang="en-US" sz="1400" dirty="0">
                        <a:latin typeface="IBM Plex Sans" charset="0"/>
                        <a:ea typeface="IBM Plex Sans" charset="0"/>
                        <a:cs typeface="IBM Plex Sans"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400" dirty="0">
                          <a:solidFill>
                            <a:srgbClr val="1F1B16"/>
                          </a:solidFill>
                          <a:latin typeface="IBM Plex Sans" pitchFamily="34" charset="0"/>
                          <a:ea typeface="IBM Plex Sans" pitchFamily="34" charset="-122"/>
                          <a:cs typeface="IBM Plex Sans" pitchFamily="34" charset="-120"/>
                        </a:rPr>
                        <a:t>estable y óptimo</a:t>
                      </a:r>
                      <a:endParaRPr lang="en-US" sz="1400" dirty="0">
                        <a:latin typeface="IBM Plex Sans" charset="0"/>
                        <a:ea typeface="IBM Plex Sans" charset="0"/>
                        <a:cs typeface="IBM Plex Sans"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r>
              <a:tr h="384048">
                <a:tc>
                  <a:txBody>
                    <a:bodyPr/>
                    <a:lstStyle/>
                    <a:p>
                      <a:pPr indent="0" marL="0">
                        <a:buNone/>
                      </a:pPr>
                      <a:r>
                        <a:rPr lang="en-US" sz="1400" dirty="0">
                          <a:solidFill>
                            <a:srgbClr val="1F1B16"/>
                          </a:solidFill>
                          <a:latin typeface="EB Garamond" pitchFamily="34" charset="0"/>
                          <a:ea typeface="EB Garamond" pitchFamily="34" charset="-122"/>
                          <a:cs typeface="EB Garamond" pitchFamily="34" charset="-120"/>
                        </a:rPr>
                        <a:t>Heapsort</a:t>
                      </a:r>
                      <a:endParaRPr lang="en-US" sz="1400" dirty="0">
                        <a:latin typeface="EB Garamond" charset="0"/>
                        <a:ea typeface="EB Garamond" charset="0"/>
                        <a:cs typeface="EB Garamond"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300" dirty="0">
                          <a:solidFill>
                            <a:srgbClr val="1F1B16"/>
                          </a:solidFill>
                          <a:latin typeface="JetBrains Mono" pitchFamily="34" charset="0"/>
                          <a:ea typeface="JetBrains Mono" pitchFamily="34" charset="-122"/>
                          <a:cs typeface="JetBrains Mono" pitchFamily="34" charset="-120"/>
                        </a:rPr>
                        <a:t>Θ(n log n)</a:t>
                      </a:r>
                      <a:endParaRPr lang="en-US" sz="1300" dirty="0">
                        <a:latin typeface="JetBrains Mono" charset="0"/>
                        <a:ea typeface="JetBrains Mono" charset="0"/>
                        <a:cs typeface="JetBrains Mono"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300" dirty="0">
                          <a:solidFill>
                            <a:srgbClr val="1F1B16"/>
                          </a:solidFill>
                          <a:latin typeface="JetBrains Mono" pitchFamily="34" charset="0"/>
                          <a:ea typeface="JetBrains Mono" pitchFamily="34" charset="-122"/>
                          <a:cs typeface="JetBrains Mono" pitchFamily="34" charset="-120"/>
                        </a:rPr>
                        <a:t>Θ(n log n)</a:t>
                      </a:r>
                      <a:endParaRPr lang="en-US" sz="1300" dirty="0">
                        <a:latin typeface="JetBrains Mono" charset="0"/>
                        <a:ea typeface="JetBrains Mono" charset="0"/>
                        <a:cs typeface="JetBrains Mono"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300" dirty="0">
                          <a:solidFill>
                            <a:srgbClr val="1F1B16"/>
                          </a:solidFill>
                          <a:latin typeface="JetBrains Mono" pitchFamily="34" charset="0"/>
                          <a:ea typeface="JetBrains Mono" pitchFamily="34" charset="-122"/>
                          <a:cs typeface="JetBrains Mono" pitchFamily="34" charset="-120"/>
                        </a:rPr>
                        <a:t>O(1)</a:t>
                      </a:r>
                      <a:endParaRPr lang="en-US" sz="1300" dirty="0">
                        <a:latin typeface="JetBrains Mono" charset="0"/>
                        <a:ea typeface="JetBrains Mono" charset="0"/>
                        <a:cs typeface="JetBrains Mono"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400" dirty="0">
                          <a:solidFill>
                            <a:srgbClr val="1F1B16"/>
                          </a:solidFill>
                          <a:latin typeface="IBM Plex Sans" pitchFamily="34" charset="0"/>
                          <a:ea typeface="IBM Plex Sans" pitchFamily="34" charset="-122"/>
                          <a:cs typeface="IBM Plex Sans" pitchFamily="34" charset="-120"/>
                        </a:rPr>
                        <a:t>Sí</a:t>
                      </a:r>
                      <a:endParaRPr lang="en-US" sz="1400" dirty="0">
                        <a:latin typeface="IBM Plex Sans" charset="0"/>
                        <a:ea typeface="IBM Plex Sans" charset="0"/>
                        <a:cs typeface="IBM Plex Sans"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400" dirty="0">
                          <a:solidFill>
                            <a:srgbClr val="1F1B16"/>
                          </a:solidFill>
                          <a:latin typeface="IBM Plex Sans" pitchFamily="34" charset="0"/>
                          <a:ea typeface="IBM Plex Sans" pitchFamily="34" charset="-122"/>
                          <a:cs typeface="IBM Plex Sans" pitchFamily="34" charset="-120"/>
                        </a:rPr>
                        <a:t>in-place garantizado</a:t>
                      </a:r>
                      <a:endParaRPr lang="en-US" sz="1400" dirty="0">
                        <a:latin typeface="IBM Plex Sans" charset="0"/>
                        <a:ea typeface="IBM Plex Sans" charset="0"/>
                        <a:cs typeface="IBM Plex Sans"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r>
              <a:tr h="384048">
                <a:tc>
                  <a:txBody>
                    <a:bodyPr/>
                    <a:lstStyle/>
                    <a:p>
                      <a:pPr indent="0" marL="0">
                        <a:buNone/>
                      </a:pPr>
                      <a:r>
                        <a:rPr lang="en-US" sz="1400" dirty="0">
                          <a:solidFill>
                            <a:srgbClr val="1F1B16"/>
                          </a:solidFill>
                          <a:latin typeface="EB Garamond" pitchFamily="34" charset="0"/>
                          <a:ea typeface="EB Garamond" pitchFamily="34" charset="-122"/>
                          <a:cs typeface="EB Garamond" pitchFamily="34" charset="-120"/>
                        </a:rPr>
                        <a:t>Counting sort</a:t>
                      </a:r>
                      <a:endParaRPr lang="en-US" sz="1400" dirty="0">
                        <a:latin typeface="EB Garamond" charset="0"/>
                        <a:ea typeface="EB Garamond" charset="0"/>
                        <a:cs typeface="EB Garamond"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300" dirty="0">
                          <a:solidFill>
                            <a:srgbClr val="1F1B16"/>
                          </a:solidFill>
                          <a:latin typeface="JetBrains Mono" pitchFamily="34" charset="0"/>
                          <a:ea typeface="JetBrains Mono" pitchFamily="34" charset="-122"/>
                          <a:cs typeface="JetBrains Mono" pitchFamily="34" charset="-120"/>
                        </a:rPr>
                        <a:t>Θ(n+k)</a:t>
                      </a:r>
                      <a:endParaRPr lang="en-US" sz="1300" dirty="0">
                        <a:latin typeface="JetBrains Mono" charset="0"/>
                        <a:ea typeface="JetBrains Mono" charset="0"/>
                        <a:cs typeface="JetBrains Mono"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300" dirty="0">
                          <a:solidFill>
                            <a:srgbClr val="1F1B16"/>
                          </a:solidFill>
                          <a:latin typeface="JetBrains Mono" pitchFamily="34" charset="0"/>
                          <a:ea typeface="JetBrains Mono" pitchFamily="34" charset="-122"/>
                          <a:cs typeface="JetBrains Mono" pitchFamily="34" charset="-120"/>
                        </a:rPr>
                        <a:t>Θ(n+k)</a:t>
                      </a:r>
                      <a:endParaRPr lang="en-US" sz="1300" dirty="0">
                        <a:latin typeface="JetBrains Mono" charset="0"/>
                        <a:ea typeface="JetBrains Mono" charset="0"/>
                        <a:cs typeface="JetBrains Mono"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300" dirty="0">
                          <a:solidFill>
                            <a:srgbClr val="1F1B16"/>
                          </a:solidFill>
                          <a:latin typeface="JetBrains Mono" pitchFamily="34" charset="0"/>
                          <a:ea typeface="JetBrains Mono" pitchFamily="34" charset="-122"/>
                          <a:cs typeface="JetBrains Mono" pitchFamily="34" charset="-120"/>
                        </a:rPr>
                        <a:t>Θ(n+k)</a:t>
                      </a:r>
                      <a:endParaRPr lang="en-US" sz="1300" dirty="0">
                        <a:latin typeface="JetBrains Mono" charset="0"/>
                        <a:ea typeface="JetBrains Mono" charset="0"/>
                        <a:cs typeface="JetBrains Mono"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400" b="1" dirty="0">
                          <a:solidFill>
                            <a:srgbClr val="2F5D50"/>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400" dirty="0">
                          <a:solidFill>
                            <a:srgbClr val="1F1B16"/>
                          </a:solidFill>
                          <a:latin typeface="IBM Plex Sans" pitchFamily="34" charset="0"/>
                          <a:ea typeface="IBM Plex Sans" pitchFamily="34" charset="-122"/>
                          <a:cs typeface="IBM Plex Sans" pitchFamily="34" charset="-120"/>
                        </a:rPr>
                        <a:t>lineal si k = O(n)</a:t>
                      </a:r>
                      <a:endParaRPr lang="en-US" sz="1400" dirty="0">
                        <a:latin typeface="IBM Plex Sans" charset="0"/>
                        <a:ea typeface="IBM Plex Sans" charset="0"/>
                        <a:cs typeface="IBM Plex Sans"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r>
              <a:tr h="384048">
                <a:tc>
                  <a:txBody>
                    <a:bodyPr/>
                    <a:lstStyle/>
                    <a:p>
                      <a:pPr indent="0" marL="0">
                        <a:buNone/>
                      </a:pPr>
                      <a:r>
                        <a:rPr lang="en-US" sz="1400" dirty="0">
                          <a:solidFill>
                            <a:srgbClr val="1F1B16"/>
                          </a:solidFill>
                          <a:latin typeface="EB Garamond" pitchFamily="34" charset="0"/>
                          <a:ea typeface="EB Garamond" pitchFamily="34" charset="-122"/>
                          <a:cs typeface="EB Garamond" pitchFamily="34" charset="-120"/>
                        </a:rPr>
                        <a:t>Radix sort</a:t>
                      </a:r>
                      <a:endParaRPr lang="en-US" sz="1400" dirty="0">
                        <a:latin typeface="EB Garamond" charset="0"/>
                        <a:ea typeface="EB Garamond" charset="0"/>
                        <a:cs typeface="EB Garamond"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300" dirty="0">
                          <a:solidFill>
                            <a:srgbClr val="1F1B16"/>
                          </a:solidFill>
                          <a:latin typeface="JetBrains Mono" pitchFamily="34" charset="0"/>
                          <a:ea typeface="JetBrains Mono" pitchFamily="34" charset="-122"/>
                          <a:cs typeface="JetBrains Mono" pitchFamily="34" charset="-120"/>
                        </a:rPr>
                        <a:t>Θ(d(n+b))</a:t>
                      </a:r>
                      <a:endParaRPr lang="en-US" sz="1300" dirty="0">
                        <a:latin typeface="JetBrains Mono" charset="0"/>
                        <a:ea typeface="JetBrains Mono" charset="0"/>
                        <a:cs typeface="JetBrains Mono"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300" dirty="0">
                          <a:solidFill>
                            <a:srgbClr val="1F1B16"/>
                          </a:solidFill>
                          <a:latin typeface="JetBrains Mono" pitchFamily="34" charset="0"/>
                          <a:ea typeface="JetBrains Mono" pitchFamily="34" charset="-122"/>
                          <a:cs typeface="JetBrains Mono" pitchFamily="34" charset="-120"/>
                        </a:rPr>
                        <a:t>Θ(d(n+b))</a:t>
                      </a:r>
                      <a:endParaRPr lang="en-US" sz="1300" dirty="0">
                        <a:latin typeface="JetBrains Mono" charset="0"/>
                        <a:ea typeface="JetBrains Mono" charset="0"/>
                        <a:cs typeface="JetBrains Mono"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300" dirty="0">
                          <a:solidFill>
                            <a:srgbClr val="1F1B16"/>
                          </a:solidFill>
                          <a:latin typeface="JetBrains Mono" pitchFamily="34" charset="0"/>
                          <a:ea typeface="JetBrains Mono" pitchFamily="34" charset="-122"/>
                          <a:cs typeface="JetBrains Mono" pitchFamily="34" charset="-120"/>
                        </a:rPr>
                        <a:t>Θ(n+b)</a:t>
                      </a:r>
                      <a:endParaRPr lang="en-US" sz="1300" dirty="0">
                        <a:latin typeface="JetBrains Mono" charset="0"/>
                        <a:ea typeface="JetBrains Mono" charset="0"/>
                        <a:cs typeface="JetBrains Mono"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400" b="1" dirty="0">
                          <a:solidFill>
                            <a:srgbClr val="2F5D50"/>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c>
                  <a:txBody>
                    <a:bodyPr/>
                    <a:lstStyle/>
                    <a:p>
                      <a:pPr indent="0" marL="0">
                        <a:buNone/>
                      </a:pPr>
                      <a:r>
                        <a:rPr lang="en-US" sz="1400" dirty="0">
                          <a:solidFill>
                            <a:srgbClr val="1F1B16"/>
                          </a:solidFill>
                          <a:latin typeface="IBM Plex Sans" pitchFamily="34" charset="0"/>
                          <a:ea typeface="IBM Plex Sans" pitchFamily="34" charset="-122"/>
                          <a:cs typeface="IBM Plex Sans" pitchFamily="34" charset="-120"/>
                        </a:rPr>
                        <a:t>lineal si d es fijo</a:t>
                      </a:r>
                      <a:endParaRPr lang="en-US" sz="1400" dirty="0">
                        <a:latin typeface="IBM Plex Sans" charset="0"/>
                        <a:ea typeface="IBM Plex Sans" charset="0"/>
                        <a:cs typeface="IBM Plex Sans" charset="0"/>
                      </a:endParaRPr>
                    </a:p>
                  </a:txBody>
                  <a:tcPr marL="0" marR="73152" marT="36576" marB="36576" anchor="ctr">
                    <a:lnL w="0" cap="flat" cmpd="sng" algn="ctr">
                      <a:noFill/>
                    </a:lnL>
                    <a:lnR w="0" cap="flat" cmpd="sng" algn="ctr">
                      <a:noFill/>
                    </a:lnR>
                    <a:lnT w="0" cap="flat" cmpd="sng" algn="ctr">
                      <a:noFill/>
                    </a:lnT>
                    <a:lnB w="6350" cap="flat" cmpd="sng" algn="ctr">
                      <a:solidFill>
                        <a:srgbClr val="B5AD9B"/>
                      </a:solidFill>
                      <a:prstDash val="solid"/>
                      <a:round/>
                      <a:headEnd type="none" w="med" len="med"/>
                      <a:tailEnd type="none" w="med" len="med"/>
                    </a:lnB>
                    <a:solidFill>
                      <a:srgbClr val="F4F1EA"/>
                    </a:solidFill>
                  </a:tcPr>
                </a:tc>
              </a:tr>
              <a:tr h="384048">
                <a:tc>
                  <a:txBody>
                    <a:bodyPr/>
                    <a:lstStyle/>
                    <a:p>
                      <a:pPr indent="0" marL="0">
                        <a:buNone/>
                      </a:pPr>
                      <a:r>
                        <a:rPr lang="en-US" sz="1400" dirty="0">
                          <a:solidFill>
                            <a:srgbClr val="1F1B16"/>
                          </a:solidFill>
                          <a:latin typeface="EB Garamond" pitchFamily="34" charset="0"/>
                          <a:ea typeface="EB Garamond" pitchFamily="34" charset="-122"/>
                          <a:cs typeface="EB Garamond" pitchFamily="34" charset="-120"/>
                        </a:rPr>
                        <a:t>Bucket sort</a:t>
                      </a:r>
                      <a:endParaRPr lang="en-US" sz="1400" dirty="0">
                        <a:latin typeface="EB Garamond" charset="0"/>
                        <a:ea typeface="EB Garamond" charset="0"/>
                        <a:cs typeface="EB Garamond" charset="0"/>
                      </a:endParaRPr>
                    </a:p>
                  </a:txBody>
                  <a:tcPr marL="0" marR="73152" marT="36576" marB="36576" anchor="ctr">
                    <a:lnL w="0" cap="flat" cmpd="sng" algn="ctr">
                      <a:noFill/>
                    </a:lnL>
                    <a:lnR w="0" cap="flat" cmpd="sng" algn="ctr">
                      <a:noFill/>
                    </a:lnR>
                    <a:lnT w="0" cap="flat" cmpd="sng" algn="ctr">
                      <a:noFill/>
                    </a:lnT>
                    <a:lnB w="9525" cap="flat" cmpd="sng" algn="ctr">
                      <a:solidFill>
                        <a:srgbClr val="1F1B16"/>
                      </a:solidFill>
                      <a:prstDash val="solid"/>
                      <a:round/>
                      <a:headEnd type="none" w="med" len="med"/>
                      <a:tailEnd type="none" w="med" len="med"/>
                    </a:lnB>
                    <a:solidFill>
                      <a:srgbClr val="F4F1EA"/>
                    </a:solidFill>
                  </a:tcPr>
                </a:tc>
                <a:tc>
                  <a:txBody>
                    <a:bodyPr/>
                    <a:lstStyle/>
                    <a:p>
                      <a:pPr indent="0" marL="0">
                        <a:buNone/>
                      </a:pPr>
                      <a:r>
                        <a:rPr lang="en-US" sz="1300" b="1" dirty="0">
                          <a:solidFill>
                            <a:srgbClr val="8C2F23"/>
                          </a:solidFill>
                          <a:latin typeface="JetBrains Mono" pitchFamily="34" charset="0"/>
                          <a:ea typeface="JetBrains Mono" pitchFamily="34" charset="-122"/>
                          <a:cs typeface="JetBrains Mono" pitchFamily="34" charset="-120"/>
                        </a:rPr>
                        <a:t>Θ(n²)</a:t>
                      </a:r>
                      <a:endParaRPr lang="en-US" sz="1300" dirty="0">
                        <a:latin typeface="JetBrains Mono" charset="0"/>
                        <a:ea typeface="JetBrains Mono" charset="0"/>
                        <a:cs typeface="JetBrains Mono" charset="0"/>
                      </a:endParaRPr>
                    </a:p>
                  </a:txBody>
                  <a:tcPr marL="0" marR="73152" marT="36576" marB="36576" anchor="ctr">
                    <a:lnL w="0" cap="flat" cmpd="sng" algn="ctr">
                      <a:noFill/>
                    </a:lnL>
                    <a:lnR w="0" cap="flat" cmpd="sng" algn="ctr">
                      <a:noFill/>
                    </a:lnR>
                    <a:lnT w="0" cap="flat" cmpd="sng" algn="ctr">
                      <a:noFill/>
                    </a:lnT>
                    <a:lnB w="9525" cap="flat" cmpd="sng" algn="ctr">
                      <a:solidFill>
                        <a:srgbClr val="1F1B16"/>
                      </a:solidFill>
                      <a:prstDash val="solid"/>
                      <a:round/>
                      <a:headEnd type="none" w="med" len="med"/>
                      <a:tailEnd type="none" w="med" len="med"/>
                    </a:lnB>
                    <a:solidFill>
                      <a:srgbClr val="F4F1EA"/>
                    </a:solidFill>
                  </a:tcPr>
                </a:tc>
                <a:tc>
                  <a:txBody>
                    <a:bodyPr/>
                    <a:lstStyle/>
                    <a:p>
                      <a:pPr indent="0" marL="0">
                        <a:buNone/>
                      </a:pPr>
                      <a:r>
                        <a:rPr lang="en-US" sz="1300" dirty="0">
                          <a:solidFill>
                            <a:srgbClr val="1F1B16"/>
                          </a:solidFill>
                          <a:latin typeface="JetBrains Mono" pitchFamily="34" charset="0"/>
                          <a:ea typeface="JetBrains Mono" pitchFamily="34" charset="-122"/>
                          <a:cs typeface="JetBrains Mono" pitchFamily="34" charset="-120"/>
                        </a:rPr>
                        <a:t>Θ(n)</a:t>
                      </a:r>
                      <a:endParaRPr lang="en-US" sz="1300" dirty="0">
                        <a:latin typeface="JetBrains Mono" charset="0"/>
                        <a:ea typeface="JetBrains Mono" charset="0"/>
                        <a:cs typeface="JetBrains Mono" charset="0"/>
                      </a:endParaRPr>
                    </a:p>
                  </a:txBody>
                  <a:tcPr marL="0" marR="73152" marT="36576" marB="36576" anchor="ctr">
                    <a:lnL w="0" cap="flat" cmpd="sng" algn="ctr">
                      <a:noFill/>
                    </a:lnL>
                    <a:lnR w="0" cap="flat" cmpd="sng" algn="ctr">
                      <a:noFill/>
                    </a:lnR>
                    <a:lnT w="0" cap="flat" cmpd="sng" algn="ctr">
                      <a:noFill/>
                    </a:lnT>
                    <a:lnB w="9525" cap="flat" cmpd="sng" algn="ctr">
                      <a:solidFill>
                        <a:srgbClr val="1F1B16"/>
                      </a:solidFill>
                      <a:prstDash val="solid"/>
                      <a:round/>
                      <a:headEnd type="none" w="med" len="med"/>
                      <a:tailEnd type="none" w="med" len="med"/>
                    </a:lnB>
                    <a:solidFill>
                      <a:srgbClr val="F4F1EA"/>
                    </a:solidFill>
                  </a:tcPr>
                </a:tc>
                <a:tc>
                  <a:txBody>
                    <a:bodyPr/>
                    <a:lstStyle/>
                    <a:p>
                      <a:pPr indent="0" marL="0">
                        <a:buNone/>
                      </a:pPr>
                      <a:r>
                        <a:rPr lang="en-US" sz="1300" dirty="0">
                          <a:solidFill>
                            <a:srgbClr val="1F1B16"/>
                          </a:solidFill>
                          <a:latin typeface="JetBrains Mono" pitchFamily="34" charset="0"/>
                          <a:ea typeface="JetBrains Mono" pitchFamily="34" charset="-122"/>
                          <a:cs typeface="JetBrains Mono" pitchFamily="34" charset="-120"/>
                        </a:rPr>
                        <a:t>Θ(n+m)</a:t>
                      </a:r>
                      <a:endParaRPr lang="en-US" sz="1300" dirty="0">
                        <a:latin typeface="JetBrains Mono" charset="0"/>
                        <a:ea typeface="JetBrains Mono" charset="0"/>
                        <a:cs typeface="JetBrains Mono" charset="0"/>
                      </a:endParaRPr>
                    </a:p>
                  </a:txBody>
                  <a:tcPr marL="0" marR="73152" marT="36576" marB="36576" anchor="ctr">
                    <a:lnL w="0" cap="flat" cmpd="sng" algn="ctr">
                      <a:noFill/>
                    </a:lnL>
                    <a:lnR w="0" cap="flat" cmpd="sng" algn="ctr">
                      <a:noFill/>
                    </a:lnR>
                    <a:lnT w="0" cap="flat" cmpd="sng" algn="ctr">
                      <a:noFill/>
                    </a:lnT>
                    <a:lnB w="9525" cap="flat" cmpd="sng" algn="ctr">
                      <a:solidFill>
                        <a:srgbClr val="1F1B16"/>
                      </a:solidFill>
                      <a:prstDash val="solid"/>
                      <a:round/>
                      <a:headEnd type="none" w="med" len="med"/>
                      <a:tailEnd type="none" w="med" len="med"/>
                    </a:lnB>
                    <a:solidFill>
                      <a:srgbClr val="F4F1EA"/>
                    </a:solidFill>
                  </a:tcPr>
                </a:tc>
                <a:tc>
                  <a:txBody>
                    <a:bodyPr/>
                    <a:lstStyle/>
                    <a:p>
                      <a:pPr indent="0" marL="0">
                        <a:buNone/>
                      </a:pPr>
                      <a:r>
                        <a:rPr lang="en-US" sz="1400" b="1" dirty="0">
                          <a:solidFill>
                            <a:srgbClr val="2F5D50"/>
                          </a:solidFill>
                          <a:latin typeface="IBM Plex Sans" pitchFamily="34" charset="0"/>
                          <a:ea typeface="IBM Plex Sans" pitchFamily="34" charset="-122"/>
                          <a:cs typeface="IBM Plex Sans" pitchFamily="34" charset="-120"/>
                        </a:rPr>
                        <a:t>Mixto</a:t>
                      </a:r>
                      <a:endParaRPr lang="en-US" sz="1400" dirty="0">
                        <a:latin typeface="IBM Plex Sans" charset="0"/>
                        <a:ea typeface="IBM Plex Sans" charset="0"/>
                        <a:cs typeface="IBM Plex Sans" charset="0"/>
                      </a:endParaRPr>
                    </a:p>
                  </a:txBody>
                  <a:tcPr marL="0" marR="73152" marT="36576" marB="36576" anchor="ctr">
                    <a:lnL w="0" cap="flat" cmpd="sng" algn="ctr">
                      <a:noFill/>
                    </a:lnL>
                    <a:lnR w="0" cap="flat" cmpd="sng" algn="ctr">
                      <a:noFill/>
                    </a:lnR>
                    <a:lnT w="0" cap="flat" cmpd="sng" algn="ctr">
                      <a:noFill/>
                    </a:lnT>
                    <a:lnB w="9525" cap="flat" cmpd="sng" algn="ctr">
                      <a:solidFill>
                        <a:srgbClr val="1F1B16"/>
                      </a:solidFill>
                      <a:prstDash val="solid"/>
                      <a:round/>
                      <a:headEnd type="none" w="med" len="med"/>
                      <a:tailEnd type="none" w="med" len="med"/>
                    </a:lnB>
                    <a:solidFill>
                      <a:srgbClr val="F4F1EA"/>
                    </a:solidFill>
                  </a:tcPr>
                </a:tc>
                <a:tc>
                  <a:txBody>
                    <a:bodyPr/>
                    <a:lstStyle/>
                    <a:p>
                      <a:pPr indent="0" marL="0">
                        <a:buNone/>
                      </a:pPr>
                      <a:r>
                        <a:rPr lang="en-US" sz="1400" dirty="0">
                          <a:solidFill>
                            <a:srgbClr val="1F1B16"/>
                          </a:solidFill>
                          <a:latin typeface="IBM Plex Sans" pitchFamily="34" charset="0"/>
                          <a:ea typeface="IBM Plex Sans" pitchFamily="34" charset="-122"/>
                          <a:cs typeface="IBM Plex Sans" pitchFamily="34" charset="-120"/>
                        </a:rPr>
                        <a:t>exige uniformidad</a:t>
                      </a:r>
                      <a:endParaRPr lang="en-US" sz="1400" dirty="0">
                        <a:latin typeface="IBM Plex Sans" charset="0"/>
                        <a:ea typeface="IBM Plex Sans" charset="0"/>
                        <a:cs typeface="IBM Plex Sans" charset="0"/>
                      </a:endParaRPr>
                    </a:p>
                  </a:txBody>
                  <a:tcPr marL="0" marR="73152" marT="36576" marB="36576" anchor="ctr">
                    <a:lnL w="0" cap="flat" cmpd="sng" algn="ctr">
                      <a:noFill/>
                    </a:lnL>
                    <a:lnR w="0" cap="flat" cmpd="sng" algn="ctr">
                      <a:noFill/>
                    </a:lnR>
                    <a:lnT w="0" cap="flat" cmpd="sng" algn="ctr">
                      <a:noFill/>
                    </a:lnT>
                    <a:lnB w="9525" cap="flat" cmpd="sng" algn="ctr">
                      <a:solidFill>
                        <a:srgbClr val="1F1B16"/>
                      </a:solidFill>
                      <a:prstDash val="solid"/>
                      <a:round/>
                      <a:headEnd type="none" w="med" len="med"/>
                      <a:tailEnd type="none" w="med" len="med"/>
                    </a:lnB>
                    <a:solidFill>
                      <a:srgbClr val="F4F1EA"/>
                    </a:solidFill>
                  </a:tcPr>
                </a:tc>
              </a:tr>
            </a:tbl>
          </a:graphicData>
        </a:graphic>
      </p:graphicFrame>
      <p:sp>
        <p:nvSpPr>
          <p:cNvPr id="6" name="Shape 2"/>
          <p:cNvSpPr/>
          <p:nvPr/>
        </p:nvSpPr>
        <p:spPr>
          <a:xfrm>
            <a:off x="548640" y="5029200"/>
            <a:ext cx="11091672" cy="0"/>
          </a:xfrm>
          <a:prstGeom prst="line">
            <a:avLst/>
          </a:prstGeom>
          <a:noFill/>
          <a:ln w="9525">
            <a:solidFill>
              <a:srgbClr val="1F1B16"/>
            </a:solidFill>
            <a:prstDash val="solid"/>
          </a:ln>
        </p:spPr>
      </p:sp>
      <p:sp>
        <p:nvSpPr>
          <p:cNvPr id="7" name="Text 3"/>
          <p:cNvSpPr txBox="1"/>
          <p:nvPr/>
        </p:nvSpPr>
        <p:spPr>
          <a:xfrm>
            <a:off x="548640" y="5138928"/>
            <a:ext cx="11091672" cy="228600"/>
          </a:xfrm>
          <a:prstGeom prst="rect">
            <a:avLst/>
          </a:prstGeom>
          <a:noFill/>
          <a:ln/>
        </p:spPr>
        <p:txBody>
          <a:bodyPr wrap="square" lIns="0" tIns="0" rIns="0" bIns="0" rtlCol="0" anchor="t"/>
          <a:lstStyle/>
          <a:p>
            <a:pPr indent="0" marL="0">
              <a:buNone/>
            </a:pPr>
            <a:r>
              <a:rPr lang="en-US" sz="1100" spc="100" kern="0" dirty="0">
                <a:solidFill>
                  <a:srgbClr val="8C2F23"/>
                </a:solidFill>
                <a:latin typeface="JetBrains Mono" pitchFamily="34" charset="0"/>
                <a:ea typeface="JetBrains Mono" pitchFamily="34" charset="-122"/>
                <a:cs typeface="JetBrains Mono" pitchFamily="34" charset="-120"/>
              </a:rPr>
              <a:t>DONDE SÍ SE NOTA: UN MILLÓN DE ENTEROS DE 32 BITS</a:t>
            </a:r>
            <a:endParaRPr lang="en-US" sz="1100" dirty="0"/>
          </a:p>
        </p:txBody>
      </p:sp>
      <p:sp>
        <p:nvSpPr>
          <p:cNvPr id="8" name="Text 4"/>
          <p:cNvSpPr txBox="1"/>
          <p:nvPr/>
        </p:nvSpPr>
        <p:spPr>
          <a:xfrm>
            <a:off x="548640" y="5440680"/>
            <a:ext cx="11091672" cy="731520"/>
          </a:xfrm>
          <a:prstGeom prst="rect">
            <a:avLst/>
          </a:prstGeom>
          <a:noFill/>
          <a:ln/>
        </p:spPr>
        <p:txBody>
          <a:bodyPr wrap="square" lIns="0" tIns="0" rIns="0" bIns="0" rtlCol="0" anchor="t"/>
          <a:lstStyle/>
          <a:p>
            <a:pPr indent="0" marL="0">
              <a:buNone/>
            </a:pPr>
            <a:r>
              <a:rPr lang="en-US" sz="1500" dirty="0">
                <a:solidFill>
                  <a:srgbClr val="1F1B16"/>
                </a:solidFill>
                <a:latin typeface="IBM Plex Sans" pitchFamily="34" charset="0"/>
                <a:ea typeface="IBM Plex Sans" pitchFamily="34" charset="-122"/>
                <a:cs typeface="IBM Plex Sans" pitchFamily="34" charset="-120"/>
              </a:rPr>
              <a:t>Mergesort hace unos </a:t>
            </a:r>
            <a:pPr indent="0" marL="0">
              <a:buNone/>
            </a:pPr>
            <a:r>
              <a:rPr lang="en-US" sz="1500" b="1" dirty="0">
                <a:solidFill>
                  <a:srgbClr val="8C2F23"/>
                </a:solidFill>
                <a:latin typeface="IBM Plex Sans" pitchFamily="34" charset="0"/>
                <a:ea typeface="IBM Plex Sans" pitchFamily="34" charset="-122"/>
                <a:cs typeface="IBM Plex Sans" pitchFamily="34" charset="-120"/>
              </a:rPr>
              <a:t>20 millones</a:t>
            </a:r>
            <a:pPr indent="0" marL="0">
              <a:buNone/>
            </a:pPr>
            <a:r>
              <a:rPr lang="en-US" sz="1500" dirty="0">
                <a:solidFill>
                  <a:srgbClr val="1F1B16"/>
                </a:solidFill>
                <a:latin typeface="IBM Plex Sans" pitchFamily="34" charset="0"/>
                <a:ea typeface="IBM Plex Sans" pitchFamily="34" charset="-122"/>
                <a:cs typeface="IBM Plex Sans" pitchFamily="34" charset="-120"/>
              </a:rPr>
              <a:t> de comparaciones. Radix sort en base 256 hace </a:t>
            </a:r>
            <a:pPr indent="0" marL="0">
              <a:buNone/>
            </a:pPr>
            <a:r>
              <a:rPr lang="en-US" sz="1500" b="1" dirty="0">
                <a:solidFill>
                  <a:srgbClr val="2F5D50"/>
                </a:solidFill>
                <a:latin typeface="IBM Plex Sans" pitchFamily="34" charset="0"/>
                <a:ea typeface="IBM Plex Sans" pitchFamily="34" charset="-122"/>
                <a:cs typeface="IBM Plex Sans" pitchFamily="34" charset="-120"/>
              </a:rPr>
              <a:t>4 pasadas</a:t>
            </a:r>
            <a:pPr indent="0" marL="0">
              <a:buNone/>
            </a:pPr>
            <a:r>
              <a:rPr lang="en-US" sz="1500" dirty="0">
                <a:solidFill>
                  <a:srgbClr val="1F1B16"/>
                </a:solidFill>
                <a:latin typeface="IBM Plex Sans" pitchFamily="34" charset="0"/>
                <a:ea typeface="IBM Plex Sans" pitchFamily="34" charset="-122"/>
                <a:cs typeface="IBM Plex Sans" pitchFamily="34" charset="-120"/>
              </a:rPr>
              <a:t> de un millón de lecturas, sin comparar nada. Counting sort sería imposible: necesitaría 2³² ≈ 4 mil millones de casillas.</a:t>
            </a:r>
            <a:endParaRPr lang="en-US" sz="1500" dirty="0"/>
          </a:p>
        </p:txBody>
      </p:sp>
      <p:sp>
        <p:nvSpPr>
          <p:cNvPr id="25" name="Slide Number Placeholder 0"/>
          <p:cNvSpPr>
            <a:spLocks noGrp="1"/>
          </p:cNvSpPr>
          <p:nvPr>
            <p:ph type="sldNum" sz="quarter" idx="4294967295"/>
          </p:nvPr>
        </p:nvSpPr>
        <p:spPr>
          <a:xfrm>
            <a:off x="10725912" y="6473952"/>
            <a:ext cx="9144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657"/>
                </a:solidFill>
                <a:latin typeface="JetBrains Mono"/>
                <a:ea typeface="JetBrains Mono"/>
                <a:cs typeface="JetBrains Mon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100" spc="200" kern="0" dirty="0">
                <a:solidFill>
                  <a:srgbClr val="8C2F23"/>
                </a:solidFill>
                <a:latin typeface="JetBrains Mono" pitchFamily="34" charset="0"/>
                <a:ea typeface="JetBrains Mono" pitchFamily="34" charset="-122"/>
                <a:cs typeface="JetBrains Mono" pitchFamily="34" charset="-120"/>
              </a:rPr>
              <a:t>§ 05 · BALANCE</a:t>
            </a:r>
            <a:endParaRPr lang="en-US" sz="1100" dirty="0"/>
          </a:p>
        </p:txBody>
      </p:sp>
      <p:sp>
        <p:nvSpPr>
          <p:cNvPr id="3" name="Text 3"/>
          <p:cNvSpPr/>
          <p:nvPr>
            <p:ph idx="103" type="title" hasCustomPrompt="1"/>
          </p:nvPr>
        </p:nvSpPr>
        <p:spPr>
          <a:xfrm>
            <a:off x="548640" y="804672"/>
            <a:ext cx="11091672" cy="777240"/>
          </a:xfrm>
          <a:prstGeom prst="rect">
            <a:avLst/>
          </a:prstGeom>
          <a:noFill/>
          <a:ln/>
        </p:spPr>
        <p:txBody>
          <a:bodyPr wrap="square" lIns="0" tIns="0" rIns="0" bIns="0" rtlCol="0" anchor="t"/>
          <a:lstStyle/>
          <a:p>
            <a:pPr algn="l" indent="0" marL="0">
              <a:buNone/>
            </a:pPr>
            <a:r>
              <a:rPr lang="en-US" sz="3600" dirty="0">
                <a:solidFill>
                  <a:srgbClr val="1F1B16"/>
                </a:solidFill>
                <a:latin typeface="EB Garamond" pitchFamily="34" charset="0"/>
                <a:ea typeface="EB Garamond" pitchFamily="34" charset="-122"/>
                <a:cs typeface="EB Garamond" pitchFamily="34" charset="-120"/>
              </a:rPr>
              <a:t>n², n log n y n: lineal no significa rápido</a:t>
            </a:r>
            <a:endParaRPr lang="en-US" sz="3600" dirty="0"/>
          </a:p>
        </p:txBody>
      </p:sp>
      <p:graphicFrame>
        <p:nvGraphicFramePr>
          <p:cNvPr id="5" name="Chart 0" descr=""/>
          <p:cNvGraphicFramePr/>
          <p:nvPr/>
        </p:nvGraphicFramePr>
        <p:xfrm>
          <a:off x="548640" y="1874520"/>
          <a:ext cx="5760720" cy="301752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1645920"/>
            <a:ext cx="5760720" cy="201168"/>
          </a:xfrm>
          <a:prstGeom prst="rect">
            <a:avLst/>
          </a:prstGeom>
          <a:noFill/>
          <a:ln/>
        </p:spPr>
        <p:txBody>
          <a:bodyPr wrap="square" lIns="0" tIns="0" rIns="0" bIns="0" rtlCol="0" anchor="t"/>
          <a:lstStyle/>
          <a:p>
            <a:pPr indent="0" marL="0">
              <a:buNone/>
            </a:pPr>
            <a:r>
              <a:rPr lang="en-US" sz="1100" spc="100" kern="0" dirty="0">
                <a:solidFill>
                  <a:srgbClr val="6E6657"/>
                </a:solidFill>
                <a:latin typeface="JetBrains Mono" pitchFamily="34" charset="0"/>
                <a:ea typeface="JetBrains Mono" pitchFamily="34" charset="-122"/>
                <a:cs typeface="JetBrains Mono" pitchFamily="34" charset="-120"/>
              </a:rPr>
              <a:t>OPERACIONES RELATIVAS SEGÚN n</a:t>
            </a:r>
            <a:endParaRPr lang="en-US" sz="1100" dirty="0"/>
          </a:p>
        </p:txBody>
      </p:sp>
      <p:sp>
        <p:nvSpPr>
          <p:cNvPr id="7" name="Text 3"/>
          <p:cNvSpPr txBox="1"/>
          <p:nvPr/>
        </p:nvSpPr>
        <p:spPr>
          <a:xfrm>
            <a:off x="6675120" y="1645920"/>
            <a:ext cx="4937760" cy="201168"/>
          </a:xfrm>
          <a:prstGeom prst="rect">
            <a:avLst/>
          </a:prstGeom>
          <a:noFill/>
          <a:ln/>
        </p:spPr>
        <p:txBody>
          <a:bodyPr wrap="square" lIns="0" tIns="0" rIns="0" bIns="0" rtlCol="0" anchor="t"/>
          <a:lstStyle/>
          <a:p>
            <a:pPr indent="0" marL="0">
              <a:buNone/>
            </a:pPr>
            <a:r>
              <a:rPr lang="en-US" sz="1100" spc="100" kern="0" dirty="0">
                <a:solidFill>
                  <a:srgbClr val="8C2F23"/>
                </a:solidFill>
                <a:latin typeface="JetBrains Mono" pitchFamily="34" charset="0"/>
                <a:ea typeface="JetBrains Mono" pitchFamily="34" charset="-122"/>
                <a:cs typeface="JetBrains Mono" pitchFamily="34" charset="-120"/>
              </a:rPr>
              <a:t>CON NUESTRA ENTRADA: n = 7, k = 100</a:t>
            </a:r>
            <a:endParaRPr lang="en-US" sz="1100" dirty="0"/>
          </a:p>
        </p:txBody>
      </p:sp>
      <p:graphicFrame>
        <p:nvGraphicFramePr>
          <p:cNvPr id="8" name="Chart 1" descr=""/>
          <p:cNvGraphicFramePr/>
          <p:nvPr/>
        </p:nvGraphicFramePr>
        <p:xfrm>
          <a:off x="6675120" y="1874520"/>
          <a:ext cx="4965192" cy="3017520"/>
        </p:xfrm>
        <a:graphic xmlns:a="http://schemas.openxmlformats.org/drawingml/2006/main">
          <a:graphicData uri="http://schemas.openxmlformats.org/drawingml/2006/chart">
            <c:chart xmlns:c="http://schemas.openxmlformats.org/drawingml/2006/chart" r:id="rId2"/>
          </a:graphicData>
        </a:graphic>
      </p:graphicFrame>
      <p:sp>
        <p:nvSpPr>
          <p:cNvPr id="9" name="Shape 4"/>
          <p:cNvSpPr/>
          <p:nvPr/>
        </p:nvSpPr>
        <p:spPr>
          <a:xfrm>
            <a:off x="548640" y="5029200"/>
            <a:ext cx="11091672" cy="0"/>
          </a:xfrm>
          <a:prstGeom prst="line">
            <a:avLst/>
          </a:prstGeom>
          <a:noFill/>
          <a:ln w="9525">
            <a:solidFill>
              <a:srgbClr val="1F1B16"/>
            </a:solidFill>
            <a:prstDash val="solid"/>
          </a:ln>
        </p:spPr>
      </p:sp>
      <p:sp>
        <p:nvSpPr>
          <p:cNvPr id="10" name="Text 5"/>
          <p:cNvSpPr txBox="1"/>
          <p:nvPr/>
        </p:nvSpPr>
        <p:spPr>
          <a:xfrm>
            <a:off x="548640" y="5138928"/>
            <a:ext cx="11091672" cy="1143000"/>
          </a:xfrm>
          <a:prstGeom prst="rect">
            <a:avLst/>
          </a:prstGeom>
          <a:noFill/>
          <a:ln/>
        </p:spPr>
        <p:txBody>
          <a:bodyPr wrap="square" lIns="0" tIns="0" rIns="0" bIns="0" rtlCol="0" anchor="t"/>
          <a:lstStyle/>
          <a:p>
            <a:pPr indent="0" marL="0">
              <a:buNone/>
            </a:pPr>
            <a:r>
              <a:rPr lang="en-US" sz="2100" b="1" dirty="0">
                <a:solidFill>
                  <a:srgbClr val="8C2F23"/>
                </a:solidFill>
                <a:latin typeface="EB Garamond" pitchFamily="34" charset="0"/>
                <a:ea typeface="EB Garamond" pitchFamily="34" charset="-122"/>
                <a:cs typeface="EB Garamond" pitchFamily="34" charset="-120"/>
              </a:rPr>
              <a:t>n = 7 y k = 100: </a:t>
            </a:r>
            <a:pPr indent="0" marL="0">
              <a:buNone/>
            </a:pPr>
            <a:r>
              <a:rPr lang="en-US" sz="2100" dirty="0">
                <a:solidFill>
                  <a:srgbClr val="1F1B16"/>
                </a:solidFill>
                <a:latin typeface="EB Garamond" pitchFamily="34" charset="0"/>
                <a:ea typeface="EB Garamond" pitchFamily="34" charset="-122"/>
                <a:cs typeface="EB Garamond" pitchFamily="34" charset="-120"/>
              </a:rPr>
              <a:t>Counting sort ejecuta unas </a:t>
            </a:r>
            <a:pPr indent="0" marL="0">
              <a:buNone/>
            </a:pPr>
            <a:r>
              <a:rPr lang="en-US" sz="2100" b="1" dirty="0">
                <a:solidFill>
                  <a:srgbClr val="8C2F23"/>
                </a:solidFill>
                <a:latin typeface="EB Garamond" pitchFamily="34" charset="0"/>
                <a:ea typeface="EB Garamond" pitchFamily="34" charset="-122"/>
                <a:cs typeface="EB Garamond" pitchFamily="34" charset="-120"/>
              </a:rPr>
              <a:t>108 operaciones</a:t>
            </a:r>
            <a:pPr indent="0" marL="0">
              <a:buNone/>
            </a:pPr>
            <a:r>
              <a:rPr lang="en-US" sz="2100" dirty="0">
                <a:solidFill>
                  <a:srgbClr val="1F1B16"/>
                </a:solidFill>
                <a:latin typeface="EB Garamond" pitchFamily="34" charset="0"/>
                <a:ea typeface="EB Garamond" pitchFamily="34" charset="-122"/>
                <a:cs typeface="EB Garamond" pitchFamily="34" charset="-120"/>
              </a:rPr>
              <a:t> (101 casillas de C + 7 elementos); mergesort, unas </a:t>
            </a:r>
            <a:pPr indent="0" marL="0">
              <a:buNone/>
            </a:pPr>
            <a:r>
              <a:rPr lang="en-US" sz="2100" b="1" dirty="0">
                <a:solidFill>
                  <a:srgbClr val="2F5D50"/>
                </a:solidFill>
                <a:latin typeface="EB Garamond" pitchFamily="34" charset="0"/>
                <a:ea typeface="EB Garamond" pitchFamily="34" charset="-122"/>
                <a:cs typeface="EB Garamond" pitchFamily="34" charset="-120"/>
              </a:rPr>
              <a:t>20</a:t>
            </a:r>
            <a:pPr indent="0" marL="0">
              <a:buNone/>
            </a:pPr>
            <a:r>
              <a:rPr lang="en-US" sz="2100" dirty="0">
                <a:solidFill>
                  <a:srgbClr val="1F1B16"/>
                </a:solidFill>
                <a:latin typeface="EB Garamond" pitchFamily="34" charset="0"/>
                <a:ea typeface="EB Garamond" pitchFamily="34" charset="-122"/>
                <a:cs typeface="EB Garamond" pitchFamily="34" charset="-120"/>
              </a:rPr>
              <a:t> (n log₂ n; medidas: 13 comparaciones). Lineal no significa rápido: es lineal en n + k.</a:t>
            </a:r>
            <a:endParaRPr lang="en-US" sz="2100" dirty="0"/>
          </a:p>
        </p:txBody>
      </p:sp>
      <p:sp>
        <p:nvSpPr>
          <p:cNvPr id="25" name="Slide Number Placeholder 0"/>
          <p:cNvSpPr>
            <a:spLocks noGrp="1"/>
          </p:cNvSpPr>
          <p:nvPr>
            <p:ph type="sldNum" sz="quarter" idx="4294967295"/>
          </p:nvPr>
        </p:nvSpPr>
        <p:spPr>
          <a:xfrm>
            <a:off x="10725912" y="6473952"/>
            <a:ext cx="9144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657"/>
                </a:solidFill>
                <a:latin typeface="JetBrains Mono"/>
                <a:ea typeface="JetBrains Mono"/>
                <a:cs typeface="JetBrains Mon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100" spc="200" kern="0" dirty="0">
                <a:solidFill>
                  <a:srgbClr val="8C2F23"/>
                </a:solidFill>
                <a:latin typeface="JetBrains Mono" pitchFamily="34" charset="0"/>
                <a:ea typeface="JetBrains Mono" pitchFamily="34" charset="-122"/>
                <a:cs typeface="JetBrains Mono" pitchFamily="34" charset="-120"/>
              </a:rPr>
              <a:t>§ 05 · BALANCE</a:t>
            </a:r>
            <a:endParaRPr lang="en-US" sz="1100" dirty="0"/>
          </a:p>
        </p:txBody>
      </p:sp>
      <p:sp>
        <p:nvSpPr>
          <p:cNvPr id="3" name="Text 3"/>
          <p:cNvSpPr/>
          <p:nvPr>
            <p:ph idx="103" type="title" hasCustomPrompt="1"/>
          </p:nvPr>
        </p:nvSpPr>
        <p:spPr>
          <a:xfrm>
            <a:off x="548640" y="804672"/>
            <a:ext cx="11091672" cy="777240"/>
          </a:xfrm>
          <a:prstGeom prst="rect">
            <a:avLst/>
          </a:prstGeom>
          <a:noFill/>
          <a:ln/>
        </p:spPr>
        <p:txBody>
          <a:bodyPr wrap="square" lIns="0" tIns="0" rIns="0" bIns="0" rtlCol="0" anchor="t"/>
          <a:lstStyle/>
          <a:p>
            <a:pPr algn="l" indent="0" marL="0">
              <a:buNone/>
            </a:pPr>
            <a:r>
              <a:rPr lang="en-US" sz="3600" dirty="0">
                <a:solidFill>
                  <a:srgbClr val="1F1B16"/>
                </a:solidFill>
                <a:latin typeface="EB Garamond" pitchFamily="34" charset="0"/>
                <a:ea typeface="EB Garamond" pitchFamily="34" charset="-122"/>
                <a:cs typeface="EB Garamond" pitchFamily="34" charset="-120"/>
              </a:rPr>
              <a:t>Cuándo conviene cada uno</a:t>
            </a:r>
            <a:endParaRPr lang="en-US" sz="3600" dirty="0"/>
          </a:p>
        </p:txBody>
      </p:sp>
      <p:sp>
        <p:nvSpPr>
          <p:cNvPr id="5" name="Text 2"/>
          <p:cNvSpPr txBox="1"/>
          <p:nvPr/>
        </p:nvSpPr>
        <p:spPr>
          <a:xfrm>
            <a:off x="3291840" y="1691640"/>
            <a:ext cx="4572000" cy="228600"/>
          </a:xfrm>
          <a:prstGeom prst="rect">
            <a:avLst/>
          </a:prstGeom>
          <a:noFill/>
          <a:ln/>
        </p:spPr>
        <p:txBody>
          <a:bodyPr wrap="square" lIns="0" tIns="0" rIns="0" bIns="0" rtlCol="0" anchor="t"/>
          <a:lstStyle/>
          <a:p>
            <a:pPr indent="0" marL="0">
              <a:buNone/>
            </a:pPr>
            <a:r>
              <a:rPr lang="en-US" sz="1100" spc="100" kern="0" dirty="0">
                <a:solidFill>
                  <a:srgbClr val="2F5D50"/>
                </a:solidFill>
                <a:latin typeface="JetBrains Mono" pitchFamily="34" charset="0"/>
                <a:ea typeface="JetBrains Mono" pitchFamily="34" charset="-122"/>
                <a:cs typeface="JetBrains Mono" pitchFamily="34" charset="-120"/>
              </a:rPr>
              <a:t>CONVIENE CUANDO</a:t>
            </a:r>
            <a:endParaRPr lang="en-US" sz="1100" dirty="0"/>
          </a:p>
        </p:txBody>
      </p:sp>
      <p:sp>
        <p:nvSpPr>
          <p:cNvPr id="6" name="Text 3"/>
          <p:cNvSpPr txBox="1"/>
          <p:nvPr/>
        </p:nvSpPr>
        <p:spPr>
          <a:xfrm>
            <a:off x="8229600" y="1691640"/>
            <a:ext cx="3383280" cy="228600"/>
          </a:xfrm>
          <a:prstGeom prst="rect">
            <a:avLst/>
          </a:prstGeom>
          <a:noFill/>
          <a:ln/>
        </p:spPr>
        <p:txBody>
          <a:bodyPr wrap="square" lIns="0" tIns="0" rIns="0" bIns="0" rtlCol="0" anchor="t"/>
          <a:lstStyle/>
          <a:p>
            <a:pPr indent="0" marL="0">
              <a:buNone/>
            </a:pPr>
            <a:r>
              <a:rPr lang="en-US" sz="1100" spc="100" kern="0" dirty="0">
                <a:solidFill>
                  <a:srgbClr val="8C2F23"/>
                </a:solidFill>
                <a:latin typeface="JetBrains Mono" pitchFamily="34" charset="0"/>
                <a:ea typeface="JetBrains Mono" pitchFamily="34" charset="-122"/>
                <a:cs typeface="JetBrains Mono" pitchFamily="34" charset="-120"/>
              </a:rPr>
              <a:t>EVÍTELO SI</a:t>
            </a:r>
            <a:endParaRPr lang="en-US" sz="1100" dirty="0"/>
          </a:p>
        </p:txBody>
      </p:sp>
      <p:sp>
        <p:nvSpPr>
          <p:cNvPr id="7" name="Shape 4"/>
          <p:cNvSpPr/>
          <p:nvPr/>
        </p:nvSpPr>
        <p:spPr>
          <a:xfrm>
            <a:off x="548640" y="2011680"/>
            <a:ext cx="11091672" cy="0"/>
          </a:xfrm>
          <a:prstGeom prst="line">
            <a:avLst/>
          </a:prstGeom>
          <a:noFill/>
          <a:ln w="9525">
            <a:solidFill>
              <a:srgbClr val="1F1B16"/>
            </a:solidFill>
            <a:prstDash val="solid"/>
          </a:ln>
        </p:spPr>
      </p:sp>
      <p:sp>
        <p:nvSpPr>
          <p:cNvPr id="8" name="Text 5"/>
          <p:cNvSpPr txBox="1"/>
          <p:nvPr/>
        </p:nvSpPr>
        <p:spPr>
          <a:xfrm>
            <a:off x="548640" y="2176272"/>
            <a:ext cx="2560320" cy="548640"/>
          </a:xfrm>
          <a:prstGeom prst="rect">
            <a:avLst/>
          </a:prstGeom>
          <a:noFill/>
          <a:ln/>
        </p:spPr>
        <p:txBody>
          <a:bodyPr wrap="square" lIns="0" tIns="0" rIns="0" bIns="0" rtlCol="0" anchor="t"/>
          <a:lstStyle/>
          <a:p>
            <a:pPr indent="0" marL="0">
              <a:buNone/>
            </a:pPr>
            <a:r>
              <a:rPr lang="en-US" sz="2800" dirty="0">
                <a:solidFill>
                  <a:srgbClr val="1F1B16"/>
                </a:solidFill>
                <a:latin typeface="EB Garamond" pitchFamily="34" charset="0"/>
                <a:ea typeface="EB Garamond" pitchFamily="34" charset="-122"/>
                <a:cs typeface="EB Garamond" pitchFamily="34" charset="-120"/>
              </a:rPr>
              <a:t>Counting sort</a:t>
            </a:r>
            <a:endParaRPr lang="en-US" sz="2800" dirty="0"/>
          </a:p>
        </p:txBody>
      </p:sp>
      <p:sp>
        <p:nvSpPr>
          <p:cNvPr id="9" name="Text 6"/>
          <p:cNvSpPr txBox="1"/>
          <p:nvPr/>
        </p:nvSpPr>
        <p:spPr>
          <a:xfrm>
            <a:off x="3291840" y="2194560"/>
            <a:ext cx="4572000" cy="914400"/>
          </a:xfrm>
          <a:prstGeom prst="rect">
            <a:avLst/>
          </a:prstGeom>
          <a:noFill/>
          <a:ln/>
        </p:spPr>
        <p:txBody>
          <a:bodyPr wrap="square" lIns="0" tIns="0" rIns="0" bIns="0" rtlCol="0" anchor="t"/>
          <a:lstStyle/>
          <a:p>
            <a:pPr indent="0" marL="0">
              <a:buNone/>
            </a:pPr>
            <a:r>
              <a:rPr lang="en-US" sz="1400" dirty="0">
                <a:solidFill>
                  <a:srgbClr val="1F1B16"/>
                </a:solidFill>
                <a:latin typeface="IBM Plex Sans" pitchFamily="34" charset="0"/>
                <a:ea typeface="IBM Plex Sans" pitchFamily="34" charset="-122"/>
                <a:cs typeface="IBM Plex Sans" pitchFamily="34" charset="-120"/>
              </a:rPr>
              <a:t>El rango es chico y conocido: edades, notas del 0 al 20, días del año, categorías.</a:t>
            </a:r>
            <a:endParaRPr lang="en-US" sz="1400" dirty="0"/>
          </a:p>
        </p:txBody>
      </p:sp>
      <p:sp>
        <p:nvSpPr>
          <p:cNvPr id="10" name="Text 7"/>
          <p:cNvSpPr txBox="1"/>
          <p:nvPr/>
        </p:nvSpPr>
        <p:spPr>
          <a:xfrm>
            <a:off x="8229600" y="2194560"/>
            <a:ext cx="3383280" cy="914400"/>
          </a:xfrm>
          <a:prstGeom prst="rect">
            <a:avLst/>
          </a:prstGeom>
          <a:noFill/>
          <a:ln/>
        </p:spPr>
        <p:txBody>
          <a:bodyPr wrap="square" lIns="0" tIns="0" rIns="0" bIns="0" rtlCol="0" anchor="t"/>
          <a:lstStyle/>
          <a:p>
            <a:pPr indent="0" marL="0">
              <a:buNone/>
            </a:pPr>
            <a:r>
              <a:rPr lang="en-US" sz="1400" dirty="0">
                <a:solidFill>
                  <a:srgbClr val="1F1B16"/>
                </a:solidFill>
                <a:latin typeface="IBM Plex Sans" pitchFamily="34" charset="0"/>
                <a:ea typeface="IBM Plex Sans" pitchFamily="34" charset="-122"/>
                <a:cs typeface="IBM Plex Sans" pitchFamily="34" charset="-120"/>
              </a:rPr>
              <a:t>k ≫ n. Con n = 7 y k = 100 ya pierde.</a:t>
            </a:r>
            <a:endParaRPr lang="en-US" sz="1400" dirty="0"/>
          </a:p>
        </p:txBody>
      </p:sp>
      <p:sp>
        <p:nvSpPr>
          <p:cNvPr id="11" name="Shape 8"/>
          <p:cNvSpPr/>
          <p:nvPr/>
        </p:nvSpPr>
        <p:spPr>
          <a:xfrm>
            <a:off x="548640" y="3200400"/>
            <a:ext cx="11091672" cy="0"/>
          </a:xfrm>
          <a:prstGeom prst="line">
            <a:avLst/>
          </a:prstGeom>
          <a:noFill/>
          <a:ln w="6350">
            <a:solidFill>
              <a:srgbClr val="B5AD9B"/>
            </a:solidFill>
            <a:prstDash val="solid"/>
          </a:ln>
        </p:spPr>
      </p:sp>
      <p:sp>
        <p:nvSpPr>
          <p:cNvPr id="12" name="Text 9"/>
          <p:cNvSpPr txBox="1"/>
          <p:nvPr/>
        </p:nvSpPr>
        <p:spPr>
          <a:xfrm>
            <a:off x="548640" y="3364992"/>
            <a:ext cx="2560320" cy="548640"/>
          </a:xfrm>
          <a:prstGeom prst="rect">
            <a:avLst/>
          </a:prstGeom>
          <a:noFill/>
          <a:ln/>
        </p:spPr>
        <p:txBody>
          <a:bodyPr wrap="square" lIns="0" tIns="0" rIns="0" bIns="0" rtlCol="0" anchor="t"/>
          <a:lstStyle/>
          <a:p>
            <a:pPr indent="0" marL="0">
              <a:buNone/>
            </a:pPr>
            <a:r>
              <a:rPr lang="en-US" sz="2800" dirty="0">
                <a:solidFill>
                  <a:srgbClr val="1F1B16"/>
                </a:solidFill>
                <a:latin typeface="EB Garamond" pitchFamily="34" charset="0"/>
                <a:ea typeface="EB Garamond" pitchFamily="34" charset="-122"/>
                <a:cs typeface="EB Garamond" pitchFamily="34" charset="-120"/>
              </a:rPr>
              <a:t>Radix sort</a:t>
            </a:r>
            <a:endParaRPr lang="en-US" sz="2800" dirty="0"/>
          </a:p>
        </p:txBody>
      </p:sp>
      <p:sp>
        <p:nvSpPr>
          <p:cNvPr id="13" name="Text 10"/>
          <p:cNvSpPr txBox="1"/>
          <p:nvPr/>
        </p:nvSpPr>
        <p:spPr>
          <a:xfrm>
            <a:off x="3291840" y="3383280"/>
            <a:ext cx="4572000" cy="914400"/>
          </a:xfrm>
          <a:prstGeom prst="rect">
            <a:avLst/>
          </a:prstGeom>
          <a:noFill/>
          <a:ln/>
        </p:spPr>
        <p:txBody>
          <a:bodyPr wrap="square" lIns="0" tIns="0" rIns="0" bIns="0" rtlCol="0" anchor="t"/>
          <a:lstStyle/>
          <a:p>
            <a:pPr indent="0" marL="0">
              <a:buNone/>
            </a:pPr>
            <a:r>
              <a:rPr lang="en-US" sz="1400" dirty="0">
                <a:solidFill>
                  <a:srgbClr val="1F1B16"/>
                </a:solidFill>
                <a:latin typeface="IBM Plex Sans" pitchFamily="34" charset="0"/>
                <a:ea typeface="IBM Plex Sans" pitchFamily="34" charset="-122"/>
                <a:cs typeface="IBM Plex Sans" pitchFamily="34" charset="-120"/>
              </a:rPr>
              <a:t>Hay muchos datos de longitud fija: enteros, DNI, códigos, fechas, placas, cadenas del mismo largo. Es el de uso práctico más amplio.</a:t>
            </a:r>
            <a:endParaRPr lang="en-US" sz="1400" dirty="0"/>
          </a:p>
        </p:txBody>
      </p:sp>
      <p:sp>
        <p:nvSpPr>
          <p:cNvPr id="14" name="Text 11"/>
          <p:cNvSpPr txBox="1"/>
          <p:nvPr/>
        </p:nvSpPr>
        <p:spPr>
          <a:xfrm>
            <a:off x="8229600" y="3383280"/>
            <a:ext cx="3383280" cy="914400"/>
          </a:xfrm>
          <a:prstGeom prst="rect">
            <a:avLst/>
          </a:prstGeom>
          <a:noFill/>
          <a:ln/>
        </p:spPr>
        <p:txBody>
          <a:bodyPr wrap="square" lIns="0" tIns="0" rIns="0" bIns="0" rtlCol="0" anchor="t"/>
          <a:lstStyle/>
          <a:p>
            <a:pPr indent="0" marL="0">
              <a:buNone/>
            </a:pPr>
            <a:r>
              <a:rPr lang="en-US" sz="1400" dirty="0">
                <a:solidFill>
                  <a:srgbClr val="1F1B16"/>
                </a:solidFill>
                <a:latin typeface="IBM Plex Sans" pitchFamily="34" charset="0"/>
                <a:ea typeface="IBM Plex Sans" pitchFamily="34" charset="-122"/>
                <a:cs typeface="IBM Plex Sans" pitchFamily="34" charset="-120"/>
              </a:rPr>
              <a:t>Las claves son de largo muy variable, o d crece con n.</a:t>
            </a:r>
            <a:endParaRPr lang="en-US" sz="1400" dirty="0"/>
          </a:p>
        </p:txBody>
      </p:sp>
      <p:sp>
        <p:nvSpPr>
          <p:cNvPr id="15" name="Shape 12"/>
          <p:cNvSpPr/>
          <p:nvPr/>
        </p:nvSpPr>
        <p:spPr>
          <a:xfrm>
            <a:off x="548640" y="4389120"/>
            <a:ext cx="11091672" cy="0"/>
          </a:xfrm>
          <a:prstGeom prst="line">
            <a:avLst/>
          </a:prstGeom>
          <a:noFill/>
          <a:ln w="6350">
            <a:solidFill>
              <a:srgbClr val="B5AD9B"/>
            </a:solidFill>
            <a:prstDash val="solid"/>
          </a:ln>
        </p:spPr>
      </p:sp>
      <p:sp>
        <p:nvSpPr>
          <p:cNvPr id="16" name="Text 13"/>
          <p:cNvSpPr txBox="1"/>
          <p:nvPr/>
        </p:nvSpPr>
        <p:spPr>
          <a:xfrm>
            <a:off x="548640" y="4553712"/>
            <a:ext cx="2560320" cy="548640"/>
          </a:xfrm>
          <a:prstGeom prst="rect">
            <a:avLst/>
          </a:prstGeom>
          <a:noFill/>
          <a:ln/>
        </p:spPr>
        <p:txBody>
          <a:bodyPr wrap="square" lIns="0" tIns="0" rIns="0" bIns="0" rtlCol="0" anchor="t"/>
          <a:lstStyle/>
          <a:p>
            <a:pPr indent="0" marL="0">
              <a:buNone/>
            </a:pPr>
            <a:r>
              <a:rPr lang="en-US" sz="2800" dirty="0">
                <a:solidFill>
                  <a:srgbClr val="1F1B16"/>
                </a:solidFill>
                <a:latin typeface="EB Garamond" pitchFamily="34" charset="0"/>
                <a:ea typeface="EB Garamond" pitchFamily="34" charset="-122"/>
                <a:cs typeface="EB Garamond" pitchFamily="34" charset="-120"/>
              </a:rPr>
              <a:t>Bucket sort</a:t>
            </a:r>
            <a:endParaRPr lang="en-US" sz="2800" dirty="0"/>
          </a:p>
        </p:txBody>
      </p:sp>
      <p:sp>
        <p:nvSpPr>
          <p:cNvPr id="17" name="Text 14"/>
          <p:cNvSpPr txBox="1"/>
          <p:nvPr/>
        </p:nvSpPr>
        <p:spPr>
          <a:xfrm>
            <a:off x="3291840" y="4572000"/>
            <a:ext cx="4572000" cy="914400"/>
          </a:xfrm>
          <a:prstGeom prst="rect">
            <a:avLst/>
          </a:prstGeom>
          <a:noFill/>
          <a:ln/>
        </p:spPr>
        <p:txBody>
          <a:bodyPr wrap="square" lIns="0" tIns="0" rIns="0" bIns="0" rtlCol="0" anchor="t"/>
          <a:lstStyle/>
          <a:p>
            <a:pPr indent="0" marL="0">
              <a:buNone/>
            </a:pPr>
            <a:r>
              <a:rPr lang="en-US" sz="1400" dirty="0">
                <a:solidFill>
                  <a:srgbClr val="1F1B16"/>
                </a:solidFill>
                <a:latin typeface="IBM Plex Sans" pitchFamily="34" charset="0"/>
                <a:ea typeface="IBM Plex Sans" pitchFamily="34" charset="-122"/>
                <a:cs typeface="IBM Plex Sans" pitchFamily="34" charset="-120"/>
              </a:rPr>
              <a:t>Se sabe que los datos se reparten parejo, típicamente decimales generados al azar.</a:t>
            </a:r>
            <a:endParaRPr lang="en-US" sz="1400" dirty="0"/>
          </a:p>
        </p:txBody>
      </p:sp>
      <p:sp>
        <p:nvSpPr>
          <p:cNvPr id="18" name="Text 15"/>
          <p:cNvSpPr txBox="1"/>
          <p:nvPr/>
        </p:nvSpPr>
        <p:spPr>
          <a:xfrm>
            <a:off x="8229600" y="4572000"/>
            <a:ext cx="3383280" cy="914400"/>
          </a:xfrm>
          <a:prstGeom prst="rect">
            <a:avLst/>
          </a:prstGeom>
          <a:noFill/>
          <a:ln/>
        </p:spPr>
        <p:txBody>
          <a:bodyPr wrap="square" lIns="0" tIns="0" rIns="0" bIns="0" rtlCol="0" anchor="t"/>
          <a:lstStyle/>
          <a:p>
            <a:pPr indent="0" marL="0">
              <a:buNone/>
            </a:pPr>
            <a:r>
              <a:rPr lang="en-US" sz="1400" dirty="0">
                <a:solidFill>
                  <a:srgbClr val="1F1B16"/>
                </a:solidFill>
                <a:latin typeface="IBM Plex Sans" pitchFamily="34" charset="0"/>
                <a:ea typeface="IBM Plex Sans" pitchFamily="34" charset="-122"/>
                <a:cs typeface="IBM Plex Sans" pitchFamily="34" charset="-120"/>
              </a:rPr>
              <a:t>La distribución está sesgada: Θ(n²). Sin garantía, mergesort.</a:t>
            </a:r>
            <a:endParaRPr lang="en-US" sz="1400" dirty="0"/>
          </a:p>
        </p:txBody>
      </p:sp>
      <p:sp>
        <p:nvSpPr>
          <p:cNvPr id="19" name="Shape 16"/>
          <p:cNvSpPr/>
          <p:nvPr/>
        </p:nvSpPr>
        <p:spPr>
          <a:xfrm>
            <a:off x="548640" y="5577840"/>
            <a:ext cx="11091672" cy="0"/>
          </a:xfrm>
          <a:prstGeom prst="line">
            <a:avLst/>
          </a:prstGeom>
          <a:noFill/>
          <a:ln w="9525">
            <a:solidFill>
              <a:srgbClr val="1F1B16"/>
            </a:solidFill>
            <a:prstDash val="solid"/>
          </a:ln>
        </p:spPr>
      </p:sp>
      <p:sp>
        <p:nvSpPr>
          <p:cNvPr id="20" name="Text 17"/>
          <p:cNvSpPr txBox="1"/>
          <p:nvPr/>
        </p:nvSpPr>
        <p:spPr>
          <a:xfrm>
            <a:off x="548640" y="5669280"/>
            <a:ext cx="11091672" cy="640080"/>
          </a:xfrm>
          <a:prstGeom prst="rect">
            <a:avLst/>
          </a:prstGeom>
          <a:noFill/>
          <a:ln/>
        </p:spPr>
        <p:txBody>
          <a:bodyPr wrap="square" lIns="0" tIns="0" rIns="0" bIns="0" rtlCol="0" anchor="t"/>
          <a:lstStyle/>
          <a:p>
            <a:pPr indent="0" marL="0">
              <a:buNone/>
            </a:pPr>
            <a:r>
              <a:rPr lang="en-US" sz="2000" i="1" dirty="0">
                <a:solidFill>
                  <a:srgbClr val="1F1B16"/>
                </a:solidFill>
                <a:latin typeface="EB Garamond" pitchFamily="34" charset="0"/>
                <a:ea typeface="EB Garamond" pitchFamily="34" charset="-122"/>
                <a:cs typeface="EB Garamond" pitchFamily="34" charset="-120"/>
              </a:rPr>
              <a:t>Estos tres no son «mejores» que mergesort o quicksort: cambian tiempo por memoria y por supuestos sobre los datos. Solo ganan cuando esos supuestos se cumplen.</a:t>
            </a:r>
            <a:endParaRPr lang="en-US" sz="2000" dirty="0"/>
          </a:p>
        </p:txBody>
      </p:sp>
      <p:sp>
        <p:nvSpPr>
          <p:cNvPr id="25" name="Slide Number Placeholder 0"/>
          <p:cNvSpPr>
            <a:spLocks noGrp="1"/>
          </p:cNvSpPr>
          <p:nvPr>
            <p:ph type="sldNum" sz="quarter" idx="4294967295"/>
          </p:nvPr>
        </p:nvSpPr>
        <p:spPr>
          <a:xfrm>
            <a:off x="10725912" y="6473952"/>
            <a:ext cx="9144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657"/>
                </a:solidFill>
                <a:latin typeface="JetBrains Mono"/>
                <a:ea typeface="JetBrains Mono"/>
                <a:cs typeface="JetBrains Mon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100" spc="200" kern="0" dirty="0">
                <a:solidFill>
                  <a:srgbClr val="8C2F23"/>
                </a:solidFill>
                <a:latin typeface="JetBrains Mono" pitchFamily="34" charset="0"/>
                <a:ea typeface="JetBrains Mono" pitchFamily="34" charset="-122"/>
                <a:cs typeface="JetBrains Mono" pitchFamily="34" charset="-120"/>
              </a:rPr>
              <a:t>FUENTES</a:t>
            </a:r>
            <a:endParaRPr lang="en-US" sz="1100" dirty="0"/>
          </a:p>
        </p:txBody>
      </p:sp>
      <p:sp>
        <p:nvSpPr>
          <p:cNvPr id="3" name="Text 3"/>
          <p:cNvSpPr/>
          <p:nvPr>
            <p:ph idx="103" type="title" hasCustomPrompt="1"/>
          </p:nvPr>
        </p:nvSpPr>
        <p:spPr>
          <a:xfrm>
            <a:off x="548640" y="804672"/>
            <a:ext cx="11091672" cy="777240"/>
          </a:xfrm>
          <a:prstGeom prst="rect">
            <a:avLst/>
          </a:prstGeom>
          <a:noFill/>
          <a:ln/>
        </p:spPr>
        <p:txBody>
          <a:bodyPr wrap="square" lIns="0" tIns="0" rIns="0" bIns="0" rtlCol="0" anchor="t"/>
          <a:lstStyle/>
          <a:p>
            <a:pPr algn="l" indent="0" marL="0">
              <a:buNone/>
            </a:pPr>
            <a:r>
              <a:rPr lang="en-US" sz="3600" dirty="0">
                <a:solidFill>
                  <a:srgbClr val="1F1B16"/>
                </a:solidFill>
                <a:latin typeface="EB Garamond" pitchFamily="34" charset="0"/>
                <a:ea typeface="EB Garamond" pitchFamily="34" charset="-122"/>
                <a:cs typeface="EB Garamond" pitchFamily="34" charset="-120"/>
              </a:rPr>
              <a:t>Referencias</a:t>
            </a:r>
            <a:endParaRPr lang="en-US" sz="3600" dirty="0"/>
          </a:p>
        </p:txBody>
      </p:sp>
      <p:sp>
        <p:nvSpPr>
          <p:cNvPr id="5" name="Shape 2"/>
          <p:cNvSpPr/>
          <p:nvPr/>
        </p:nvSpPr>
        <p:spPr>
          <a:xfrm>
            <a:off x="548640" y="1828800"/>
            <a:ext cx="11091672" cy="0"/>
          </a:xfrm>
          <a:prstGeom prst="line">
            <a:avLst/>
          </a:prstGeom>
          <a:noFill/>
          <a:ln w="9525">
            <a:solidFill>
              <a:srgbClr val="1F1B16"/>
            </a:solidFill>
            <a:prstDash val="solid"/>
          </a:ln>
        </p:spPr>
      </p:sp>
      <p:sp>
        <p:nvSpPr>
          <p:cNvPr id="6" name="Text 3"/>
          <p:cNvSpPr txBox="1"/>
          <p:nvPr/>
        </p:nvSpPr>
        <p:spPr>
          <a:xfrm>
            <a:off x="548640" y="1938528"/>
            <a:ext cx="548640" cy="548640"/>
          </a:xfrm>
          <a:prstGeom prst="rect">
            <a:avLst/>
          </a:prstGeom>
          <a:noFill/>
          <a:ln/>
        </p:spPr>
        <p:txBody>
          <a:bodyPr wrap="square" lIns="0" tIns="0" rIns="0" bIns="0" rtlCol="0" anchor="t"/>
          <a:lstStyle/>
          <a:p>
            <a:pPr indent="0" marL="0">
              <a:buNone/>
            </a:pPr>
            <a:r>
              <a:rPr lang="en-US" sz="3000" dirty="0">
                <a:solidFill>
                  <a:srgbClr val="8C2F23"/>
                </a:solidFill>
                <a:latin typeface="EB Garamond" pitchFamily="34" charset="0"/>
                <a:ea typeface="EB Garamond" pitchFamily="34" charset="-122"/>
                <a:cs typeface="EB Garamond" pitchFamily="34" charset="-120"/>
              </a:rPr>
              <a:t>1</a:t>
            </a:r>
            <a:endParaRPr lang="en-US" sz="3000" dirty="0"/>
          </a:p>
        </p:txBody>
      </p:sp>
      <p:sp>
        <p:nvSpPr>
          <p:cNvPr id="7" name="Text 4"/>
          <p:cNvSpPr txBox="1"/>
          <p:nvPr/>
        </p:nvSpPr>
        <p:spPr>
          <a:xfrm>
            <a:off x="1280160" y="2011680"/>
            <a:ext cx="10332720" cy="731520"/>
          </a:xfrm>
          <a:prstGeom prst="rect">
            <a:avLst/>
          </a:prstGeom>
          <a:noFill/>
          <a:ln/>
        </p:spPr>
        <p:txBody>
          <a:bodyPr wrap="square" lIns="0" tIns="0" rIns="0" bIns="0" rtlCol="0" anchor="t"/>
          <a:lstStyle/>
          <a:p>
            <a:pPr indent="0" marL="0">
              <a:buNone/>
            </a:pPr>
            <a:r>
              <a:rPr lang="en-US" sz="1500" dirty="0">
                <a:solidFill>
                  <a:srgbClr val="1F1B16"/>
                </a:solidFill>
                <a:latin typeface="IBM Plex Sans" pitchFamily="34" charset="0"/>
                <a:ea typeface="IBM Plex Sans" pitchFamily="34" charset="-122"/>
                <a:cs typeface="IBM Plex Sans" pitchFamily="34" charset="-120"/>
              </a:rPr>
              <a:t>Cormen, T. H., Leiserson, C. E., Rivest, R. L., y Stein, C. (2022). </a:t>
            </a:r>
            <a:pPr indent="0" marL="0">
              <a:buNone/>
            </a:pPr>
            <a:r>
              <a:rPr lang="en-US" sz="1500" i="1" dirty="0">
                <a:solidFill>
                  <a:srgbClr val="1F1B16"/>
                </a:solidFill>
                <a:latin typeface="IBM Plex Sans" pitchFamily="34" charset="0"/>
                <a:ea typeface="IBM Plex Sans" pitchFamily="34" charset="-122"/>
                <a:cs typeface="IBM Plex Sans" pitchFamily="34" charset="-120"/>
              </a:rPr>
              <a:t>Introduction to Algorithms</a:t>
            </a:r>
            <a:pPr indent="0" marL="0">
              <a:buNone/>
            </a:pPr>
            <a:r>
              <a:rPr lang="en-US" sz="1500" dirty="0">
                <a:solidFill>
                  <a:srgbClr val="1F1B16"/>
                </a:solidFill>
                <a:latin typeface="IBM Plex Sans" pitchFamily="34" charset="0"/>
                <a:ea typeface="IBM Plex Sans" pitchFamily="34" charset="-122"/>
                <a:cs typeface="IBM Plex Sans" pitchFamily="34" charset="-120"/>
              </a:rPr>
              <a:t> (4.ª ed.), cap. 8: «Sorting in Linear Time». MIT Press.</a:t>
            </a:r>
            <a:endParaRPr lang="en-US" sz="1500" dirty="0"/>
          </a:p>
        </p:txBody>
      </p:sp>
      <p:sp>
        <p:nvSpPr>
          <p:cNvPr id="8" name="Shape 5"/>
          <p:cNvSpPr/>
          <p:nvPr/>
        </p:nvSpPr>
        <p:spPr>
          <a:xfrm>
            <a:off x="548640" y="2788920"/>
            <a:ext cx="11091672" cy="0"/>
          </a:xfrm>
          <a:prstGeom prst="line">
            <a:avLst/>
          </a:prstGeom>
          <a:noFill/>
          <a:ln w="6350">
            <a:solidFill>
              <a:srgbClr val="B5AD9B"/>
            </a:solidFill>
            <a:prstDash val="solid"/>
          </a:ln>
        </p:spPr>
      </p:sp>
      <p:sp>
        <p:nvSpPr>
          <p:cNvPr id="9" name="Text 6"/>
          <p:cNvSpPr txBox="1"/>
          <p:nvPr/>
        </p:nvSpPr>
        <p:spPr>
          <a:xfrm>
            <a:off x="548640" y="2898648"/>
            <a:ext cx="548640" cy="548640"/>
          </a:xfrm>
          <a:prstGeom prst="rect">
            <a:avLst/>
          </a:prstGeom>
          <a:noFill/>
          <a:ln/>
        </p:spPr>
        <p:txBody>
          <a:bodyPr wrap="square" lIns="0" tIns="0" rIns="0" bIns="0" rtlCol="0" anchor="t"/>
          <a:lstStyle/>
          <a:p>
            <a:pPr indent="0" marL="0">
              <a:buNone/>
            </a:pPr>
            <a:r>
              <a:rPr lang="en-US" sz="3000" dirty="0">
                <a:solidFill>
                  <a:srgbClr val="8C2F23"/>
                </a:solidFill>
                <a:latin typeface="EB Garamond" pitchFamily="34" charset="0"/>
                <a:ea typeface="EB Garamond" pitchFamily="34" charset="-122"/>
                <a:cs typeface="EB Garamond" pitchFamily="34" charset="-120"/>
              </a:rPr>
              <a:t>2</a:t>
            </a:r>
            <a:endParaRPr lang="en-US" sz="3000" dirty="0"/>
          </a:p>
        </p:txBody>
      </p:sp>
      <p:sp>
        <p:nvSpPr>
          <p:cNvPr id="10" name="Text 7"/>
          <p:cNvSpPr txBox="1"/>
          <p:nvPr/>
        </p:nvSpPr>
        <p:spPr>
          <a:xfrm>
            <a:off x="1280160" y="2971800"/>
            <a:ext cx="10332720" cy="731520"/>
          </a:xfrm>
          <a:prstGeom prst="rect">
            <a:avLst/>
          </a:prstGeom>
          <a:noFill/>
          <a:ln/>
        </p:spPr>
        <p:txBody>
          <a:bodyPr wrap="square" lIns="0" tIns="0" rIns="0" bIns="0" rtlCol="0" anchor="t"/>
          <a:lstStyle/>
          <a:p>
            <a:pPr indent="0" marL="0">
              <a:buNone/>
            </a:pPr>
            <a:r>
              <a:rPr lang="en-US" sz="1500" dirty="0">
                <a:solidFill>
                  <a:srgbClr val="1F1B16"/>
                </a:solidFill>
                <a:latin typeface="IBM Plex Sans" pitchFamily="34" charset="0"/>
                <a:ea typeface="IBM Plex Sans" pitchFamily="34" charset="-122"/>
                <a:cs typeface="IBM Plex Sans" pitchFamily="34" charset="-120"/>
              </a:rPr>
              <a:t>Sedgewick, R., y Wayne, K. (2011). </a:t>
            </a:r>
            <a:pPr indent="0" marL="0">
              <a:buNone/>
            </a:pPr>
            <a:r>
              <a:rPr lang="en-US" sz="1500" i="1" dirty="0">
                <a:solidFill>
                  <a:srgbClr val="1F1B16"/>
                </a:solidFill>
                <a:latin typeface="IBM Plex Sans" pitchFamily="34" charset="0"/>
                <a:ea typeface="IBM Plex Sans" pitchFamily="34" charset="-122"/>
                <a:cs typeface="IBM Plex Sans" pitchFamily="34" charset="-120"/>
              </a:rPr>
              <a:t>Algorithms</a:t>
            </a:r>
            <a:pPr indent="0" marL="0">
              <a:buNone/>
            </a:pPr>
            <a:r>
              <a:rPr lang="en-US" sz="1500" dirty="0">
                <a:solidFill>
                  <a:srgbClr val="1F1B16"/>
                </a:solidFill>
                <a:latin typeface="IBM Plex Sans" pitchFamily="34" charset="0"/>
                <a:ea typeface="IBM Plex Sans" pitchFamily="34" charset="-122"/>
                <a:cs typeface="IBM Plex Sans" pitchFamily="34" charset="-120"/>
              </a:rPr>
              <a:t> (4.ª ed.), sec. 5.1: «String Sorts». Addison-Wesley. Sitio del libro: algs4.cs.princeton.edu</a:t>
            </a:r>
            <a:endParaRPr lang="en-US" sz="1500" dirty="0"/>
          </a:p>
        </p:txBody>
      </p:sp>
      <p:sp>
        <p:nvSpPr>
          <p:cNvPr id="11" name="Shape 8"/>
          <p:cNvSpPr/>
          <p:nvPr/>
        </p:nvSpPr>
        <p:spPr>
          <a:xfrm>
            <a:off x="548640" y="3749040"/>
            <a:ext cx="11091672" cy="0"/>
          </a:xfrm>
          <a:prstGeom prst="line">
            <a:avLst/>
          </a:prstGeom>
          <a:noFill/>
          <a:ln w="6350">
            <a:solidFill>
              <a:srgbClr val="B5AD9B"/>
            </a:solidFill>
            <a:prstDash val="solid"/>
          </a:ln>
        </p:spPr>
      </p:sp>
      <p:sp>
        <p:nvSpPr>
          <p:cNvPr id="12" name="Text 9"/>
          <p:cNvSpPr txBox="1"/>
          <p:nvPr/>
        </p:nvSpPr>
        <p:spPr>
          <a:xfrm>
            <a:off x="548640" y="3858768"/>
            <a:ext cx="548640" cy="548640"/>
          </a:xfrm>
          <a:prstGeom prst="rect">
            <a:avLst/>
          </a:prstGeom>
          <a:noFill/>
          <a:ln/>
        </p:spPr>
        <p:txBody>
          <a:bodyPr wrap="square" lIns="0" tIns="0" rIns="0" bIns="0" rtlCol="0" anchor="t"/>
          <a:lstStyle/>
          <a:p>
            <a:pPr indent="0" marL="0">
              <a:buNone/>
            </a:pPr>
            <a:r>
              <a:rPr lang="en-US" sz="3000" dirty="0">
                <a:solidFill>
                  <a:srgbClr val="8C2F23"/>
                </a:solidFill>
                <a:latin typeface="EB Garamond" pitchFamily="34" charset="0"/>
                <a:ea typeface="EB Garamond" pitchFamily="34" charset="-122"/>
                <a:cs typeface="EB Garamond" pitchFamily="34" charset="-120"/>
              </a:rPr>
              <a:t>3</a:t>
            </a:r>
            <a:endParaRPr lang="en-US" sz="3000" dirty="0"/>
          </a:p>
        </p:txBody>
      </p:sp>
      <p:sp>
        <p:nvSpPr>
          <p:cNvPr id="13" name="Text 10"/>
          <p:cNvSpPr txBox="1"/>
          <p:nvPr/>
        </p:nvSpPr>
        <p:spPr>
          <a:xfrm>
            <a:off x="1280160" y="3931920"/>
            <a:ext cx="10332720" cy="731520"/>
          </a:xfrm>
          <a:prstGeom prst="rect">
            <a:avLst/>
          </a:prstGeom>
          <a:noFill/>
          <a:ln/>
        </p:spPr>
        <p:txBody>
          <a:bodyPr wrap="square" lIns="0" tIns="0" rIns="0" bIns="0" rtlCol="0" anchor="t"/>
          <a:lstStyle/>
          <a:p>
            <a:pPr indent="0" marL="0">
              <a:buNone/>
            </a:pPr>
            <a:r>
              <a:rPr lang="en-US" sz="1500" dirty="0">
                <a:solidFill>
                  <a:srgbClr val="1F1B16"/>
                </a:solidFill>
                <a:latin typeface="IBM Plex Sans" pitchFamily="34" charset="0"/>
                <a:ea typeface="IBM Plex Sans" pitchFamily="34" charset="-122"/>
                <a:cs typeface="IBM Plex Sans" pitchFamily="34" charset="-120"/>
              </a:rPr>
              <a:t>Knuth, D. E. (1998). </a:t>
            </a:r>
            <a:pPr indent="0" marL="0">
              <a:buNone/>
            </a:pPr>
            <a:r>
              <a:rPr lang="en-US" sz="1500" i="1" dirty="0">
                <a:solidFill>
                  <a:srgbClr val="1F1B16"/>
                </a:solidFill>
                <a:latin typeface="IBM Plex Sans" pitchFamily="34" charset="0"/>
                <a:ea typeface="IBM Plex Sans" pitchFamily="34" charset="-122"/>
                <a:cs typeface="IBM Plex Sans" pitchFamily="34" charset="-120"/>
              </a:rPr>
              <a:t>The Art of Computer Programming, vol. 3: Sorting and Searching</a:t>
            </a:r>
            <a:pPr indent="0" marL="0">
              <a:buNone/>
            </a:pPr>
            <a:r>
              <a:rPr lang="en-US" sz="1500" dirty="0">
                <a:solidFill>
                  <a:srgbClr val="1F1B16"/>
                </a:solidFill>
                <a:latin typeface="IBM Plex Sans" pitchFamily="34" charset="0"/>
                <a:ea typeface="IBM Plex Sans" pitchFamily="34" charset="-122"/>
                <a:cs typeface="IBM Plex Sans" pitchFamily="34" charset="-120"/>
              </a:rPr>
              <a:t> (2.ª ed.), sec. 5.2.5: «Sorting by Distribution». Addison-Wesley.</a:t>
            </a:r>
            <a:endParaRPr lang="en-US" sz="1500" dirty="0"/>
          </a:p>
        </p:txBody>
      </p:sp>
      <p:sp>
        <p:nvSpPr>
          <p:cNvPr id="14" name="Shape 11"/>
          <p:cNvSpPr/>
          <p:nvPr/>
        </p:nvSpPr>
        <p:spPr>
          <a:xfrm>
            <a:off x="548640" y="4754880"/>
            <a:ext cx="11091672" cy="0"/>
          </a:xfrm>
          <a:prstGeom prst="line">
            <a:avLst/>
          </a:prstGeom>
          <a:noFill/>
          <a:ln w="9525">
            <a:solidFill>
              <a:srgbClr val="1F1B16"/>
            </a:solidFill>
            <a:prstDash val="solid"/>
          </a:ln>
        </p:spPr>
      </p:sp>
      <p:sp>
        <p:nvSpPr>
          <p:cNvPr id="15" name="Text 12"/>
          <p:cNvSpPr txBox="1"/>
          <p:nvPr/>
        </p:nvSpPr>
        <p:spPr>
          <a:xfrm>
            <a:off x="548640" y="4892040"/>
            <a:ext cx="11091672" cy="731520"/>
          </a:xfrm>
          <a:prstGeom prst="rect">
            <a:avLst/>
          </a:prstGeom>
          <a:noFill/>
          <a:ln/>
        </p:spPr>
        <p:txBody>
          <a:bodyPr wrap="square" lIns="0" tIns="0" rIns="0" bIns="0" rtlCol="0" anchor="t"/>
          <a:lstStyle/>
          <a:p>
            <a:pPr indent="0" marL="0">
              <a:buNone/>
            </a:pPr>
            <a:r>
              <a:rPr lang="en-US" sz="1400" dirty="0">
                <a:solidFill>
                  <a:srgbClr val="6E6657"/>
                </a:solidFill>
                <a:latin typeface="IBM Plex Sans" pitchFamily="34" charset="0"/>
                <a:ea typeface="IBM Plex Sans" pitchFamily="34" charset="-122"/>
                <a:cs typeface="IBM Plex Sans" pitchFamily="34" charset="-120"/>
              </a:rPr>
              <a:t>Las trazas de las láminas 6, 9 y 12 se obtuvieron ejecutando los tres algoritmos en Python sobre la entrada [50, 1, 100, 20, 19, 40, 99]. Los costos de la lámina 15 son órdenes de magnitud (sin constantes), no tiempos medidos.</a:t>
            </a:r>
            <a:endParaRPr lang="en-US" sz="1400" dirty="0"/>
          </a:p>
        </p:txBody>
      </p:sp>
      <p:sp>
        <p:nvSpPr>
          <p:cNvPr id="25" name="Slide Number Placeholder 0"/>
          <p:cNvSpPr>
            <a:spLocks noGrp="1"/>
          </p:cNvSpPr>
          <p:nvPr>
            <p:ph type="sldNum" sz="quarter" idx="4294967295"/>
          </p:nvPr>
        </p:nvSpPr>
        <p:spPr>
          <a:xfrm>
            <a:off x="10725912" y="6473952"/>
            <a:ext cx="9144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E6657"/>
                </a:solidFill>
                <a:latin typeface="JetBrains Mono"/>
                <a:ea typeface="JetBrains Mono"/>
                <a:cs typeface="JetBrains Mono"/>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Editorial ADA">
  <a:themeElements>
    <a:clrScheme name="Editorial ADA">
      <a:dk1>
        <a:srgbClr val="1F1B16"/>
      </a:dk1>
      <a:lt1>
        <a:srgbClr val="F4F1EA"/>
      </a:lt1>
      <a:dk2>
        <a:srgbClr val="6E6657"/>
      </a:dk2>
      <a:lt2>
        <a:srgbClr val="EAE5D8"/>
      </a:lt2>
      <a:accent1>
        <a:srgbClr val="8C2F23"/>
      </a:accent1>
      <a:accent2>
        <a:srgbClr val="2F5D50"/>
      </a:accent2>
      <a:accent3>
        <a:srgbClr val="B5AD9B"/>
      </a:accent3>
      <a:accent4>
        <a:srgbClr val="3D372E"/>
      </a:accent4>
      <a:accent5>
        <a:srgbClr val="9A9184"/>
      </a:accent5>
      <a:accent6>
        <a:srgbClr val="CFC7B6"/>
      </a:accent6>
      <a:hlink>
        <a:srgbClr val="8C2F23"/>
      </a:hlink>
      <a:folHlink>
        <a:srgbClr val="6E6657"/>
      </a:folHlink>
    </a:clrScheme>
    <a:fontScheme name="Editorial ADA">
      <a:majorFont>
        <a:latin typeface="EB Garamon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Counting sort, Radix sort y Bucket sort</dc:title>
  <dc:subject>Análisis y Diseño de Algoritmos</dc:subject>
  <dc:creator>PptxGenJS</dc:creator>
  <cp:lastModifiedBy>PptxGenJS</cp:lastModifiedBy>
  <cp:revision>1</cp:revision>
  <dcterms:created xsi:type="dcterms:W3CDTF">2026-10-03T18:44:19Z</dcterms:created>
  <dcterms:modified xsi:type="dcterms:W3CDTF">2026-10-03T18:44:19Z</dcterms:modified>
</cp:coreProperties>
</file>